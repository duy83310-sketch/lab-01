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63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8833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app.runcode.io/auth/login/"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9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222A68"/>
          </a:solidFill>
          <a:ln w="12700">
            <a:solidFill>
              <a:srgbClr val="222A68"/>
            </a:solidFill>
            <a:prstDash val="solid"/>
          </a:ln>
        </p:spPr>
      </p:sp>
      <p:sp>
        <p:nvSpPr>
          <p:cNvPr id="3" name="Shape 1"/>
          <p:cNvSpPr/>
          <p:nvPr/>
        </p:nvSpPr>
        <p:spPr>
          <a:xfrm>
            <a:off x="0" y="6620256"/>
            <a:ext cx="12191695" cy="237744"/>
          </a:xfrm>
          <a:prstGeom prst="rect">
            <a:avLst/>
          </a:prstGeom>
          <a:solidFill>
            <a:srgbClr val="222A68"/>
          </a:solidFill>
          <a:ln w="12700">
            <a:solidFill>
              <a:srgbClr val="222A68"/>
            </a:solidFill>
            <a:prstDash val="solid"/>
          </a:ln>
        </p:spPr>
      </p:sp>
      <p:pic>
        <p:nvPicPr>
          <p:cNvPr id="4" name="Image 0" descr="/mnt/data/hadoop_lab_page_1.png"/>
          <p:cNvPicPr>
            <a:picLocks noChangeAspect="1"/>
          </p:cNvPicPr>
          <p:nvPr/>
        </p:nvPicPr>
        <p:blipFill>
          <a:blip r:embed="rId3"/>
          <a:srcRect l="23072" r="23072"/>
          <a:stretch/>
        </p:blipFill>
        <p:spPr>
          <a:xfrm>
            <a:off x="7315200" y="868680"/>
            <a:ext cx="4114800" cy="4297680"/>
          </a:xfrm>
          <a:prstGeom prst="rect">
            <a:avLst/>
          </a:prstGeom>
        </p:spPr>
      </p:pic>
      <p:sp>
        <p:nvSpPr>
          <p:cNvPr id="5" name="Text 2"/>
          <p:cNvSpPr/>
          <p:nvPr/>
        </p:nvSpPr>
        <p:spPr>
          <a:xfrm>
            <a:off x="685800" y="1143000"/>
            <a:ext cx="6309360" cy="502920"/>
          </a:xfrm>
          <a:prstGeom prst="rect">
            <a:avLst/>
          </a:prstGeom>
          <a:noFill/>
          <a:ln/>
        </p:spPr>
        <p:txBody>
          <a:bodyPr wrap="square" lIns="0" tIns="0" rIns="0" bIns="0" rtlCol="0" anchor="ctr"/>
          <a:lstStyle/>
          <a:p>
            <a:pPr marL="0" indent="0">
              <a:buNone/>
            </a:pPr>
            <a:r>
              <a:rPr lang="en-US" sz="2700" b="1" dirty="0">
                <a:solidFill>
                  <a:srgbClr val="222A68"/>
                </a:solidFill>
                <a:latin typeface="Times New Roman" pitchFamily="34" charset="0"/>
                <a:ea typeface="Times New Roman" pitchFamily="34" charset="-122"/>
                <a:cs typeface="Times New Roman" pitchFamily="34" charset="-120"/>
              </a:rPr>
              <a:t>BÀI THỰC HÀNH HADOOP ONLINE</a:t>
            </a:r>
            <a:endParaRPr lang="en-US" sz="2700" dirty="0"/>
          </a:p>
        </p:txBody>
      </p:sp>
      <p:sp>
        <p:nvSpPr>
          <p:cNvPr id="6" name="Text 3"/>
          <p:cNvSpPr/>
          <p:nvPr/>
        </p:nvSpPr>
        <p:spPr>
          <a:xfrm>
            <a:off x="685800" y="1828800"/>
            <a:ext cx="5852160" cy="411480"/>
          </a:xfrm>
          <a:prstGeom prst="rect">
            <a:avLst/>
          </a:prstGeom>
          <a:noFill/>
          <a:ln/>
        </p:spPr>
        <p:txBody>
          <a:bodyPr wrap="square" lIns="0" tIns="0" rIns="0" bIns="0" rtlCol="0" anchor="ctr"/>
          <a:lstStyle/>
          <a:p>
            <a:pPr marL="0" indent="0">
              <a:buNone/>
            </a:pPr>
            <a:r>
              <a:rPr lang="en-US" sz="1800" b="1" dirty="0">
                <a:solidFill>
                  <a:srgbClr val="D83A6C"/>
                </a:solidFill>
                <a:latin typeface="Times New Roman" pitchFamily="34" charset="0"/>
                <a:ea typeface="Times New Roman" pitchFamily="34" charset="-122"/>
                <a:cs typeface="Times New Roman" pitchFamily="34" charset="-120"/>
              </a:rPr>
              <a:t>Phân tích đơn hàng thương mại điện tử bằng HDFS và MapReduce</a:t>
            </a:r>
            <a:endParaRPr lang="en-US" sz="1800" dirty="0"/>
          </a:p>
        </p:txBody>
      </p:sp>
      <p:sp>
        <p:nvSpPr>
          <p:cNvPr id="7" name="Text 4"/>
          <p:cNvSpPr/>
          <p:nvPr/>
        </p:nvSpPr>
        <p:spPr>
          <a:xfrm>
            <a:off x="713232" y="2423160"/>
            <a:ext cx="5852160" cy="1005840"/>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Môi trường thực hành miễn phí trên trình duyệt. Sinh viên thao tác với HDFS, chạy Hadoop Streaming bằng Python và nộp kết quả phân tích doanh thu theo nhóm sản phẩm.</a:t>
            </a:r>
            <a:endParaRPr lang="en-US" sz="1400" dirty="0"/>
          </a:p>
        </p:txBody>
      </p:sp>
      <p:sp>
        <p:nvSpPr>
          <p:cNvPr id="8" name="Shape 5"/>
          <p:cNvSpPr/>
          <p:nvPr/>
        </p:nvSpPr>
        <p:spPr>
          <a:xfrm>
            <a:off x="713232" y="3977640"/>
            <a:ext cx="1005840" cy="384048"/>
          </a:xfrm>
          <a:prstGeom prst="roundRect">
            <a:avLst>
              <a:gd name="adj" fmla="val 11905"/>
            </a:avLst>
          </a:prstGeom>
          <a:solidFill>
            <a:srgbClr val="222A68"/>
          </a:solidFill>
          <a:ln w="12700">
            <a:solidFill>
              <a:srgbClr val="222A68"/>
            </a:solidFill>
            <a:prstDash val="solid"/>
          </a:ln>
        </p:spPr>
      </p:sp>
      <p:sp>
        <p:nvSpPr>
          <p:cNvPr id="9" name="Text 6"/>
          <p:cNvSpPr/>
          <p:nvPr/>
        </p:nvSpPr>
        <p:spPr>
          <a:xfrm>
            <a:off x="804672" y="4032504"/>
            <a:ext cx="82296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HDFS</a:t>
            </a:r>
            <a:endParaRPr lang="en-US" sz="1400" dirty="0"/>
          </a:p>
        </p:txBody>
      </p:sp>
      <p:sp>
        <p:nvSpPr>
          <p:cNvPr id="10" name="Shape 7"/>
          <p:cNvSpPr/>
          <p:nvPr/>
        </p:nvSpPr>
        <p:spPr>
          <a:xfrm>
            <a:off x="1874520" y="3977640"/>
            <a:ext cx="1463040" cy="384048"/>
          </a:xfrm>
          <a:prstGeom prst="roundRect">
            <a:avLst>
              <a:gd name="adj" fmla="val 11905"/>
            </a:avLst>
          </a:prstGeom>
          <a:solidFill>
            <a:srgbClr val="D83A6C"/>
          </a:solidFill>
          <a:ln w="12700">
            <a:solidFill>
              <a:srgbClr val="D83A6C"/>
            </a:solidFill>
            <a:prstDash val="solid"/>
          </a:ln>
        </p:spPr>
      </p:sp>
      <p:sp>
        <p:nvSpPr>
          <p:cNvPr id="11" name="Text 8"/>
          <p:cNvSpPr/>
          <p:nvPr/>
        </p:nvSpPr>
        <p:spPr>
          <a:xfrm>
            <a:off x="1965960" y="4032504"/>
            <a:ext cx="128016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MapReduce</a:t>
            </a:r>
            <a:endParaRPr lang="en-US" sz="1400" dirty="0"/>
          </a:p>
        </p:txBody>
      </p:sp>
      <p:sp>
        <p:nvSpPr>
          <p:cNvPr id="12" name="Shape 9"/>
          <p:cNvSpPr/>
          <p:nvPr/>
        </p:nvSpPr>
        <p:spPr>
          <a:xfrm>
            <a:off x="3520440" y="3977640"/>
            <a:ext cx="1005840" cy="384048"/>
          </a:xfrm>
          <a:prstGeom prst="roundRect">
            <a:avLst>
              <a:gd name="adj" fmla="val 11905"/>
            </a:avLst>
          </a:prstGeom>
          <a:solidFill>
            <a:srgbClr val="C36B2C"/>
          </a:solidFill>
          <a:ln w="12700">
            <a:solidFill>
              <a:srgbClr val="C36B2C"/>
            </a:solidFill>
            <a:prstDash val="solid"/>
          </a:ln>
        </p:spPr>
      </p:sp>
      <p:sp>
        <p:nvSpPr>
          <p:cNvPr id="13" name="Text 10"/>
          <p:cNvSpPr/>
          <p:nvPr/>
        </p:nvSpPr>
        <p:spPr>
          <a:xfrm>
            <a:off x="3611880" y="4032504"/>
            <a:ext cx="82296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YARN</a:t>
            </a:r>
            <a:endParaRPr lang="en-US" sz="1400" dirty="0"/>
          </a:p>
        </p:txBody>
      </p:sp>
      <p:sp>
        <p:nvSpPr>
          <p:cNvPr id="14" name="Shape 11"/>
          <p:cNvSpPr/>
          <p:nvPr/>
        </p:nvSpPr>
        <p:spPr>
          <a:xfrm>
            <a:off x="4709160" y="3977640"/>
            <a:ext cx="1097280" cy="384048"/>
          </a:xfrm>
          <a:prstGeom prst="roundRect">
            <a:avLst>
              <a:gd name="adj" fmla="val 11905"/>
            </a:avLst>
          </a:prstGeom>
          <a:solidFill>
            <a:srgbClr val="2F8F6F"/>
          </a:solidFill>
          <a:ln w="12700">
            <a:solidFill>
              <a:srgbClr val="2F8F6F"/>
            </a:solidFill>
            <a:prstDash val="solid"/>
          </a:ln>
        </p:spPr>
      </p:sp>
      <p:sp>
        <p:nvSpPr>
          <p:cNvPr id="15" name="Text 12"/>
          <p:cNvSpPr/>
          <p:nvPr/>
        </p:nvSpPr>
        <p:spPr>
          <a:xfrm>
            <a:off x="4800600" y="4032504"/>
            <a:ext cx="91440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Python</a:t>
            </a:r>
            <a:endParaRPr lang="en-US" sz="1400" dirty="0"/>
          </a:p>
        </p:txBody>
      </p:sp>
      <p:sp>
        <p:nvSpPr>
          <p:cNvPr id="16" name="Text 13"/>
          <p:cNvSpPr/>
          <p:nvPr/>
        </p:nvSpPr>
        <p:spPr>
          <a:xfrm>
            <a:off x="713232" y="6172200"/>
            <a:ext cx="5303520" cy="256032"/>
          </a:xfrm>
          <a:prstGeom prst="rect">
            <a:avLst/>
          </a:prstGeom>
          <a:noFill/>
          <a:ln/>
        </p:spPr>
        <p:txBody>
          <a:bodyPr wrap="square" lIns="0" tIns="0" rIns="0" bIns="0" rtlCol="0" anchor="ctr"/>
          <a:lstStyle/>
          <a:p>
            <a:pPr marL="0" indent="0">
              <a:buNone/>
            </a:pPr>
            <a:r>
              <a:rPr lang="en-US" sz="1200" dirty="0">
                <a:solidFill>
                  <a:srgbClr val="666666"/>
                </a:solidFill>
                <a:latin typeface="Times New Roman" pitchFamily="34" charset="0"/>
                <a:ea typeface="Times New Roman" pitchFamily="34" charset="-122"/>
                <a:cs typeface="Times New Roman" pitchFamily="34" charset="-120"/>
              </a:rPr>
              <a:t>Dữ liệu lớn – Chapter 2: Hadoop Ecosystem</a:t>
            </a:r>
            <a:endParaRPr lang="en-US" sz="1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222A68"/>
          </a:solidFill>
          <a:ln w="12700">
            <a:solidFill>
              <a:srgbClr val="222A68"/>
            </a:solidFill>
            <a:prstDash val="solid"/>
          </a:ln>
        </p:spPr>
      </p:sp>
      <p:sp>
        <p:nvSpPr>
          <p:cNvPr id="3" name="Text 1"/>
          <p:cNvSpPr/>
          <p:nvPr/>
        </p:nvSpPr>
        <p:spPr>
          <a:xfrm>
            <a:off x="438912" y="310896"/>
            <a:ext cx="10424160" cy="475488"/>
          </a:xfrm>
          <a:prstGeom prst="rect">
            <a:avLst/>
          </a:prstGeom>
          <a:noFill/>
          <a:ln/>
        </p:spPr>
        <p:txBody>
          <a:bodyPr wrap="square" lIns="0" tIns="0" rIns="0" bIns="0" rtlCol="0" anchor="ctr"/>
          <a:lstStyle/>
          <a:p>
            <a:pPr marL="0" indent="0">
              <a:buNone/>
            </a:pPr>
            <a:r>
              <a:rPr lang="en-US" sz="2200" b="1" dirty="0">
                <a:solidFill>
                  <a:srgbClr val="222A68"/>
                </a:solidFill>
                <a:latin typeface="Times New Roman" pitchFamily="34" charset="0"/>
                <a:ea typeface="Times New Roman" pitchFamily="34" charset="-122"/>
                <a:cs typeface="Times New Roman" pitchFamily="34" charset="-120"/>
              </a:rPr>
              <a:t>1. Căn cứ bài học và mục tiêu thực hành</a:t>
            </a:r>
            <a:endParaRPr lang="en-US" sz="2200" dirty="0"/>
          </a:p>
        </p:txBody>
      </p:sp>
      <p:sp>
        <p:nvSpPr>
          <p:cNvPr id="4" name="Shape 2"/>
          <p:cNvSpPr/>
          <p:nvPr/>
        </p:nvSpPr>
        <p:spPr>
          <a:xfrm>
            <a:off x="438912" y="868680"/>
            <a:ext cx="11292840" cy="0"/>
          </a:xfrm>
          <a:prstGeom prst="line">
            <a:avLst/>
          </a:prstGeom>
          <a:noFill/>
          <a:ln w="15240">
            <a:solidFill>
              <a:srgbClr val="D83A6C"/>
            </a:solidFill>
            <a:prstDash val="solid"/>
          </a:ln>
        </p:spPr>
      </p:sp>
      <p:sp>
        <p:nvSpPr>
          <p:cNvPr id="5" name="Text 3"/>
          <p:cNvSpPr/>
          <p:nvPr/>
        </p:nvSpPr>
        <p:spPr>
          <a:xfrm>
            <a:off x="11475720" y="6446520"/>
            <a:ext cx="320040" cy="201168"/>
          </a:xfrm>
          <a:prstGeom prst="rect">
            <a:avLst/>
          </a:prstGeom>
          <a:noFill/>
          <a:ln/>
        </p:spPr>
        <p:txBody>
          <a:bodyPr wrap="square" lIns="0" tIns="0" rIns="0" bIns="0" rtlCol="0" anchor="ctr"/>
          <a:lstStyle/>
          <a:p>
            <a:pPr marL="0" indent="0" algn="ctr">
              <a:buNone/>
            </a:pPr>
            <a:r>
              <a:rPr lang="en-US" sz="900" dirty="0">
                <a:solidFill>
                  <a:srgbClr val="666666"/>
                </a:solidFill>
                <a:latin typeface="Times New Roman" pitchFamily="34" charset="0"/>
                <a:ea typeface="Times New Roman" pitchFamily="34" charset="-122"/>
                <a:cs typeface="Times New Roman" pitchFamily="34" charset="-120"/>
              </a:rPr>
              <a:t>2</a:t>
            </a:r>
            <a:endParaRPr lang="en-US" sz="900" dirty="0"/>
          </a:p>
        </p:txBody>
      </p:sp>
      <p:sp>
        <p:nvSpPr>
          <p:cNvPr id="6" name="Shape 4"/>
          <p:cNvSpPr/>
          <p:nvPr/>
        </p:nvSpPr>
        <p:spPr>
          <a:xfrm>
            <a:off x="548640" y="1143000"/>
            <a:ext cx="5303520" cy="1645920"/>
          </a:xfrm>
          <a:prstGeom prst="roundRect">
            <a:avLst>
              <a:gd name="adj" fmla="val 3333"/>
            </a:avLst>
          </a:prstGeom>
          <a:solidFill>
            <a:srgbClr val="FFFFFF"/>
          </a:solidFill>
          <a:ln w="13970">
            <a:solidFill>
              <a:srgbClr val="222A68"/>
            </a:solidFill>
            <a:prstDash val="solid"/>
          </a:ln>
        </p:spPr>
      </p:sp>
      <p:sp>
        <p:nvSpPr>
          <p:cNvPr id="7" name="Text 5"/>
          <p:cNvSpPr/>
          <p:nvPr/>
        </p:nvSpPr>
        <p:spPr>
          <a:xfrm>
            <a:off x="685800" y="1261872"/>
            <a:ext cx="5029200" cy="256032"/>
          </a:xfrm>
          <a:prstGeom prst="rect">
            <a:avLst/>
          </a:prstGeom>
          <a:noFill/>
          <a:ln/>
        </p:spPr>
        <p:txBody>
          <a:bodyPr wrap="square" lIns="0" tIns="0" rIns="0" bIns="0" rtlCol="0" anchor="ctr"/>
          <a:lstStyle/>
          <a:p>
            <a:pPr marL="0" indent="0">
              <a:buNone/>
            </a:pPr>
            <a:r>
              <a:rPr lang="en-US" sz="1500" b="1" dirty="0">
                <a:solidFill>
                  <a:srgbClr val="222A68"/>
                </a:solidFill>
                <a:latin typeface="Times New Roman" pitchFamily="34" charset="0"/>
                <a:ea typeface="Times New Roman" pitchFamily="34" charset="-122"/>
                <a:cs typeface="Times New Roman" pitchFamily="34" charset="-120"/>
              </a:rPr>
              <a:t>Căn cứ từ bài học</a:t>
            </a:r>
            <a:endParaRPr lang="en-US" sz="1500" dirty="0"/>
          </a:p>
        </p:txBody>
      </p:sp>
      <p:sp>
        <p:nvSpPr>
          <p:cNvPr id="8" name="Text 6"/>
          <p:cNvSpPr/>
          <p:nvPr/>
        </p:nvSpPr>
        <p:spPr>
          <a:xfrm>
            <a:off x="685800" y="1600200"/>
            <a:ext cx="5029200" cy="1078992"/>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Bài thực hành bám vào các nội dung: mục tiêu của Hadoop; các thành phần HDFS, MapReduce, YARN; cơ chế lưu trữ phân tán, chịu lỗi và xử lý dữ liệu theo lô.</a:t>
            </a:r>
            <a:endParaRPr lang="en-US" sz="1400" dirty="0"/>
          </a:p>
        </p:txBody>
      </p:sp>
      <p:sp>
        <p:nvSpPr>
          <p:cNvPr id="9" name="Shape 7"/>
          <p:cNvSpPr/>
          <p:nvPr/>
        </p:nvSpPr>
        <p:spPr>
          <a:xfrm>
            <a:off x="548640" y="2971800"/>
            <a:ext cx="5303520" cy="1645920"/>
          </a:xfrm>
          <a:prstGeom prst="roundRect">
            <a:avLst>
              <a:gd name="adj" fmla="val 3333"/>
            </a:avLst>
          </a:prstGeom>
          <a:solidFill>
            <a:srgbClr val="FFFFFF"/>
          </a:solidFill>
          <a:ln w="13970">
            <a:solidFill>
              <a:srgbClr val="D83A6C"/>
            </a:solidFill>
            <a:prstDash val="solid"/>
          </a:ln>
        </p:spPr>
      </p:sp>
      <p:sp>
        <p:nvSpPr>
          <p:cNvPr id="10" name="Text 8"/>
          <p:cNvSpPr/>
          <p:nvPr/>
        </p:nvSpPr>
        <p:spPr>
          <a:xfrm>
            <a:off x="685800" y="3090672"/>
            <a:ext cx="5029200" cy="256032"/>
          </a:xfrm>
          <a:prstGeom prst="rect">
            <a:avLst/>
          </a:prstGeom>
          <a:noFill/>
          <a:ln/>
        </p:spPr>
        <p:txBody>
          <a:bodyPr wrap="square" lIns="0" tIns="0" rIns="0" bIns="0" rtlCol="0" anchor="ctr"/>
          <a:lstStyle/>
          <a:p>
            <a:pPr marL="0" indent="0">
              <a:buNone/>
            </a:pPr>
            <a:r>
              <a:rPr lang="en-US" sz="1500" b="1" dirty="0">
                <a:solidFill>
                  <a:srgbClr val="D83A6C"/>
                </a:solidFill>
                <a:latin typeface="Times New Roman" pitchFamily="34" charset="0"/>
                <a:ea typeface="Times New Roman" pitchFamily="34" charset="-122"/>
                <a:cs typeface="Times New Roman" pitchFamily="34" charset="-120"/>
              </a:rPr>
              <a:t>Kết quả sau buổi thực hành</a:t>
            </a:r>
            <a:endParaRPr lang="en-US" sz="1500" dirty="0"/>
          </a:p>
        </p:txBody>
      </p:sp>
      <p:sp>
        <p:nvSpPr>
          <p:cNvPr id="11" name="Text 9"/>
          <p:cNvSpPr/>
          <p:nvPr/>
        </p:nvSpPr>
        <p:spPr>
          <a:xfrm>
            <a:off x="685800" y="3429000"/>
            <a:ext cx="5029200" cy="1078992"/>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Sinh viên biết đưa dữ liệu lên HDFS, kiểm tra thư mục/tệp, chạy một job MapReduce bằng Hadoop Streaming và giải thích được ý nghĩa kết quả.</a:t>
            </a:r>
            <a:endParaRPr lang="en-US" sz="1400" dirty="0"/>
          </a:p>
        </p:txBody>
      </p:sp>
      <p:pic>
        <p:nvPicPr>
          <p:cNvPr id="12" name="Image 0" descr="/mnt/data/hadoop_lab_page_4.png"/>
          <p:cNvPicPr>
            <a:picLocks noChangeAspect="1"/>
          </p:cNvPicPr>
          <p:nvPr/>
        </p:nvPicPr>
        <p:blipFill>
          <a:blip r:embed="rId3"/>
          <a:srcRect l="17857" r="17857"/>
          <a:stretch/>
        </p:blipFill>
        <p:spPr>
          <a:xfrm>
            <a:off x="6446520" y="1097280"/>
            <a:ext cx="5120640" cy="4480560"/>
          </a:xfrm>
          <a:prstGeom prst="rect">
            <a:avLst/>
          </a:prstGeom>
        </p:spPr>
      </p:pic>
      <p:sp>
        <p:nvSpPr>
          <p:cNvPr id="13" name="Text 10"/>
          <p:cNvSpPr/>
          <p:nvPr/>
        </p:nvSpPr>
        <p:spPr>
          <a:xfrm>
            <a:off x="6446520" y="5632704"/>
            <a:ext cx="5120640" cy="502920"/>
          </a:xfrm>
          <a:prstGeom prst="rect">
            <a:avLst/>
          </a:prstGeom>
          <a:noFill/>
          <a:ln/>
        </p:spPr>
        <p:txBody>
          <a:bodyPr wrap="square" lIns="762" tIns="762" rIns="762" bIns="762" rtlCol="0" anchor="t">
            <a:normAutofit fontScale="92500" lnSpcReduction="10000"/>
          </a:bodyPr>
          <a:lstStyle/>
          <a:p>
            <a:pPr marL="0" indent="0" algn="just">
              <a:buNone/>
            </a:pPr>
            <a:r>
              <a:rPr lang="en-US" sz="1300" dirty="0">
                <a:solidFill>
                  <a:srgbClr val="1F2430"/>
                </a:solidFill>
                <a:latin typeface="Times New Roman" pitchFamily="34" charset="0"/>
                <a:ea typeface="Times New Roman" pitchFamily="34" charset="-122"/>
                <a:cs typeface="Times New Roman" pitchFamily="34" charset="-120"/>
              </a:rPr>
              <a:t>Liên hệ bài học: Hadoop gồm lớp lưu trữ dữ liệu HDFS, lớp xử lý MapReduce và lớp quản lý tài nguyên YARN. Bài thực hành yêu cầu sinh viên đi qua đủ ba lớp này ở mức nhập môn.</a:t>
            </a:r>
            <a:endParaRPr lang="en-US" sz="1300" dirty="0"/>
          </a:p>
        </p:txBody>
      </p:sp>
      <p:sp>
        <p:nvSpPr>
          <p:cNvPr id="14" name="Text 10"/>
          <p:cNvSpPr/>
          <p:nvPr/>
        </p:nvSpPr>
        <p:spPr>
          <a:xfrm>
            <a:off x="548640" y="5084745"/>
            <a:ext cx="5120640" cy="1050879"/>
          </a:xfrm>
          <a:prstGeom prst="rect">
            <a:avLst/>
          </a:prstGeom>
          <a:noFill/>
          <a:ln/>
        </p:spPr>
        <p:txBody>
          <a:bodyPr wrap="square" lIns="762" tIns="762" rIns="762" bIns="762" rtlCol="0" anchor="t">
            <a:normAutofit/>
          </a:bodyPr>
          <a:lstStyle/>
          <a:p>
            <a:pPr marL="0" indent="0" algn="just">
              <a:buNone/>
            </a:pPr>
            <a:r>
              <a:rPr lang="en-US" sz="1300" dirty="0" smtClean="0">
                <a:solidFill>
                  <a:srgbClr val="1F2430"/>
                </a:solidFill>
                <a:latin typeface="Times New Roman" pitchFamily="34" charset="0"/>
                <a:ea typeface="Times New Roman" pitchFamily="34" charset="-122"/>
                <a:cs typeface="Times New Roman" pitchFamily="34" charset="-120"/>
              </a:rPr>
              <a:t>Một số link:</a:t>
            </a:r>
          </a:p>
          <a:p>
            <a:pPr algn="just"/>
            <a:r>
              <a:rPr lang="en-US" sz="1300" dirty="0">
                <a:hlinkClick r:id="rId4"/>
              </a:rPr>
              <a:t>https://app.runcode.io/auth/login</a:t>
            </a:r>
            <a:r>
              <a:rPr lang="en-US" sz="1300" dirty="0" smtClean="0">
                <a:hlinkClick r:id="rId4"/>
              </a:rPr>
              <a:t>/</a:t>
            </a:r>
            <a:endParaRPr lang="en-US" sz="1300" dirty="0" smtClean="0"/>
          </a:p>
          <a:p>
            <a:pPr algn="just"/>
            <a:r>
              <a:rPr lang="en-US" sz="1300" dirty="0"/>
              <a:t>https://github.com/labex-labs/ansible-practice-challenges</a:t>
            </a:r>
            <a:endParaRPr lang="en-US" sz="13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222A68"/>
          </a:solidFill>
          <a:ln w="12700">
            <a:solidFill>
              <a:srgbClr val="222A68"/>
            </a:solidFill>
            <a:prstDash val="solid"/>
          </a:ln>
        </p:spPr>
      </p:sp>
      <p:sp>
        <p:nvSpPr>
          <p:cNvPr id="3" name="Text 1"/>
          <p:cNvSpPr/>
          <p:nvPr/>
        </p:nvSpPr>
        <p:spPr>
          <a:xfrm>
            <a:off x="438912" y="310896"/>
            <a:ext cx="10424160" cy="475488"/>
          </a:xfrm>
          <a:prstGeom prst="rect">
            <a:avLst/>
          </a:prstGeom>
          <a:noFill/>
          <a:ln/>
        </p:spPr>
        <p:txBody>
          <a:bodyPr wrap="square" lIns="0" tIns="0" rIns="0" bIns="0" rtlCol="0" anchor="ctr"/>
          <a:lstStyle/>
          <a:p>
            <a:pPr marL="0" indent="0">
              <a:buNone/>
            </a:pPr>
            <a:r>
              <a:rPr lang="en-US" sz="2200" b="1" dirty="0">
                <a:solidFill>
                  <a:srgbClr val="222A68"/>
                </a:solidFill>
                <a:latin typeface="Times New Roman" pitchFamily="34" charset="0"/>
                <a:ea typeface="Times New Roman" pitchFamily="34" charset="-122"/>
                <a:cs typeface="Times New Roman" pitchFamily="34" charset="-120"/>
              </a:rPr>
              <a:t>2. Bài toán thực tiễn</a:t>
            </a:r>
            <a:endParaRPr lang="en-US" sz="2200" dirty="0"/>
          </a:p>
        </p:txBody>
      </p:sp>
      <p:sp>
        <p:nvSpPr>
          <p:cNvPr id="4" name="Shape 2"/>
          <p:cNvSpPr/>
          <p:nvPr/>
        </p:nvSpPr>
        <p:spPr>
          <a:xfrm>
            <a:off x="438912" y="868680"/>
            <a:ext cx="11292840" cy="0"/>
          </a:xfrm>
          <a:prstGeom prst="line">
            <a:avLst/>
          </a:prstGeom>
          <a:noFill/>
          <a:ln w="15240">
            <a:solidFill>
              <a:srgbClr val="D83A6C"/>
            </a:solidFill>
            <a:prstDash val="solid"/>
          </a:ln>
        </p:spPr>
      </p:sp>
      <p:sp>
        <p:nvSpPr>
          <p:cNvPr id="5" name="Text 3"/>
          <p:cNvSpPr/>
          <p:nvPr/>
        </p:nvSpPr>
        <p:spPr>
          <a:xfrm>
            <a:off x="11475720" y="6446520"/>
            <a:ext cx="320040" cy="201168"/>
          </a:xfrm>
          <a:prstGeom prst="rect">
            <a:avLst/>
          </a:prstGeom>
          <a:noFill/>
          <a:ln/>
        </p:spPr>
        <p:txBody>
          <a:bodyPr wrap="square" lIns="0" tIns="0" rIns="0" bIns="0" rtlCol="0" anchor="ctr"/>
          <a:lstStyle/>
          <a:p>
            <a:pPr marL="0" indent="0" algn="ctr">
              <a:buNone/>
            </a:pPr>
            <a:r>
              <a:rPr lang="en-US" sz="900" dirty="0">
                <a:solidFill>
                  <a:srgbClr val="666666"/>
                </a:solidFill>
                <a:latin typeface="Times New Roman" pitchFamily="34" charset="0"/>
                <a:ea typeface="Times New Roman" pitchFamily="34" charset="-122"/>
                <a:cs typeface="Times New Roman" pitchFamily="34" charset="-120"/>
              </a:rPr>
              <a:t>3</a:t>
            </a:r>
            <a:endParaRPr lang="en-US" sz="900" dirty="0"/>
          </a:p>
        </p:txBody>
      </p:sp>
      <p:sp>
        <p:nvSpPr>
          <p:cNvPr id="6" name="Text 4"/>
          <p:cNvSpPr/>
          <p:nvPr/>
        </p:nvSpPr>
        <p:spPr>
          <a:xfrm>
            <a:off x="594360" y="1143000"/>
            <a:ext cx="5532120" cy="1325880"/>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Một sàn thương mại điện tử cần phân tích dữ liệu đơn hàng tháng 09/2026. Dữ liệu phát sinh từ nhiều kênh bán hàng, nhiều tỉnh thành và nhiều nhóm sản phẩm. Ban vận hành cần báo cáo nhanh nhóm sản phẩm tạo doanh thu lớn nhất để tối ưu tồn kho, khuyến mại và nguồn lực giao hàng.</a:t>
            </a:r>
            <a:endParaRPr lang="en-US" sz="1400" dirty="0"/>
          </a:p>
        </p:txBody>
      </p:sp>
      <p:sp>
        <p:nvSpPr>
          <p:cNvPr id="7" name="Shape 5"/>
          <p:cNvSpPr/>
          <p:nvPr/>
        </p:nvSpPr>
        <p:spPr>
          <a:xfrm>
            <a:off x="685800" y="2743200"/>
            <a:ext cx="5303520" cy="1005840"/>
          </a:xfrm>
          <a:prstGeom prst="roundRect">
            <a:avLst>
              <a:gd name="adj" fmla="val 5455"/>
            </a:avLst>
          </a:prstGeom>
          <a:solidFill>
            <a:srgbClr val="FFFFFF"/>
          </a:solidFill>
          <a:ln w="13970">
            <a:solidFill>
              <a:srgbClr val="D83A6C"/>
            </a:solidFill>
            <a:prstDash val="solid"/>
          </a:ln>
        </p:spPr>
      </p:sp>
      <p:sp>
        <p:nvSpPr>
          <p:cNvPr id="8" name="Text 6"/>
          <p:cNvSpPr/>
          <p:nvPr/>
        </p:nvSpPr>
        <p:spPr>
          <a:xfrm>
            <a:off x="822960" y="2862072"/>
            <a:ext cx="5029200" cy="256032"/>
          </a:xfrm>
          <a:prstGeom prst="rect">
            <a:avLst/>
          </a:prstGeom>
          <a:noFill/>
          <a:ln/>
        </p:spPr>
        <p:txBody>
          <a:bodyPr wrap="square" lIns="0" tIns="0" rIns="0" bIns="0" rtlCol="0" anchor="ctr"/>
          <a:lstStyle/>
          <a:p>
            <a:pPr marL="0" indent="0">
              <a:buNone/>
            </a:pPr>
            <a:r>
              <a:rPr lang="en-US" sz="1500" b="1" dirty="0">
                <a:solidFill>
                  <a:srgbClr val="D83A6C"/>
                </a:solidFill>
                <a:latin typeface="Times New Roman" pitchFamily="34" charset="0"/>
                <a:ea typeface="Times New Roman" pitchFamily="34" charset="-122"/>
                <a:cs typeface="Times New Roman" pitchFamily="34" charset="-120"/>
              </a:rPr>
              <a:t>Câu hỏi phân tích chính</a:t>
            </a:r>
            <a:endParaRPr lang="en-US" sz="1500" dirty="0"/>
          </a:p>
        </p:txBody>
      </p:sp>
      <p:sp>
        <p:nvSpPr>
          <p:cNvPr id="9" name="Text 7"/>
          <p:cNvSpPr/>
          <p:nvPr/>
        </p:nvSpPr>
        <p:spPr>
          <a:xfrm>
            <a:off x="822960" y="3200400"/>
            <a:ext cx="5029200" cy="438912"/>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Nhóm sản phẩm nào có tổng doanh thu cao nhất, chỉ tính các giao dịch SUCCESS?</a:t>
            </a:r>
            <a:endParaRPr lang="en-US" sz="1400" dirty="0"/>
          </a:p>
        </p:txBody>
      </p:sp>
      <p:sp>
        <p:nvSpPr>
          <p:cNvPr id="10" name="Shape 8"/>
          <p:cNvSpPr/>
          <p:nvPr/>
        </p:nvSpPr>
        <p:spPr>
          <a:xfrm>
            <a:off x="685800" y="4069080"/>
            <a:ext cx="5303520" cy="1234440"/>
          </a:xfrm>
          <a:prstGeom prst="roundRect">
            <a:avLst>
              <a:gd name="adj" fmla="val 4444"/>
            </a:avLst>
          </a:prstGeom>
          <a:solidFill>
            <a:srgbClr val="FFFFFF"/>
          </a:solidFill>
          <a:ln w="13970">
            <a:solidFill>
              <a:srgbClr val="222A68"/>
            </a:solidFill>
            <a:prstDash val="solid"/>
          </a:ln>
        </p:spPr>
      </p:sp>
      <p:sp>
        <p:nvSpPr>
          <p:cNvPr id="11" name="Text 9"/>
          <p:cNvSpPr/>
          <p:nvPr/>
        </p:nvSpPr>
        <p:spPr>
          <a:xfrm>
            <a:off x="822960" y="4187952"/>
            <a:ext cx="5029200" cy="256032"/>
          </a:xfrm>
          <a:prstGeom prst="rect">
            <a:avLst/>
          </a:prstGeom>
          <a:noFill/>
          <a:ln/>
        </p:spPr>
        <p:txBody>
          <a:bodyPr wrap="square" lIns="0" tIns="0" rIns="0" bIns="0" rtlCol="0" anchor="ctr"/>
          <a:lstStyle/>
          <a:p>
            <a:pPr marL="0" indent="0">
              <a:buNone/>
            </a:pPr>
            <a:r>
              <a:rPr lang="en-US" sz="1500" b="1" dirty="0">
                <a:solidFill>
                  <a:srgbClr val="222A68"/>
                </a:solidFill>
                <a:latin typeface="Times New Roman" pitchFamily="34" charset="0"/>
                <a:ea typeface="Times New Roman" pitchFamily="34" charset="-122"/>
                <a:cs typeface="Times New Roman" pitchFamily="34" charset="-120"/>
              </a:rPr>
              <a:t>Câu hỏi phụ</a:t>
            </a:r>
            <a:endParaRPr lang="en-US" sz="1500" dirty="0"/>
          </a:p>
        </p:txBody>
      </p:sp>
      <p:sp>
        <p:nvSpPr>
          <p:cNvPr id="12" name="Text 10"/>
          <p:cNvSpPr/>
          <p:nvPr/>
        </p:nvSpPr>
        <p:spPr>
          <a:xfrm>
            <a:off x="822960" y="4526280"/>
            <a:ext cx="5029200" cy="667512"/>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Dữ liệu được lưu ở đâu trong HDFS? Job MapReduce tạo ra các cặp key–value như thế nào? Kết quả được ghi ra thư mục nào?</a:t>
            </a:r>
            <a:endParaRPr lang="en-US" sz="1400" dirty="0"/>
          </a:p>
        </p:txBody>
      </p:sp>
      <p:sp>
        <p:nvSpPr>
          <p:cNvPr id="13" name="Shape 11"/>
          <p:cNvSpPr/>
          <p:nvPr/>
        </p:nvSpPr>
        <p:spPr>
          <a:xfrm>
            <a:off x="6400800" y="1234440"/>
            <a:ext cx="1203056" cy="292608"/>
          </a:xfrm>
          <a:prstGeom prst="rect">
            <a:avLst/>
          </a:prstGeom>
          <a:solidFill>
            <a:srgbClr val="222A68"/>
          </a:solidFill>
          <a:ln w="6350">
            <a:solidFill>
              <a:srgbClr val="AAB2C8"/>
            </a:solidFill>
            <a:prstDash val="solid"/>
          </a:ln>
        </p:spPr>
      </p:sp>
      <p:sp>
        <p:nvSpPr>
          <p:cNvPr id="14" name="Text 12"/>
          <p:cNvSpPr/>
          <p:nvPr/>
        </p:nvSpPr>
        <p:spPr>
          <a:xfrm>
            <a:off x="6419088" y="1298448"/>
            <a:ext cx="1166480" cy="146304"/>
          </a:xfrm>
          <a:prstGeom prst="rect">
            <a:avLst/>
          </a:prstGeom>
          <a:noFill/>
          <a:ln/>
        </p:spPr>
        <p:txBody>
          <a:bodyPr wrap="square" lIns="0" tIns="0" rIns="0" bIns="0" rtlCol="0" anchor="ct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transaction_id</a:t>
            </a:r>
            <a:endParaRPr lang="en-US" sz="1050" dirty="0"/>
          </a:p>
        </p:txBody>
      </p:sp>
      <p:sp>
        <p:nvSpPr>
          <p:cNvPr id="15" name="Shape 13"/>
          <p:cNvSpPr/>
          <p:nvPr/>
        </p:nvSpPr>
        <p:spPr>
          <a:xfrm>
            <a:off x="7603856" y="1234440"/>
            <a:ext cx="1024825" cy="292608"/>
          </a:xfrm>
          <a:prstGeom prst="rect">
            <a:avLst/>
          </a:prstGeom>
          <a:solidFill>
            <a:srgbClr val="222A68"/>
          </a:solidFill>
          <a:ln w="6350">
            <a:solidFill>
              <a:srgbClr val="AAB2C8"/>
            </a:solidFill>
            <a:prstDash val="solid"/>
          </a:ln>
        </p:spPr>
      </p:sp>
      <p:sp>
        <p:nvSpPr>
          <p:cNvPr id="16" name="Text 14"/>
          <p:cNvSpPr/>
          <p:nvPr/>
        </p:nvSpPr>
        <p:spPr>
          <a:xfrm>
            <a:off x="7622144" y="1298448"/>
            <a:ext cx="988249" cy="146304"/>
          </a:xfrm>
          <a:prstGeom prst="rect">
            <a:avLst/>
          </a:prstGeom>
          <a:noFill/>
          <a:ln/>
        </p:spPr>
        <p:txBody>
          <a:bodyPr wrap="square" lIns="0" tIns="0" rIns="0" bIns="0" rtlCol="0" anchor="ct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province</a:t>
            </a:r>
            <a:endParaRPr lang="en-US" sz="1050" dirty="0"/>
          </a:p>
        </p:txBody>
      </p:sp>
      <p:sp>
        <p:nvSpPr>
          <p:cNvPr id="17" name="Shape 15"/>
          <p:cNvSpPr/>
          <p:nvPr/>
        </p:nvSpPr>
        <p:spPr>
          <a:xfrm>
            <a:off x="8628681" y="1234440"/>
            <a:ext cx="1113941" cy="292608"/>
          </a:xfrm>
          <a:prstGeom prst="rect">
            <a:avLst/>
          </a:prstGeom>
          <a:solidFill>
            <a:srgbClr val="222A68"/>
          </a:solidFill>
          <a:ln w="6350">
            <a:solidFill>
              <a:srgbClr val="AAB2C8"/>
            </a:solidFill>
            <a:prstDash val="solid"/>
          </a:ln>
        </p:spPr>
      </p:sp>
      <p:sp>
        <p:nvSpPr>
          <p:cNvPr id="18" name="Text 16"/>
          <p:cNvSpPr/>
          <p:nvPr/>
        </p:nvSpPr>
        <p:spPr>
          <a:xfrm>
            <a:off x="8646969" y="1298448"/>
            <a:ext cx="1077365" cy="146304"/>
          </a:xfrm>
          <a:prstGeom prst="rect">
            <a:avLst/>
          </a:prstGeom>
          <a:noFill/>
          <a:ln/>
        </p:spPr>
        <p:txBody>
          <a:bodyPr wrap="square" lIns="0" tIns="0" rIns="0" bIns="0" rtlCol="0" anchor="ct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category</a:t>
            </a:r>
            <a:endParaRPr lang="en-US" sz="1050" dirty="0"/>
          </a:p>
        </p:txBody>
      </p:sp>
      <p:sp>
        <p:nvSpPr>
          <p:cNvPr id="19" name="Shape 17"/>
          <p:cNvSpPr/>
          <p:nvPr/>
        </p:nvSpPr>
        <p:spPr>
          <a:xfrm>
            <a:off x="9742622" y="1234440"/>
            <a:ext cx="1069383" cy="292608"/>
          </a:xfrm>
          <a:prstGeom prst="rect">
            <a:avLst/>
          </a:prstGeom>
          <a:solidFill>
            <a:srgbClr val="222A68"/>
          </a:solidFill>
          <a:ln w="6350">
            <a:solidFill>
              <a:srgbClr val="AAB2C8"/>
            </a:solidFill>
            <a:prstDash val="solid"/>
          </a:ln>
        </p:spPr>
      </p:sp>
      <p:sp>
        <p:nvSpPr>
          <p:cNvPr id="20" name="Text 18"/>
          <p:cNvSpPr/>
          <p:nvPr/>
        </p:nvSpPr>
        <p:spPr>
          <a:xfrm>
            <a:off x="9760910" y="1298448"/>
            <a:ext cx="1032807" cy="146304"/>
          </a:xfrm>
          <a:prstGeom prst="rect">
            <a:avLst/>
          </a:prstGeom>
          <a:noFill/>
          <a:ln/>
        </p:spPr>
        <p:txBody>
          <a:bodyPr wrap="square" lIns="0" tIns="0" rIns="0" bIns="0" rtlCol="0" anchor="ct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amount</a:t>
            </a:r>
            <a:endParaRPr lang="en-US" sz="1050" dirty="0"/>
          </a:p>
        </p:txBody>
      </p:sp>
      <p:sp>
        <p:nvSpPr>
          <p:cNvPr id="21" name="Shape 19"/>
          <p:cNvSpPr/>
          <p:nvPr/>
        </p:nvSpPr>
        <p:spPr>
          <a:xfrm>
            <a:off x="10812005" y="1234440"/>
            <a:ext cx="891153" cy="292608"/>
          </a:xfrm>
          <a:prstGeom prst="rect">
            <a:avLst/>
          </a:prstGeom>
          <a:solidFill>
            <a:srgbClr val="222A68"/>
          </a:solidFill>
          <a:ln w="6350">
            <a:solidFill>
              <a:srgbClr val="AAB2C8"/>
            </a:solidFill>
            <a:prstDash val="solid"/>
          </a:ln>
        </p:spPr>
      </p:sp>
      <p:sp>
        <p:nvSpPr>
          <p:cNvPr id="22" name="Text 20"/>
          <p:cNvSpPr/>
          <p:nvPr/>
        </p:nvSpPr>
        <p:spPr>
          <a:xfrm>
            <a:off x="10830293" y="1298448"/>
            <a:ext cx="854577" cy="146304"/>
          </a:xfrm>
          <a:prstGeom prst="rect">
            <a:avLst/>
          </a:prstGeom>
          <a:noFill/>
          <a:ln/>
        </p:spPr>
        <p:txBody>
          <a:bodyPr wrap="square" lIns="0" tIns="0" rIns="0" bIns="0" rtlCol="0" anchor="ct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status</a:t>
            </a:r>
            <a:endParaRPr lang="en-US" sz="1050" dirty="0"/>
          </a:p>
        </p:txBody>
      </p:sp>
      <p:sp>
        <p:nvSpPr>
          <p:cNvPr id="23" name="Shape 21"/>
          <p:cNvSpPr/>
          <p:nvPr/>
        </p:nvSpPr>
        <p:spPr>
          <a:xfrm>
            <a:off x="6400800" y="1527048"/>
            <a:ext cx="1203056" cy="292608"/>
          </a:xfrm>
          <a:prstGeom prst="rect">
            <a:avLst/>
          </a:prstGeom>
          <a:solidFill>
            <a:srgbClr val="FFFFFF"/>
          </a:solidFill>
          <a:ln w="6350">
            <a:solidFill>
              <a:srgbClr val="AAB2C8"/>
            </a:solidFill>
            <a:prstDash val="solid"/>
          </a:ln>
        </p:spPr>
      </p:sp>
      <p:sp>
        <p:nvSpPr>
          <p:cNvPr id="24" name="Text 22"/>
          <p:cNvSpPr/>
          <p:nvPr/>
        </p:nvSpPr>
        <p:spPr>
          <a:xfrm>
            <a:off x="6419088" y="1591056"/>
            <a:ext cx="1166480"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TX000001</a:t>
            </a:r>
            <a:endParaRPr lang="en-US" sz="1050" dirty="0"/>
          </a:p>
        </p:txBody>
      </p:sp>
      <p:sp>
        <p:nvSpPr>
          <p:cNvPr id="25" name="Shape 23"/>
          <p:cNvSpPr/>
          <p:nvPr/>
        </p:nvSpPr>
        <p:spPr>
          <a:xfrm>
            <a:off x="7603856" y="1527048"/>
            <a:ext cx="1024825" cy="292608"/>
          </a:xfrm>
          <a:prstGeom prst="rect">
            <a:avLst/>
          </a:prstGeom>
          <a:solidFill>
            <a:srgbClr val="FFFFFF"/>
          </a:solidFill>
          <a:ln w="6350">
            <a:solidFill>
              <a:srgbClr val="AAB2C8"/>
            </a:solidFill>
            <a:prstDash val="solid"/>
          </a:ln>
        </p:spPr>
      </p:sp>
      <p:sp>
        <p:nvSpPr>
          <p:cNvPr id="26" name="Text 24"/>
          <p:cNvSpPr/>
          <p:nvPr/>
        </p:nvSpPr>
        <p:spPr>
          <a:xfrm>
            <a:off x="7622144" y="1591056"/>
            <a:ext cx="988249"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Ha Noi</a:t>
            </a:r>
            <a:endParaRPr lang="en-US" sz="1050" dirty="0"/>
          </a:p>
        </p:txBody>
      </p:sp>
      <p:sp>
        <p:nvSpPr>
          <p:cNvPr id="27" name="Shape 25"/>
          <p:cNvSpPr/>
          <p:nvPr/>
        </p:nvSpPr>
        <p:spPr>
          <a:xfrm>
            <a:off x="8628681" y="1527048"/>
            <a:ext cx="1113941" cy="292608"/>
          </a:xfrm>
          <a:prstGeom prst="rect">
            <a:avLst/>
          </a:prstGeom>
          <a:solidFill>
            <a:srgbClr val="FFFFFF"/>
          </a:solidFill>
          <a:ln w="6350">
            <a:solidFill>
              <a:srgbClr val="AAB2C8"/>
            </a:solidFill>
            <a:prstDash val="solid"/>
          </a:ln>
        </p:spPr>
      </p:sp>
      <p:sp>
        <p:nvSpPr>
          <p:cNvPr id="28" name="Text 26"/>
          <p:cNvSpPr/>
          <p:nvPr/>
        </p:nvSpPr>
        <p:spPr>
          <a:xfrm>
            <a:off x="8646969" y="1591056"/>
            <a:ext cx="1077365"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Electronics</a:t>
            </a:r>
            <a:endParaRPr lang="en-US" sz="1050" dirty="0"/>
          </a:p>
        </p:txBody>
      </p:sp>
      <p:sp>
        <p:nvSpPr>
          <p:cNvPr id="29" name="Shape 27"/>
          <p:cNvSpPr/>
          <p:nvPr/>
        </p:nvSpPr>
        <p:spPr>
          <a:xfrm>
            <a:off x="9742622" y="1527048"/>
            <a:ext cx="1069383" cy="292608"/>
          </a:xfrm>
          <a:prstGeom prst="rect">
            <a:avLst/>
          </a:prstGeom>
          <a:solidFill>
            <a:srgbClr val="FFFFFF"/>
          </a:solidFill>
          <a:ln w="6350">
            <a:solidFill>
              <a:srgbClr val="AAB2C8"/>
            </a:solidFill>
            <a:prstDash val="solid"/>
          </a:ln>
        </p:spPr>
      </p:sp>
      <p:sp>
        <p:nvSpPr>
          <p:cNvPr id="30" name="Text 28"/>
          <p:cNvSpPr/>
          <p:nvPr/>
        </p:nvSpPr>
        <p:spPr>
          <a:xfrm>
            <a:off x="9760910" y="1591056"/>
            <a:ext cx="1032807"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3,400,000</a:t>
            </a:r>
            <a:endParaRPr lang="en-US" sz="1050" dirty="0"/>
          </a:p>
        </p:txBody>
      </p:sp>
      <p:sp>
        <p:nvSpPr>
          <p:cNvPr id="31" name="Shape 29"/>
          <p:cNvSpPr/>
          <p:nvPr/>
        </p:nvSpPr>
        <p:spPr>
          <a:xfrm>
            <a:off x="10812005" y="1527048"/>
            <a:ext cx="891153" cy="292608"/>
          </a:xfrm>
          <a:prstGeom prst="rect">
            <a:avLst/>
          </a:prstGeom>
          <a:solidFill>
            <a:srgbClr val="FFFFFF"/>
          </a:solidFill>
          <a:ln w="6350">
            <a:solidFill>
              <a:srgbClr val="AAB2C8"/>
            </a:solidFill>
            <a:prstDash val="solid"/>
          </a:ln>
        </p:spPr>
      </p:sp>
      <p:sp>
        <p:nvSpPr>
          <p:cNvPr id="32" name="Text 30"/>
          <p:cNvSpPr/>
          <p:nvPr/>
        </p:nvSpPr>
        <p:spPr>
          <a:xfrm>
            <a:off x="10830293" y="1591056"/>
            <a:ext cx="854577"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SUCCESS</a:t>
            </a:r>
            <a:endParaRPr lang="en-US" sz="1050" dirty="0"/>
          </a:p>
        </p:txBody>
      </p:sp>
      <p:sp>
        <p:nvSpPr>
          <p:cNvPr id="33" name="Shape 31"/>
          <p:cNvSpPr/>
          <p:nvPr/>
        </p:nvSpPr>
        <p:spPr>
          <a:xfrm>
            <a:off x="6400800" y="1819656"/>
            <a:ext cx="1203056" cy="292608"/>
          </a:xfrm>
          <a:prstGeom prst="rect">
            <a:avLst/>
          </a:prstGeom>
          <a:solidFill>
            <a:srgbClr val="FFFFFF"/>
          </a:solidFill>
          <a:ln w="6350">
            <a:solidFill>
              <a:srgbClr val="AAB2C8"/>
            </a:solidFill>
            <a:prstDash val="solid"/>
          </a:ln>
        </p:spPr>
      </p:sp>
      <p:sp>
        <p:nvSpPr>
          <p:cNvPr id="34" name="Text 32"/>
          <p:cNvSpPr/>
          <p:nvPr/>
        </p:nvSpPr>
        <p:spPr>
          <a:xfrm>
            <a:off x="6419088" y="1883664"/>
            <a:ext cx="1166480"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TX000002</a:t>
            </a:r>
            <a:endParaRPr lang="en-US" sz="1050" dirty="0"/>
          </a:p>
        </p:txBody>
      </p:sp>
      <p:sp>
        <p:nvSpPr>
          <p:cNvPr id="35" name="Shape 33"/>
          <p:cNvSpPr/>
          <p:nvPr/>
        </p:nvSpPr>
        <p:spPr>
          <a:xfrm>
            <a:off x="7603856" y="1819656"/>
            <a:ext cx="1024825" cy="292608"/>
          </a:xfrm>
          <a:prstGeom prst="rect">
            <a:avLst/>
          </a:prstGeom>
          <a:solidFill>
            <a:srgbClr val="FFFFFF"/>
          </a:solidFill>
          <a:ln w="6350">
            <a:solidFill>
              <a:srgbClr val="AAB2C8"/>
            </a:solidFill>
            <a:prstDash val="solid"/>
          </a:ln>
        </p:spPr>
      </p:sp>
      <p:sp>
        <p:nvSpPr>
          <p:cNvPr id="36" name="Text 34"/>
          <p:cNvSpPr/>
          <p:nvPr/>
        </p:nvSpPr>
        <p:spPr>
          <a:xfrm>
            <a:off x="7622144" y="1883664"/>
            <a:ext cx="988249"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Da Nang</a:t>
            </a:r>
            <a:endParaRPr lang="en-US" sz="1050" dirty="0"/>
          </a:p>
        </p:txBody>
      </p:sp>
      <p:sp>
        <p:nvSpPr>
          <p:cNvPr id="37" name="Shape 35"/>
          <p:cNvSpPr/>
          <p:nvPr/>
        </p:nvSpPr>
        <p:spPr>
          <a:xfrm>
            <a:off x="8628681" y="1819656"/>
            <a:ext cx="1113941" cy="292608"/>
          </a:xfrm>
          <a:prstGeom prst="rect">
            <a:avLst/>
          </a:prstGeom>
          <a:solidFill>
            <a:srgbClr val="FFFFFF"/>
          </a:solidFill>
          <a:ln w="6350">
            <a:solidFill>
              <a:srgbClr val="AAB2C8"/>
            </a:solidFill>
            <a:prstDash val="solid"/>
          </a:ln>
        </p:spPr>
      </p:sp>
      <p:sp>
        <p:nvSpPr>
          <p:cNvPr id="38" name="Text 36"/>
          <p:cNvSpPr/>
          <p:nvPr/>
        </p:nvSpPr>
        <p:spPr>
          <a:xfrm>
            <a:off x="8646969" y="1883664"/>
            <a:ext cx="1077365"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Fashion</a:t>
            </a:r>
            <a:endParaRPr lang="en-US" sz="1050" dirty="0"/>
          </a:p>
        </p:txBody>
      </p:sp>
      <p:sp>
        <p:nvSpPr>
          <p:cNvPr id="39" name="Shape 37"/>
          <p:cNvSpPr/>
          <p:nvPr/>
        </p:nvSpPr>
        <p:spPr>
          <a:xfrm>
            <a:off x="9742622" y="1819656"/>
            <a:ext cx="1069383" cy="292608"/>
          </a:xfrm>
          <a:prstGeom prst="rect">
            <a:avLst/>
          </a:prstGeom>
          <a:solidFill>
            <a:srgbClr val="FFFFFF"/>
          </a:solidFill>
          <a:ln w="6350">
            <a:solidFill>
              <a:srgbClr val="AAB2C8"/>
            </a:solidFill>
            <a:prstDash val="solid"/>
          </a:ln>
        </p:spPr>
      </p:sp>
      <p:sp>
        <p:nvSpPr>
          <p:cNvPr id="40" name="Text 38"/>
          <p:cNvSpPr/>
          <p:nvPr/>
        </p:nvSpPr>
        <p:spPr>
          <a:xfrm>
            <a:off x="9760910" y="1883664"/>
            <a:ext cx="1032807"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520,000</a:t>
            </a:r>
            <a:endParaRPr lang="en-US" sz="1050" dirty="0"/>
          </a:p>
        </p:txBody>
      </p:sp>
      <p:sp>
        <p:nvSpPr>
          <p:cNvPr id="41" name="Shape 39"/>
          <p:cNvSpPr/>
          <p:nvPr/>
        </p:nvSpPr>
        <p:spPr>
          <a:xfrm>
            <a:off x="10812005" y="1819656"/>
            <a:ext cx="891153" cy="292608"/>
          </a:xfrm>
          <a:prstGeom prst="rect">
            <a:avLst/>
          </a:prstGeom>
          <a:solidFill>
            <a:srgbClr val="FFFFFF"/>
          </a:solidFill>
          <a:ln w="6350">
            <a:solidFill>
              <a:srgbClr val="AAB2C8"/>
            </a:solidFill>
            <a:prstDash val="solid"/>
          </a:ln>
        </p:spPr>
      </p:sp>
      <p:sp>
        <p:nvSpPr>
          <p:cNvPr id="42" name="Text 40"/>
          <p:cNvSpPr/>
          <p:nvPr/>
        </p:nvSpPr>
        <p:spPr>
          <a:xfrm>
            <a:off x="10830293" y="1883664"/>
            <a:ext cx="854577"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SUCCESS</a:t>
            </a:r>
            <a:endParaRPr lang="en-US" sz="1050" dirty="0"/>
          </a:p>
        </p:txBody>
      </p:sp>
      <p:sp>
        <p:nvSpPr>
          <p:cNvPr id="43" name="Shape 41"/>
          <p:cNvSpPr/>
          <p:nvPr/>
        </p:nvSpPr>
        <p:spPr>
          <a:xfrm>
            <a:off x="6400800" y="2112264"/>
            <a:ext cx="1203056" cy="292608"/>
          </a:xfrm>
          <a:prstGeom prst="rect">
            <a:avLst/>
          </a:prstGeom>
          <a:solidFill>
            <a:srgbClr val="FFFFFF"/>
          </a:solidFill>
          <a:ln w="6350">
            <a:solidFill>
              <a:srgbClr val="AAB2C8"/>
            </a:solidFill>
            <a:prstDash val="solid"/>
          </a:ln>
        </p:spPr>
      </p:sp>
      <p:sp>
        <p:nvSpPr>
          <p:cNvPr id="44" name="Text 42"/>
          <p:cNvSpPr/>
          <p:nvPr/>
        </p:nvSpPr>
        <p:spPr>
          <a:xfrm>
            <a:off x="6419088" y="2176272"/>
            <a:ext cx="1166480"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TX000003</a:t>
            </a:r>
            <a:endParaRPr lang="en-US" sz="1050" dirty="0"/>
          </a:p>
        </p:txBody>
      </p:sp>
      <p:sp>
        <p:nvSpPr>
          <p:cNvPr id="45" name="Shape 43"/>
          <p:cNvSpPr/>
          <p:nvPr/>
        </p:nvSpPr>
        <p:spPr>
          <a:xfrm>
            <a:off x="7603856" y="2112264"/>
            <a:ext cx="1024825" cy="292608"/>
          </a:xfrm>
          <a:prstGeom prst="rect">
            <a:avLst/>
          </a:prstGeom>
          <a:solidFill>
            <a:srgbClr val="FFFFFF"/>
          </a:solidFill>
          <a:ln w="6350">
            <a:solidFill>
              <a:srgbClr val="AAB2C8"/>
            </a:solidFill>
            <a:prstDash val="solid"/>
          </a:ln>
        </p:spPr>
      </p:sp>
      <p:sp>
        <p:nvSpPr>
          <p:cNvPr id="46" name="Text 44"/>
          <p:cNvSpPr/>
          <p:nvPr/>
        </p:nvSpPr>
        <p:spPr>
          <a:xfrm>
            <a:off x="7622144" y="2176272"/>
            <a:ext cx="988249"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Can Tho</a:t>
            </a:r>
            <a:endParaRPr lang="en-US" sz="1050" dirty="0"/>
          </a:p>
        </p:txBody>
      </p:sp>
      <p:sp>
        <p:nvSpPr>
          <p:cNvPr id="47" name="Shape 45"/>
          <p:cNvSpPr/>
          <p:nvPr/>
        </p:nvSpPr>
        <p:spPr>
          <a:xfrm>
            <a:off x="8628681" y="2112264"/>
            <a:ext cx="1113941" cy="292608"/>
          </a:xfrm>
          <a:prstGeom prst="rect">
            <a:avLst/>
          </a:prstGeom>
          <a:solidFill>
            <a:srgbClr val="FFFFFF"/>
          </a:solidFill>
          <a:ln w="6350">
            <a:solidFill>
              <a:srgbClr val="AAB2C8"/>
            </a:solidFill>
            <a:prstDash val="solid"/>
          </a:ln>
        </p:spPr>
      </p:sp>
      <p:sp>
        <p:nvSpPr>
          <p:cNvPr id="48" name="Text 46"/>
          <p:cNvSpPr/>
          <p:nvPr/>
        </p:nvSpPr>
        <p:spPr>
          <a:xfrm>
            <a:off x="8646969" y="2176272"/>
            <a:ext cx="1077365"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Grocery</a:t>
            </a:r>
            <a:endParaRPr lang="en-US" sz="1050" dirty="0"/>
          </a:p>
        </p:txBody>
      </p:sp>
      <p:sp>
        <p:nvSpPr>
          <p:cNvPr id="49" name="Shape 47"/>
          <p:cNvSpPr/>
          <p:nvPr/>
        </p:nvSpPr>
        <p:spPr>
          <a:xfrm>
            <a:off x="9742622" y="2112264"/>
            <a:ext cx="1069383" cy="292608"/>
          </a:xfrm>
          <a:prstGeom prst="rect">
            <a:avLst/>
          </a:prstGeom>
          <a:solidFill>
            <a:srgbClr val="FFFFFF"/>
          </a:solidFill>
          <a:ln w="6350">
            <a:solidFill>
              <a:srgbClr val="AAB2C8"/>
            </a:solidFill>
            <a:prstDash val="solid"/>
          </a:ln>
        </p:spPr>
      </p:sp>
      <p:sp>
        <p:nvSpPr>
          <p:cNvPr id="50" name="Text 48"/>
          <p:cNvSpPr/>
          <p:nvPr/>
        </p:nvSpPr>
        <p:spPr>
          <a:xfrm>
            <a:off x="9760910" y="2176272"/>
            <a:ext cx="1032807"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180,000</a:t>
            </a:r>
            <a:endParaRPr lang="en-US" sz="1050" dirty="0"/>
          </a:p>
        </p:txBody>
      </p:sp>
      <p:sp>
        <p:nvSpPr>
          <p:cNvPr id="51" name="Shape 49"/>
          <p:cNvSpPr/>
          <p:nvPr/>
        </p:nvSpPr>
        <p:spPr>
          <a:xfrm>
            <a:off x="10812005" y="2112264"/>
            <a:ext cx="891153" cy="292608"/>
          </a:xfrm>
          <a:prstGeom prst="rect">
            <a:avLst/>
          </a:prstGeom>
          <a:solidFill>
            <a:srgbClr val="FFFFFF"/>
          </a:solidFill>
          <a:ln w="6350">
            <a:solidFill>
              <a:srgbClr val="AAB2C8"/>
            </a:solidFill>
            <a:prstDash val="solid"/>
          </a:ln>
        </p:spPr>
      </p:sp>
      <p:sp>
        <p:nvSpPr>
          <p:cNvPr id="52" name="Text 50"/>
          <p:cNvSpPr/>
          <p:nvPr/>
        </p:nvSpPr>
        <p:spPr>
          <a:xfrm>
            <a:off x="10830293" y="2176272"/>
            <a:ext cx="854577"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FAILED</a:t>
            </a:r>
            <a:endParaRPr lang="en-US" sz="1050" dirty="0"/>
          </a:p>
        </p:txBody>
      </p:sp>
      <p:sp>
        <p:nvSpPr>
          <p:cNvPr id="53" name="Shape 51"/>
          <p:cNvSpPr/>
          <p:nvPr/>
        </p:nvSpPr>
        <p:spPr>
          <a:xfrm>
            <a:off x="6400800" y="2404872"/>
            <a:ext cx="1203056" cy="292608"/>
          </a:xfrm>
          <a:prstGeom prst="rect">
            <a:avLst/>
          </a:prstGeom>
          <a:solidFill>
            <a:srgbClr val="FFFFFF"/>
          </a:solidFill>
          <a:ln w="6350">
            <a:solidFill>
              <a:srgbClr val="AAB2C8"/>
            </a:solidFill>
            <a:prstDash val="solid"/>
          </a:ln>
        </p:spPr>
      </p:sp>
      <p:sp>
        <p:nvSpPr>
          <p:cNvPr id="54" name="Text 52"/>
          <p:cNvSpPr/>
          <p:nvPr/>
        </p:nvSpPr>
        <p:spPr>
          <a:xfrm>
            <a:off x="6419088" y="2468880"/>
            <a:ext cx="1166480"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TX000004</a:t>
            </a:r>
            <a:endParaRPr lang="en-US" sz="1050" dirty="0"/>
          </a:p>
        </p:txBody>
      </p:sp>
      <p:sp>
        <p:nvSpPr>
          <p:cNvPr id="55" name="Shape 53"/>
          <p:cNvSpPr/>
          <p:nvPr/>
        </p:nvSpPr>
        <p:spPr>
          <a:xfrm>
            <a:off x="7603856" y="2404872"/>
            <a:ext cx="1024825" cy="292608"/>
          </a:xfrm>
          <a:prstGeom prst="rect">
            <a:avLst/>
          </a:prstGeom>
          <a:solidFill>
            <a:srgbClr val="FFFFFF"/>
          </a:solidFill>
          <a:ln w="6350">
            <a:solidFill>
              <a:srgbClr val="AAB2C8"/>
            </a:solidFill>
            <a:prstDash val="solid"/>
          </a:ln>
        </p:spPr>
      </p:sp>
      <p:sp>
        <p:nvSpPr>
          <p:cNvPr id="56" name="Text 54"/>
          <p:cNvSpPr/>
          <p:nvPr/>
        </p:nvSpPr>
        <p:spPr>
          <a:xfrm>
            <a:off x="7622144" y="2468880"/>
            <a:ext cx="988249"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Lam Dong</a:t>
            </a:r>
            <a:endParaRPr lang="en-US" sz="1050" dirty="0"/>
          </a:p>
        </p:txBody>
      </p:sp>
      <p:sp>
        <p:nvSpPr>
          <p:cNvPr id="57" name="Shape 55"/>
          <p:cNvSpPr/>
          <p:nvPr/>
        </p:nvSpPr>
        <p:spPr>
          <a:xfrm>
            <a:off x="8628681" y="2404872"/>
            <a:ext cx="1113941" cy="292608"/>
          </a:xfrm>
          <a:prstGeom prst="rect">
            <a:avLst/>
          </a:prstGeom>
          <a:solidFill>
            <a:srgbClr val="FFFFFF"/>
          </a:solidFill>
          <a:ln w="6350">
            <a:solidFill>
              <a:srgbClr val="AAB2C8"/>
            </a:solidFill>
            <a:prstDash val="solid"/>
          </a:ln>
        </p:spPr>
      </p:sp>
      <p:sp>
        <p:nvSpPr>
          <p:cNvPr id="58" name="Text 56"/>
          <p:cNvSpPr/>
          <p:nvPr/>
        </p:nvSpPr>
        <p:spPr>
          <a:xfrm>
            <a:off x="8646969" y="2468880"/>
            <a:ext cx="1077365"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Book</a:t>
            </a:r>
            <a:endParaRPr lang="en-US" sz="1050" dirty="0"/>
          </a:p>
        </p:txBody>
      </p:sp>
      <p:sp>
        <p:nvSpPr>
          <p:cNvPr id="59" name="Shape 57"/>
          <p:cNvSpPr/>
          <p:nvPr/>
        </p:nvSpPr>
        <p:spPr>
          <a:xfrm>
            <a:off x="9742622" y="2404872"/>
            <a:ext cx="1069383" cy="292608"/>
          </a:xfrm>
          <a:prstGeom prst="rect">
            <a:avLst/>
          </a:prstGeom>
          <a:solidFill>
            <a:srgbClr val="FFFFFF"/>
          </a:solidFill>
          <a:ln w="6350">
            <a:solidFill>
              <a:srgbClr val="AAB2C8"/>
            </a:solidFill>
            <a:prstDash val="solid"/>
          </a:ln>
        </p:spPr>
      </p:sp>
      <p:sp>
        <p:nvSpPr>
          <p:cNvPr id="60" name="Text 58"/>
          <p:cNvSpPr/>
          <p:nvPr/>
        </p:nvSpPr>
        <p:spPr>
          <a:xfrm>
            <a:off x="9760910" y="2468880"/>
            <a:ext cx="1032807"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250,000</a:t>
            </a:r>
            <a:endParaRPr lang="en-US" sz="1050" dirty="0"/>
          </a:p>
        </p:txBody>
      </p:sp>
      <p:sp>
        <p:nvSpPr>
          <p:cNvPr id="61" name="Shape 59"/>
          <p:cNvSpPr/>
          <p:nvPr/>
        </p:nvSpPr>
        <p:spPr>
          <a:xfrm>
            <a:off x="10812005" y="2404872"/>
            <a:ext cx="891153" cy="292608"/>
          </a:xfrm>
          <a:prstGeom prst="rect">
            <a:avLst/>
          </a:prstGeom>
          <a:solidFill>
            <a:srgbClr val="FFFFFF"/>
          </a:solidFill>
          <a:ln w="6350">
            <a:solidFill>
              <a:srgbClr val="AAB2C8"/>
            </a:solidFill>
            <a:prstDash val="solid"/>
          </a:ln>
        </p:spPr>
      </p:sp>
      <p:sp>
        <p:nvSpPr>
          <p:cNvPr id="62" name="Text 60"/>
          <p:cNvSpPr/>
          <p:nvPr/>
        </p:nvSpPr>
        <p:spPr>
          <a:xfrm>
            <a:off x="10830293" y="2468880"/>
            <a:ext cx="854577"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SUCCESS</a:t>
            </a:r>
            <a:endParaRPr lang="en-US" sz="1050" dirty="0"/>
          </a:p>
        </p:txBody>
      </p:sp>
      <p:sp>
        <p:nvSpPr>
          <p:cNvPr id="63" name="Shape 61"/>
          <p:cNvSpPr/>
          <p:nvPr/>
        </p:nvSpPr>
        <p:spPr>
          <a:xfrm>
            <a:off x="7326630" y="3870198"/>
            <a:ext cx="192024" cy="0"/>
          </a:xfrm>
          <a:prstGeom prst="line">
            <a:avLst/>
          </a:prstGeom>
          <a:noFill/>
          <a:ln w="12700">
            <a:solidFill>
              <a:srgbClr val="777777"/>
            </a:solidFill>
            <a:prstDash val="solid"/>
            <a:headEnd type="none"/>
            <a:tailEnd type="triangle"/>
          </a:ln>
        </p:spPr>
      </p:sp>
      <p:sp>
        <p:nvSpPr>
          <p:cNvPr id="64" name="Shape 62"/>
          <p:cNvSpPr/>
          <p:nvPr/>
        </p:nvSpPr>
        <p:spPr>
          <a:xfrm>
            <a:off x="8444484" y="3870198"/>
            <a:ext cx="192024" cy="0"/>
          </a:xfrm>
          <a:prstGeom prst="line">
            <a:avLst/>
          </a:prstGeom>
          <a:noFill/>
          <a:ln w="12700">
            <a:solidFill>
              <a:srgbClr val="777777"/>
            </a:solidFill>
            <a:prstDash val="solid"/>
            <a:headEnd type="none"/>
            <a:tailEnd type="triangle"/>
          </a:ln>
        </p:spPr>
      </p:sp>
      <p:sp>
        <p:nvSpPr>
          <p:cNvPr id="65" name="Shape 63"/>
          <p:cNvSpPr/>
          <p:nvPr/>
        </p:nvSpPr>
        <p:spPr>
          <a:xfrm>
            <a:off x="9562338" y="3870198"/>
            <a:ext cx="192024" cy="0"/>
          </a:xfrm>
          <a:prstGeom prst="line">
            <a:avLst/>
          </a:prstGeom>
          <a:noFill/>
          <a:ln w="12700">
            <a:solidFill>
              <a:srgbClr val="777777"/>
            </a:solidFill>
            <a:prstDash val="solid"/>
            <a:headEnd type="none"/>
            <a:tailEnd type="triangle"/>
          </a:ln>
        </p:spPr>
      </p:sp>
      <p:sp>
        <p:nvSpPr>
          <p:cNvPr id="66" name="Shape 64"/>
          <p:cNvSpPr/>
          <p:nvPr/>
        </p:nvSpPr>
        <p:spPr>
          <a:xfrm>
            <a:off x="10680192" y="3870198"/>
            <a:ext cx="192024" cy="0"/>
          </a:xfrm>
          <a:prstGeom prst="line">
            <a:avLst/>
          </a:prstGeom>
          <a:noFill/>
          <a:ln w="12700">
            <a:solidFill>
              <a:srgbClr val="777777"/>
            </a:solidFill>
            <a:prstDash val="solid"/>
            <a:headEnd type="none"/>
            <a:tailEnd type="triangle"/>
          </a:ln>
        </p:spPr>
      </p:sp>
      <p:sp>
        <p:nvSpPr>
          <p:cNvPr id="67" name="Shape 65"/>
          <p:cNvSpPr/>
          <p:nvPr/>
        </p:nvSpPr>
        <p:spPr>
          <a:xfrm>
            <a:off x="6400800" y="3657600"/>
            <a:ext cx="925830" cy="425196"/>
          </a:xfrm>
          <a:prstGeom prst="roundRect">
            <a:avLst>
              <a:gd name="adj" fmla="val 10753"/>
            </a:avLst>
          </a:prstGeom>
          <a:solidFill>
            <a:srgbClr val="222A68"/>
          </a:solidFill>
          <a:ln w="12700">
            <a:solidFill>
              <a:srgbClr val="222A68"/>
            </a:solidFill>
            <a:prstDash val="solid"/>
          </a:ln>
        </p:spPr>
      </p:sp>
      <p:sp>
        <p:nvSpPr>
          <p:cNvPr id="68" name="Text 66"/>
          <p:cNvSpPr/>
          <p:nvPr/>
        </p:nvSpPr>
        <p:spPr>
          <a:xfrm>
            <a:off x="6428232" y="3787902"/>
            <a:ext cx="870966" cy="137160"/>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Input CSV</a:t>
            </a:r>
            <a:endParaRPr lang="en-US" sz="900" dirty="0"/>
          </a:p>
        </p:txBody>
      </p:sp>
      <p:sp>
        <p:nvSpPr>
          <p:cNvPr id="69" name="Shape 67"/>
          <p:cNvSpPr/>
          <p:nvPr/>
        </p:nvSpPr>
        <p:spPr>
          <a:xfrm>
            <a:off x="7518654" y="3657600"/>
            <a:ext cx="925830" cy="425196"/>
          </a:xfrm>
          <a:prstGeom prst="roundRect">
            <a:avLst>
              <a:gd name="adj" fmla="val 10753"/>
            </a:avLst>
          </a:prstGeom>
          <a:solidFill>
            <a:srgbClr val="D83A6C"/>
          </a:solidFill>
          <a:ln w="12700">
            <a:solidFill>
              <a:srgbClr val="D83A6C"/>
            </a:solidFill>
            <a:prstDash val="solid"/>
          </a:ln>
        </p:spPr>
      </p:sp>
      <p:sp>
        <p:nvSpPr>
          <p:cNvPr id="70" name="Text 68"/>
          <p:cNvSpPr/>
          <p:nvPr/>
        </p:nvSpPr>
        <p:spPr>
          <a:xfrm>
            <a:off x="7546086" y="3787902"/>
            <a:ext cx="870966" cy="137160"/>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Mapper</a:t>
            </a:r>
            <a:endParaRPr lang="en-US" sz="900" dirty="0"/>
          </a:p>
        </p:txBody>
      </p:sp>
      <p:sp>
        <p:nvSpPr>
          <p:cNvPr id="71" name="Shape 69"/>
          <p:cNvSpPr/>
          <p:nvPr/>
        </p:nvSpPr>
        <p:spPr>
          <a:xfrm>
            <a:off x="8636508" y="3657600"/>
            <a:ext cx="925830" cy="425196"/>
          </a:xfrm>
          <a:prstGeom prst="roundRect">
            <a:avLst>
              <a:gd name="adj" fmla="val 10753"/>
            </a:avLst>
          </a:prstGeom>
          <a:solidFill>
            <a:srgbClr val="C36B2C"/>
          </a:solidFill>
          <a:ln w="12700">
            <a:solidFill>
              <a:srgbClr val="C36B2C"/>
            </a:solidFill>
            <a:prstDash val="solid"/>
          </a:ln>
        </p:spPr>
      </p:sp>
      <p:sp>
        <p:nvSpPr>
          <p:cNvPr id="72" name="Text 70"/>
          <p:cNvSpPr/>
          <p:nvPr/>
        </p:nvSpPr>
        <p:spPr>
          <a:xfrm>
            <a:off x="8663940" y="3787902"/>
            <a:ext cx="870966" cy="137160"/>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Shuffle / Sort</a:t>
            </a:r>
            <a:endParaRPr lang="en-US" sz="900" dirty="0"/>
          </a:p>
        </p:txBody>
      </p:sp>
      <p:sp>
        <p:nvSpPr>
          <p:cNvPr id="73" name="Shape 71"/>
          <p:cNvSpPr/>
          <p:nvPr/>
        </p:nvSpPr>
        <p:spPr>
          <a:xfrm>
            <a:off x="9754362" y="3657600"/>
            <a:ext cx="925830" cy="425196"/>
          </a:xfrm>
          <a:prstGeom prst="roundRect">
            <a:avLst>
              <a:gd name="adj" fmla="val 10753"/>
            </a:avLst>
          </a:prstGeom>
          <a:solidFill>
            <a:srgbClr val="2F8F6F"/>
          </a:solidFill>
          <a:ln w="12700">
            <a:solidFill>
              <a:srgbClr val="2F8F6F"/>
            </a:solidFill>
            <a:prstDash val="solid"/>
          </a:ln>
        </p:spPr>
      </p:sp>
      <p:sp>
        <p:nvSpPr>
          <p:cNvPr id="74" name="Text 72"/>
          <p:cNvSpPr/>
          <p:nvPr/>
        </p:nvSpPr>
        <p:spPr>
          <a:xfrm>
            <a:off x="9781794" y="3787902"/>
            <a:ext cx="870966" cy="137160"/>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Reducer</a:t>
            </a:r>
            <a:endParaRPr lang="en-US" sz="900" dirty="0"/>
          </a:p>
        </p:txBody>
      </p:sp>
      <p:sp>
        <p:nvSpPr>
          <p:cNvPr id="75" name="Shape 73"/>
          <p:cNvSpPr/>
          <p:nvPr/>
        </p:nvSpPr>
        <p:spPr>
          <a:xfrm>
            <a:off x="10872216" y="3657600"/>
            <a:ext cx="925830" cy="425196"/>
          </a:xfrm>
          <a:prstGeom prst="roundRect">
            <a:avLst>
              <a:gd name="adj" fmla="val 10753"/>
            </a:avLst>
          </a:prstGeom>
          <a:solidFill>
            <a:srgbClr val="5B4AA0"/>
          </a:solidFill>
          <a:ln w="12700">
            <a:solidFill>
              <a:srgbClr val="5B4AA0"/>
            </a:solidFill>
            <a:prstDash val="solid"/>
          </a:ln>
        </p:spPr>
      </p:sp>
      <p:sp>
        <p:nvSpPr>
          <p:cNvPr id="76" name="Text 74"/>
          <p:cNvSpPr/>
          <p:nvPr/>
        </p:nvSpPr>
        <p:spPr>
          <a:xfrm>
            <a:off x="10899648" y="3787902"/>
            <a:ext cx="870966" cy="137160"/>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34" charset="0"/>
                <a:ea typeface="Times New Roman" pitchFamily="34" charset="-122"/>
                <a:cs typeface="Times New Roman" pitchFamily="34" charset="-120"/>
              </a:rPr>
              <a:t>Output</a:t>
            </a:r>
            <a:endParaRPr lang="en-US" sz="900" dirty="0"/>
          </a:p>
        </p:txBody>
      </p:sp>
      <p:sp>
        <p:nvSpPr>
          <p:cNvPr id="77" name="Text 75"/>
          <p:cNvSpPr/>
          <p:nvPr/>
        </p:nvSpPr>
        <p:spPr>
          <a:xfrm>
            <a:off x="6400800" y="4800600"/>
            <a:ext cx="5212080" cy="548640"/>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Bài toán phù hợp với Hadoop vì dữ liệu giao dịch có thể tăng rất nhanh theo ngày, có thể lưu phân tán và xử lý theo lô.</a:t>
            </a:r>
            <a:endParaRPr lang="en-US" sz="14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222A68"/>
          </a:solidFill>
          <a:ln w="12700">
            <a:solidFill>
              <a:srgbClr val="222A68"/>
            </a:solidFill>
            <a:prstDash val="solid"/>
          </a:ln>
        </p:spPr>
      </p:sp>
      <p:sp>
        <p:nvSpPr>
          <p:cNvPr id="3" name="Text 1"/>
          <p:cNvSpPr/>
          <p:nvPr/>
        </p:nvSpPr>
        <p:spPr>
          <a:xfrm>
            <a:off x="438912" y="310896"/>
            <a:ext cx="10424160" cy="475488"/>
          </a:xfrm>
          <a:prstGeom prst="rect">
            <a:avLst/>
          </a:prstGeom>
          <a:noFill/>
          <a:ln/>
        </p:spPr>
        <p:txBody>
          <a:bodyPr wrap="square" lIns="0" tIns="0" rIns="0" bIns="0" rtlCol="0" anchor="ctr"/>
          <a:lstStyle/>
          <a:p>
            <a:pPr marL="0" indent="0">
              <a:buNone/>
            </a:pPr>
            <a:r>
              <a:rPr lang="en-US" sz="2200" b="1" dirty="0">
                <a:solidFill>
                  <a:srgbClr val="222A68"/>
                </a:solidFill>
                <a:latin typeface="Times New Roman" pitchFamily="34" charset="0"/>
                <a:ea typeface="Times New Roman" pitchFamily="34" charset="-122"/>
                <a:cs typeface="Times New Roman" pitchFamily="34" charset="-120"/>
              </a:rPr>
              <a:t>3. Sản phẩm đầu ra cần nộp</a:t>
            </a:r>
            <a:endParaRPr lang="en-US" sz="2200" dirty="0"/>
          </a:p>
        </p:txBody>
      </p:sp>
      <p:sp>
        <p:nvSpPr>
          <p:cNvPr id="4" name="Shape 2"/>
          <p:cNvSpPr/>
          <p:nvPr/>
        </p:nvSpPr>
        <p:spPr>
          <a:xfrm>
            <a:off x="438912" y="868680"/>
            <a:ext cx="11292840" cy="0"/>
          </a:xfrm>
          <a:prstGeom prst="line">
            <a:avLst/>
          </a:prstGeom>
          <a:noFill/>
          <a:ln w="15240">
            <a:solidFill>
              <a:srgbClr val="D83A6C"/>
            </a:solidFill>
            <a:prstDash val="solid"/>
          </a:ln>
        </p:spPr>
      </p:sp>
      <p:sp>
        <p:nvSpPr>
          <p:cNvPr id="5" name="Text 3"/>
          <p:cNvSpPr/>
          <p:nvPr/>
        </p:nvSpPr>
        <p:spPr>
          <a:xfrm>
            <a:off x="11475720" y="6446520"/>
            <a:ext cx="320040" cy="201168"/>
          </a:xfrm>
          <a:prstGeom prst="rect">
            <a:avLst/>
          </a:prstGeom>
          <a:noFill/>
          <a:ln/>
        </p:spPr>
        <p:txBody>
          <a:bodyPr wrap="square" lIns="0" tIns="0" rIns="0" bIns="0" rtlCol="0" anchor="ctr"/>
          <a:lstStyle/>
          <a:p>
            <a:pPr marL="0" indent="0" algn="ctr">
              <a:buNone/>
            </a:pPr>
            <a:r>
              <a:rPr lang="en-US" sz="900" dirty="0">
                <a:solidFill>
                  <a:srgbClr val="666666"/>
                </a:solidFill>
                <a:latin typeface="Times New Roman" pitchFamily="34" charset="0"/>
                <a:ea typeface="Times New Roman" pitchFamily="34" charset="-122"/>
                <a:cs typeface="Times New Roman" pitchFamily="34" charset="-120"/>
              </a:rPr>
              <a:t>4</a:t>
            </a:r>
            <a:endParaRPr lang="en-US" sz="900" dirty="0"/>
          </a:p>
        </p:txBody>
      </p:sp>
      <p:sp>
        <p:nvSpPr>
          <p:cNvPr id="6" name="Shape 4"/>
          <p:cNvSpPr/>
          <p:nvPr/>
        </p:nvSpPr>
        <p:spPr>
          <a:xfrm>
            <a:off x="685800" y="1078992"/>
            <a:ext cx="502920" cy="384048"/>
          </a:xfrm>
          <a:prstGeom prst="roundRect">
            <a:avLst>
              <a:gd name="adj" fmla="val 11905"/>
            </a:avLst>
          </a:prstGeom>
          <a:solidFill>
            <a:srgbClr val="222A68"/>
          </a:solidFill>
          <a:ln w="12700">
            <a:solidFill>
              <a:srgbClr val="222A68"/>
            </a:solidFill>
            <a:prstDash val="solid"/>
          </a:ln>
        </p:spPr>
      </p:sp>
      <p:sp>
        <p:nvSpPr>
          <p:cNvPr id="7" name="Text 5"/>
          <p:cNvSpPr/>
          <p:nvPr/>
        </p:nvSpPr>
        <p:spPr>
          <a:xfrm>
            <a:off x="777240" y="1133856"/>
            <a:ext cx="32004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01</a:t>
            </a:r>
            <a:endParaRPr lang="en-US" sz="1400" dirty="0"/>
          </a:p>
        </p:txBody>
      </p:sp>
      <p:sp>
        <p:nvSpPr>
          <p:cNvPr id="8" name="Text 6"/>
          <p:cNvSpPr/>
          <p:nvPr/>
        </p:nvSpPr>
        <p:spPr>
          <a:xfrm>
            <a:off x="1325880" y="1051560"/>
            <a:ext cx="9966960" cy="548640"/>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Ảnh chụp hoặc file log chứng minh đã tạo thư mục HDFS và upload dữ liệu thành công.</a:t>
            </a:r>
            <a:endParaRPr lang="en-US" sz="1400" dirty="0"/>
          </a:p>
        </p:txBody>
      </p:sp>
      <p:sp>
        <p:nvSpPr>
          <p:cNvPr id="9" name="Shape 7"/>
          <p:cNvSpPr/>
          <p:nvPr/>
        </p:nvSpPr>
        <p:spPr>
          <a:xfrm>
            <a:off x="685800" y="1947672"/>
            <a:ext cx="502920" cy="384048"/>
          </a:xfrm>
          <a:prstGeom prst="roundRect">
            <a:avLst>
              <a:gd name="adj" fmla="val 11905"/>
            </a:avLst>
          </a:prstGeom>
          <a:solidFill>
            <a:srgbClr val="D83A6C"/>
          </a:solidFill>
          <a:ln w="12700">
            <a:solidFill>
              <a:srgbClr val="D83A6C"/>
            </a:solidFill>
            <a:prstDash val="solid"/>
          </a:ln>
        </p:spPr>
      </p:sp>
      <p:sp>
        <p:nvSpPr>
          <p:cNvPr id="10" name="Text 8"/>
          <p:cNvSpPr/>
          <p:nvPr/>
        </p:nvSpPr>
        <p:spPr>
          <a:xfrm>
            <a:off x="777240" y="2002536"/>
            <a:ext cx="32004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02</a:t>
            </a:r>
            <a:endParaRPr lang="en-US" sz="1400" dirty="0"/>
          </a:p>
        </p:txBody>
      </p:sp>
      <p:sp>
        <p:nvSpPr>
          <p:cNvPr id="11" name="Text 9"/>
          <p:cNvSpPr/>
          <p:nvPr/>
        </p:nvSpPr>
        <p:spPr>
          <a:xfrm>
            <a:off x="1325880" y="1920240"/>
            <a:ext cx="9966960" cy="548640"/>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Ảnh chụp lệnh xem dữ liệu trên HDFS: hadoop fs -ls và hadoop fs -head hoặc -cat.</a:t>
            </a:r>
            <a:endParaRPr lang="en-US" sz="1400" dirty="0"/>
          </a:p>
        </p:txBody>
      </p:sp>
      <p:sp>
        <p:nvSpPr>
          <p:cNvPr id="12" name="Shape 10"/>
          <p:cNvSpPr/>
          <p:nvPr/>
        </p:nvSpPr>
        <p:spPr>
          <a:xfrm>
            <a:off x="685800" y="2816352"/>
            <a:ext cx="502920" cy="384048"/>
          </a:xfrm>
          <a:prstGeom prst="roundRect">
            <a:avLst>
              <a:gd name="adj" fmla="val 11905"/>
            </a:avLst>
          </a:prstGeom>
          <a:solidFill>
            <a:srgbClr val="222A68"/>
          </a:solidFill>
          <a:ln w="12700">
            <a:solidFill>
              <a:srgbClr val="222A68"/>
            </a:solidFill>
            <a:prstDash val="solid"/>
          </a:ln>
        </p:spPr>
      </p:sp>
      <p:sp>
        <p:nvSpPr>
          <p:cNvPr id="13" name="Text 11"/>
          <p:cNvSpPr/>
          <p:nvPr/>
        </p:nvSpPr>
        <p:spPr>
          <a:xfrm>
            <a:off x="777240" y="2871216"/>
            <a:ext cx="32004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03</a:t>
            </a:r>
            <a:endParaRPr lang="en-US" sz="1400" dirty="0"/>
          </a:p>
        </p:txBody>
      </p:sp>
      <p:sp>
        <p:nvSpPr>
          <p:cNvPr id="14" name="Text 12"/>
          <p:cNvSpPr/>
          <p:nvPr/>
        </p:nvSpPr>
        <p:spPr>
          <a:xfrm>
            <a:off x="1325880" y="2788920"/>
            <a:ext cx="9966960" cy="548640"/>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Kết quả MapReduce: file part-00000 có doanh thu theo category.</a:t>
            </a:r>
            <a:endParaRPr lang="en-US" sz="1400" dirty="0"/>
          </a:p>
        </p:txBody>
      </p:sp>
      <p:sp>
        <p:nvSpPr>
          <p:cNvPr id="15" name="Shape 13"/>
          <p:cNvSpPr/>
          <p:nvPr/>
        </p:nvSpPr>
        <p:spPr>
          <a:xfrm>
            <a:off x="685800" y="3685032"/>
            <a:ext cx="502920" cy="384048"/>
          </a:xfrm>
          <a:prstGeom prst="roundRect">
            <a:avLst>
              <a:gd name="adj" fmla="val 11905"/>
            </a:avLst>
          </a:prstGeom>
          <a:solidFill>
            <a:srgbClr val="D83A6C"/>
          </a:solidFill>
          <a:ln w="12700">
            <a:solidFill>
              <a:srgbClr val="D83A6C"/>
            </a:solidFill>
            <a:prstDash val="solid"/>
          </a:ln>
        </p:spPr>
      </p:sp>
      <p:sp>
        <p:nvSpPr>
          <p:cNvPr id="16" name="Text 14"/>
          <p:cNvSpPr/>
          <p:nvPr/>
        </p:nvSpPr>
        <p:spPr>
          <a:xfrm>
            <a:off x="777240" y="3739896"/>
            <a:ext cx="32004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04</a:t>
            </a:r>
            <a:endParaRPr lang="en-US" sz="1400" dirty="0"/>
          </a:p>
        </p:txBody>
      </p:sp>
      <p:sp>
        <p:nvSpPr>
          <p:cNvPr id="17" name="Text 15"/>
          <p:cNvSpPr/>
          <p:nvPr/>
        </p:nvSpPr>
        <p:spPr>
          <a:xfrm>
            <a:off x="1325880" y="3657600"/>
            <a:ext cx="9966960" cy="548640"/>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Bảng báo cáo 3 nhóm sản phẩm có doanh thu cao nhất và nhận xét ngắn 5–7 dòng.</a:t>
            </a:r>
            <a:endParaRPr lang="en-US" sz="1400" dirty="0"/>
          </a:p>
        </p:txBody>
      </p:sp>
      <p:sp>
        <p:nvSpPr>
          <p:cNvPr id="18" name="Shape 16"/>
          <p:cNvSpPr/>
          <p:nvPr/>
        </p:nvSpPr>
        <p:spPr>
          <a:xfrm>
            <a:off x="685800" y="4553712"/>
            <a:ext cx="502920" cy="384048"/>
          </a:xfrm>
          <a:prstGeom prst="roundRect">
            <a:avLst>
              <a:gd name="adj" fmla="val 11905"/>
            </a:avLst>
          </a:prstGeom>
          <a:solidFill>
            <a:srgbClr val="222A68"/>
          </a:solidFill>
          <a:ln w="12700">
            <a:solidFill>
              <a:srgbClr val="222A68"/>
            </a:solidFill>
            <a:prstDash val="solid"/>
          </a:ln>
        </p:spPr>
      </p:sp>
      <p:sp>
        <p:nvSpPr>
          <p:cNvPr id="19" name="Text 17"/>
          <p:cNvSpPr/>
          <p:nvPr/>
        </p:nvSpPr>
        <p:spPr>
          <a:xfrm>
            <a:off x="777240" y="4608576"/>
            <a:ext cx="320040" cy="292608"/>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05</a:t>
            </a:r>
            <a:endParaRPr lang="en-US" sz="1400" dirty="0"/>
          </a:p>
        </p:txBody>
      </p:sp>
      <p:sp>
        <p:nvSpPr>
          <p:cNvPr id="20" name="Text 18"/>
          <p:cNvSpPr/>
          <p:nvPr/>
        </p:nvSpPr>
        <p:spPr>
          <a:xfrm>
            <a:off x="1325880" y="4526280"/>
            <a:ext cx="9966960" cy="548640"/>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Mô tả ngắn: Mapper phát sinh key–value gì, Reducer tổng hợp gì.</a:t>
            </a:r>
            <a:endParaRPr lang="en-US" sz="1400" dirty="0"/>
          </a:p>
        </p:txBody>
      </p:sp>
      <p:sp>
        <p:nvSpPr>
          <p:cNvPr id="21" name="Text 19"/>
          <p:cNvSpPr/>
          <p:nvPr/>
        </p:nvSpPr>
        <p:spPr>
          <a:xfrm>
            <a:off x="685800" y="5623560"/>
            <a:ext cx="10652760" cy="594360"/>
          </a:xfrm>
          <a:prstGeom prst="rect">
            <a:avLst/>
          </a:prstGeom>
          <a:noFill/>
          <a:ln/>
        </p:spPr>
        <p:txBody>
          <a:bodyPr wrap="square" lIns="762" tIns="762" rIns="762" bIns="762" rtlCol="0" anchor="t">
            <a:normAutofit/>
          </a:bodyPr>
          <a:lstStyle/>
          <a:p>
            <a:pPr marL="0" indent="0" algn="just">
              <a:buNone/>
            </a:pPr>
            <a:r>
              <a:rPr lang="en-US" sz="1400" b="1" dirty="0">
                <a:solidFill>
                  <a:srgbClr val="222A68"/>
                </a:solidFill>
                <a:latin typeface="Times New Roman" pitchFamily="34" charset="0"/>
                <a:ea typeface="Times New Roman" pitchFamily="34" charset="-122"/>
                <a:cs typeface="Times New Roman" pitchFamily="34" charset="-120"/>
              </a:rPr>
              <a:t>Quy ước đặt tên thư mục nộp bài: MSSV_HoTen_HadoopLab. Bài nộp có thể là PDF ngắn hoặc file nén gồm ảnh chụp màn hình, file kết quả và nhận xét.</a:t>
            </a:r>
            <a:endParaRPr lang="en-US" sz="1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222A68"/>
          </a:solidFill>
          <a:ln w="12700">
            <a:solidFill>
              <a:srgbClr val="222A68"/>
            </a:solidFill>
            <a:prstDash val="solid"/>
          </a:ln>
        </p:spPr>
      </p:sp>
      <p:sp>
        <p:nvSpPr>
          <p:cNvPr id="3" name="Text 1"/>
          <p:cNvSpPr/>
          <p:nvPr/>
        </p:nvSpPr>
        <p:spPr>
          <a:xfrm>
            <a:off x="438912" y="310896"/>
            <a:ext cx="10424160" cy="475488"/>
          </a:xfrm>
          <a:prstGeom prst="rect">
            <a:avLst/>
          </a:prstGeom>
          <a:noFill/>
          <a:ln/>
        </p:spPr>
        <p:txBody>
          <a:bodyPr wrap="square" lIns="0" tIns="0" rIns="0" bIns="0" rtlCol="0" anchor="ctr"/>
          <a:lstStyle/>
          <a:p>
            <a:pPr marL="0" indent="0">
              <a:buNone/>
            </a:pPr>
            <a:r>
              <a:rPr lang="en-US" sz="2200" b="1" dirty="0">
                <a:solidFill>
                  <a:srgbClr val="222A68"/>
                </a:solidFill>
                <a:latin typeface="Times New Roman" pitchFamily="34" charset="0"/>
                <a:ea typeface="Times New Roman" pitchFamily="34" charset="-122"/>
                <a:cs typeface="Times New Roman" pitchFamily="34" charset="-120"/>
              </a:rPr>
              <a:t>4. Môi trường online miễn phí đề xuất</a:t>
            </a:r>
            <a:endParaRPr lang="en-US" sz="2200" dirty="0"/>
          </a:p>
        </p:txBody>
      </p:sp>
      <p:sp>
        <p:nvSpPr>
          <p:cNvPr id="4" name="Shape 2"/>
          <p:cNvSpPr/>
          <p:nvPr/>
        </p:nvSpPr>
        <p:spPr>
          <a:xfrm>
            <a:off x="438912" y="868680"/>
            <a:ext cx="11292840" cy="0"/>
          </a:xfrm>
          <a:prstGeom prst="line">
            <a:avLst/>
          </a:prstGeom>
          <a:noFill/>
          <a:ln w="15240">
            <a:solidFill>
              <a:srgbClr val="D83A6C"/>
            </a:solidFill>
            <a:prstDash val="solid"/>
          </a:ln>
        </p:spPr>
      </p:sp>
      <p:sp>
        <p:nvSpPr>
          <p:cNvPr id="5" name="Text 3"/>
          <p:cNvSpPr/>
          <p:nvPr/>
        </p:nvSpPr>
        <p:spPr>
          <a:xfrm>
            <a:off x="11475720" y="6446520"/>
            <a:ext cx="320040" cy="201168"/>
          </a:xfrm>
          <a:prstGeom prst="rect">
            <a:avLst/>
          </a:prstGeom>
          <a:noFill/>
          <a:ln/>
        </p:spPr>
        <p:txBody>
          <a:bodyPr wrap="square" lIns="0" tIns="0" rIns="0" bIns="0" rtlCol="0" anchor="ctr"/>
          <a:lstStyle/>
          <a:p>
            <a:pPr marL="0" indent="0" algn="ctr">
              <a:buNone/>
            </a:pPr>
            <a:r>
              <a:rPr lang="en-US" sz="900" dirty="0">
                <a:solidFill>
                  <a:srgbClr val="666666"/>
                </a:solidFill>
                <a:latin typeface="Times New Roman" pitchFamily="34" charset="0"/>
                <a:ea typeface="Times New Roman" pitchFamily="34" charset="-122"/>
                <a:cs typeface="Times New Roman" pitchFamily="34" charset="-120"/>
              </a:rPr>
              <a:t>5</a:t>
            </a:r>
            <a:endParaRPr lang="en-US" sz="900" dirty="0"/>
          </a:p>
        </p:txBody>
      </p:sp>
      <p:sp>
        <p:nvSpPr>
          <p:cNvPr id="6" name="Shape 4"/>
          <p:cNvSpPr/>
          <p:nvPr/>
        </p:nvSpPr>
        <p:spPr>
          <a:xfrm>
            <a:off x="594360" y="1143000"/>
            <a:ext cx="5394960" cy="1554480"/>
          </a:xfrm>
          <a:prstGeom prst="roundRect">
            <a:avLst>
              <a:gd name="adj" fmla="val 3529"/>
            </a:avLst>
          </a:prstGeom>
          <a:solidFill>
            <a:srgbClr val="FFFFFF"/>
          </a:solidFill>
          <a:ln w="13970">
            <a:solidFill>
              <a:srgbClr val="222A68"/>
            </a:solidFill>
            <a:prstDash val="solid"/>
          </a:ln>
        </p:spPr>
      </p:sp>
      <p:sp>
        <p:nvSpPr>
          <p:cNvPr id="7" name="Text 5"/>
          <p:cNvSpPr/>
          <p:nvPr/>
        </p:nvSpPr>
        <p:spPr>
          <a:xfrm>
            <a:off x="731520" y="1261872"/>
            <a:ext cx="5120640" cy="256032"/>
          </a:xfrm>
          <a:prstGeom prst="rect">
            <a:avLst/>
          </a:prstGeom>
          <a:noFill/>
          <a:ln/>
        </p:spPr>
        <p:txBody>
          <a:bodyPr wrap="square" lIns="0" tIns="0" rIns="0" bIns="0" rtlCol="0" anchor="ctr"/>
          <a:lstStyle/>
          <a:p>
            <a:pPr marL="0" indent="0">
              <a:buNone/>
            </a:pPr>
            <a:r>
              <a:rPr lang="en-US" sz="1500" b="1" dirty="0">
                <a:solidFill>
                  <a:srgbClr val="222A68"/>
                </a:solidFill>
                <a:latin typeface="Times New Roman" pitchFamily="34" charset="0"/>
                <a:ea typeface="Times New Roman" pitchFamily="34" charset="-122"/>
                <a:cs typeface="Times New Roman" pitchFamily="34" charset="-120"/>
              </a:rPr>
              <a:t>Lựa chọn chính: LabEx Hadoop Practice Labs</a:t>
            </a:r>
            <a:endParaRPr lang="en-US" sz="1500" dirty="0"/>
          </a:p>
        </p:txBody>
      </p:sp>
      <p:sp>
        <p:nvSpPr>
          <p:cNvPr id="8" name="Text 6"/>
          <p:cNvSpPr/>
          <p:nvPr/>
        </p:nvSpPr>
        <p:spPr>
          <a:xfrm>
            <a:off x="731520" y="1600200"/>
            <a:ext cx="5120640" cy="987552"/>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Đăng nhập bằng tài khoản miễn phí, mở một Hadoop Lab có terminal, HDFS và các lệnh Hadoop. Nếu không thấy nút upload file, dùng cách copy dữ liệu bằng lệnh cat &gt; file hoặc wget từ nơi giảng viên cung cấp.</a:t>
            </a:r>
            <a:endParaRPr lang="en-US" sz="1400" dirty="0"/>
          </a:p>
        </p:txBody>
      </p:sp>
      <p:sp>
        <p:nvSpPr>
          <p:cNvPr id="9" name="Shape 7"/>
          <p:cNvSpPr/>
          <p:nvPr/>
        </p:nvSpPr>
        <p:spPr>
          <a:xfrm>
            <a:off x="594360" y="2926080"/>
            <a:ext cx="5394960" cy="1143000"/>
          </a:xfrm>
          <a:prstGeom prst="roundRect">
            <a:avLst>
              <a:gd name="adj" fmla="val 4800"/>
            </a:avLst>
          </a:prstGeom>
          <a:solidFill>
            <a:srgbClr val="FFFFFF"/>
          </a:solidFill>
          <a:ln w="13970">
            <a:solidFill>
              <a:srgbClr val="D83A6C"/>
            </a:solidFill>
            <a:prstDash val="solid"/>
          </a:ln>
        </p:spPr>
      </p:sp>
      <p:sp>
        <p:nvSpPr>
          <p:cNvPr id="10" name="Text 8"/>
          <p:cNvSpPr/>
          <p:nvPr/>
        </p:nvSpPr>
        <p:spPr>
          <a:xfrm>
            <a:off x="731520" y="3044952"/>
            <a:ext cx="5120640" cy="256032"/>
          </a:xfrm>
          <a:prstGeom prst="rect">
            <a:avLst/>
          </a:prstGeom>
          <a:noFill/>
          <a:ln/>
        </p:spPr>
        <p:txBody>
          <a:bodyPr wrap="square" lIns="0" tIns="0" rIns="0" bIns="0" rtlCol="0" anchor="ctr"/>
          <a:lstStyle/>
          <a:p>
            <a:pPr marL="0" indent="0">
              <a:buNone/>
            </a:pPr>
            <a:r>
              <a:rPr lang="en-US" sz="1500" b="1" dirty="0">
                <a:solidFill>
                  <a:srgbClr val="D83A6C"/>
                </a:solidFill>
                <a:latin typeface="Times New Roman" pitchFamily="34" charset="0"/>
                <a:ea typeface="Times New Roman" pitchFamily="34" charset="-122"/>
                <a:cs typeface="Times New Roman" pitchFamily="34" charset="-120"/>
              </a:rPr>
              <a:t>Lựa chọn thay thế</a:t>
            </a:r>
            <a:endParaRPr lang="en-US" sz="1500" dirty="0"/>
          </a:p>
        </p:txBody>
      </p:sp>
      <p:sp>
        <p:nvSpPr>
          <p:cNvPr id="11" name="Text 9"/>
          <p:cNvSpPr/>
          <p:nvPr/>
        </p:nvSpPr>
        <p:spPr>
          <a:xfrm>
            <a:off x="731520" y="3383280"/>
            <a:ext cx="5120640" cy="576072"/>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Một môi trường online khác có Hadoop terminal cũng dùng được, miễn có các lệnh: hadoop fs, hadoop jar hoặc hadoop streaming.</a:t>
            </a:r>
            <a:endParaRPr lang="en-US" sz="1400" dirty="0"/>
          </a:p>
        </p:txBody>
      </p:sp>
      <p:sp>
        <p:nvSpPr>
          <p:cNvPr id="12" name="Shape 10"/>
          <p:cNvSpPr/>
          <p:nvPr/>
        </p:nvSpPr>
        <p:spPr>
          <a:xfrm>
            <a:off x="6400800" y="1143000"/>
            <a:ext cx="5029200" cy="1645920"/>
          </a:xfrm>
          <a:prstGeom prst="roundRect">
            <a:avLst>
              <a:gd name="adj" fmla="val 1667"/>
            </a:avLst>
          </a:prstGeom>
          <a:solidFill>
            <a:srgbClr val="111827"/>
          </a:solidFill>
          <a:ln w="12700">
            <a:solidFill>
              <a:srgbClr val="111827"/>
            </a:solidFill>
            <a:prstDash val="solid"/>
          </a:ln>
        </p:spPr>
      </p:sp>
      <p:sp>
        <p:nvSpPr>
          <p:cNvPr id="13" name="Text 11"/>
          <p:cNvSpPr/>
          <p:nvPr/>
        </p:nvSpPr>
        <p:spPr>
          <a:xfrm>
            <a:off x="6510528" y="1252728"/>
            <a:ext cx="4809744" cy="1426464"/>
          </a:xfrm>
          <a:prstGeom prst="rect">
            <a:avLst/>
          </a:prstGeom>
          <a:noFill/>
          <a:ln/>
        </p:spPr>
        <p:txBody>
          <a:bodyPr wrap="square" lIns="254" tIns="254" rIns="254" bIns="254" rtlCol="0" anchor="ctr">
            <a:normAutofit/>
          </a:bodyPr>
          <a:lstStyle/>
          <a:p>
            <a:pPr marL="0" indent="0">
              <a:buNone/>
            </a:pPr>
            <a:r>
              <a:rPr lang="en-US" sz="1040" dirty="0">
                <a:solidFill>
                  <a:srgbClr val="FFFFFF"/>
                </a:solidFill>
                <a:latin typeface="Courier New" pitchFamily="34" charset="0"/>
                <a:ea typeface="Courier New" pitchFamily="34" charset="-122"/>
                <a:cs typeface="Courier New" pitchFamily="34" charset="-120"/>
              </a:rPr>
              <a:t>Kiểm tra nhanh môi trường:</a:t>
            </a:r>
            <a:endParaRPr lang="en-US" sz="1040" dirty="0"/>
          </a:p>
          <a:p>
            <a:pPr marL="0" indent="0">
              <a:buNone/>
            </a:pP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hadoop version</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hadoop fs -ls /</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python3 --version</a:t>
            </a:r>
            <a:endParaRPr lang="en-US" sz="1040" dirty="0"/>
          </a:p>
        </p:txBody>
      </p:sp>
      <p:sp>
        <p:nvSpPr>
          <p:cNvPr id="14" name="Text 12"/>
          <p:cNvSpPr/>
          <p:nvPr/>
        </p:nvSpPr>
        <p:spPr>
          <a:xfrm>
            <a:off x="6400800" y="3246120"/>
            <a:ext cx="4983480" cy="1051560"/>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Lưu ý: bài thực hành thiết kế để chạy trên trình duyệt. Sinh viên không bắt buộc cài Hadoop tại máy cá nhân. Trường hợp nền tảng online thay đổi giao diện, chỉ cần giữ đúng logic lệnh trong bài.</a:t>
            </a:r>
            <a:endParaRPr lang="en-US" sz="1400" dirty="0"/>
          </a:p>
        </p:txBody>
      </p:sp>
      <p:sp>
        <p:nvSpPr>
          <p:cNvPr id="15" name="Text 13"/>
          <p:cNvSpPr/>
          <p:nvPr/>
        </p:nvSpPr>
        <p:spPr>
          <a:xfrm>
            <a:off x="640080" y="6080760"/>
            <a:ext cx="10789920" cy="228600"/>
          </a:xfrm>
          <a:prstGeom prst="rect">
            <a:avLst/>
          </a:prstGeom>
          <a:noFill/>
          <a:ln/>
        </p:spPr>
        <p:txBody>
          <a:bodyPr wrap="square" lIns="0" tIns="0" rIns="0" bIns="0" rtlCol="0" anchor="ctr"/>
          <a:lstStyle/>
          <a:p>
            <a:pPr marL="0" indent="0">
              <a:buNone/>
            </a:pPr>
            <a:r>
              <a:rPr lang="en-US" sz="1050" dirty="0">
                <a:solidFill>
                  <a:srgbClr val="666666"/>
                </a:solidFill>
                <a:latin typeface="Times New Roman" pitchFamily="34" charset="0"/>
                <a:ea typeface="Times New Roman" pitchFamily="34" charset="-122"/>
                <a:cs typeface="Times New Roman" pitchFamily="34" charset="-120"/>
              </a:rPr>
              <a:t>Nguồn tham khảo nền tảng: LabEx Hadoop Tutorials/Practice Labs; Apache Hadoop Project.</a:t>
            </a:r>
            <a:endParaRPr lang="en-US" sz="105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222A68"/>
          </a:solidFill>
          <a:ln w="12700">
            <a:solidFill>
              <a:srgbClr val="222A68"/>
            </a:solidFill>
            <a:prstDash val="solid"/>
          </a:ln>
        </p:spPr>
      </p:sp>
      <p:sp>
        <p:nvSpPr>
          <p:cNvPr id="3" name="Text 1"/>
          <p:cNvSpPr/>
          <p:nvPr/>
        </p:nvSpPr>
        <p:spPr>
          <a:xfrm>
            <a:off x="438912" y="310896"/>
            <a:ext cx="10424160" cy="475488"/>
          </a:xfrm>
          <a:prstGeom prst="rect">
            <a:avLst/>
          </a:prstGeom>
          <a:noFill/>
          <a:ln/>
        </p:spPr>
        <p:txBody>
          <a:bodyPr wrap="square" lIns="0" tIns="0" rIns="0" bIns="0" rtlCol="0" anchor="ctr"/>
          <a:lstStyle/>
          <a:p>
            <a:pPr marL="0" indent="0">
              <a:buNone/>
            </a:pPr>
            <a:r>
              <a:rPr lang="en-US" sz="2200" b="1" dirty="0">
                <a:solidFill>
                  <a:srgbClr val="222A68"/>
                </a:solidFill>
                <a:latin typeface="Times New Roman" pitchFamily="34" charset="0"/>
                <a:ea typeface="Times New Roman" pitchFamily="34" charset="-122"/>
                <a:cs typeface="Times New Roman" pitchFamily="34" charset="-120"/>
              </a:rPr>
              <a:t>5. Bộ dữ liệu mẫu và cấu trúc file</a:t>
            </a:r>
            <a:endParaRPr lang="en-US" sz="2200" dirty="0"/>
          </a:p>
        </p:txBody>
      </p:sp>
      <p:sp>
        <p:nvSpPr>
          <p:cNvPr id="4" name="Shape 2"/>
          <p:cNvSpPr/>
          <p:nvPr/>
        </p:nvSpPr>
        <p:spPr>
          <a:xfrm>
            <a:off x="438912" y="868680"/>
            <a:ext cx="11292840" cy="0"/>
          </a:xfrm>
          <a:prstGeom prst="line">
            <a:avLst/>
          </a:prstGeom>
          <a:noFill/>
          <a:ln w="15240">
            <a:solidFill>
              <a:srgbClr val="D83A6C"/>
            </a:solidFill>
            <a:prstDash val="solid"/>
          </a:ln>
        </p:spPr>
      </p:sp>
      <p:sp>
        <p:nvSpPr>
          <p:cNvPr id="5" name="Text 3"/>
          <p:cNvSpPr/>
          <p:nvPr/>
        </p:nvSpPr>
        <p:spPr>
          <a:xfrm>
            <a:off x="11475720" y="6446520"/>
            <a:ext cx="320040" cy="201168"/>
          </a:xfrm>
          <a:prstGeom prst="rect">
            <a:avLst/>
          </a:prstGeom>
          <a:noFill/>
          <a:ln/>
        </p:spPr>
        <p:txBody>
          <a:bodyPr wrap="square" lIns="0" tIns="0" rIns="0" bIns="0" rtlCol="0" anchor="ctr"/>
          <a:lstStyle/>
          <a:p>
            <a:pPr marL="0" indent="0" algn="ctr">
              <a:buNone/>
            </a:pPr>
            <a:r>
              <a:rPr lang="en-US" sz="900" dirty="0">
                <a:solidFill>
                  <a:srgbClr val="666666"/>
                </a:solidFill>
                <a:latin typeface="Times New Roman" pitchFamily="34" charset="0"/>
                <a:ea typeface="Times New Roman" pitchFamily="34" charset="-122"/>
                <a:cs typeface="Times New Roman" pitchFamily="34" charset="-120"/>
              </a:rPr>
              <a:t>6</a:t>
            </a:r>
            <a:endParaRPr lang="en-US" sz="900" dirty="0"/>
          </a:p>
        </p:txBody>
      </p:sp>
      <p:sp>
        <p:nvSpPr>
          <p:cNvPr id="6" name="Text 4"/>
          <p:cNvSpPr/>
          <p:nvPr/>
        </p:nvSpPr>
        <p:spPr>
          <a:xfrm>
            <a:off x="640080" y="1078992"/>
            <a:ext cx="5577840" cy="914400"/>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File dữ liệu mẫu: orders_2026_09.csv. Mỗi dòng là một giao dịch đơn hàng với các trường: transaction_id, order_date, order_time, province, category, channel, quantity, unit_price, amount, status, shipping_days.</a:t>
            </a:r>
            <a:endParaRPr lang="en-US" sz="1400" dirty="0"/>
          </a:p>
        </p:txBody>
      </p:sp>
      <p:sp>
        <p:nvSpPr>
          <p:cNvPr id="7" name="Shape 5"/>
          <p:cNvSpPr/>
          <p:nvPr/>
        </p:nvSpPr>
        <p:spPr>
          <a:xfrm>
            <a:off x="685800" y="2240280"/>
            <a:ext cx="1213517" cy="292608"/>
          </a:xfrm>
          <a:prstGeom prst="rect">
            <a:avLst/>
          </a:prstGeom>
          <a:solidFill>
            <a:srgbClr val="222A68"/>
          </a:solidFill>
          <a:ln w="6350">
            <a:solidFill>
              <a:srgbClr val="AAB2C8"/>
            </a:solidFill>
            <a:prstDash val="solid"/>
          </a:ln>
        </p:spPr>
      </p:sp>
      <p:sp>
        <p:nvSpPr>
          <p:cNvPr id="8" name="Text 6"/>
          <p:cNvSpPr/>
          <p:nvPr/>
        </p:nvSpPr>
        <p:spPr>
          <a:xfrm>
            <a:off x="704088" y="2304288"/>
            <a:ext cx="1176941" cy="146304"/>
          </a:xfrm>
          <a:prstGeom prst="rect">
            <a:avLst/>
          </a:prstGeom>
          <a:noFill/>
          <a:ln/>
        </p:spPr>
        <p:txBody>
          <a:bodyPr wrap="square" lIns="0" tIns="0" rIns="0" bIns="0" rtlCol="0" anchor="ct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transaction_id</a:t>
            </a:r>
            <a:endParaRPr lang="en-US" sz="1050" dirty="0"/>
          </a:p>
        </p:txBody>
      </p:sp>
      <p:sp>
        <p:nvSpPr>
          <p:cNvPr id="9" name="Shape 7"/>
          <p:cNvSpPr/>
          <p:nvPr/>
        </p:nvSpPr>
        <p:spPr>
          <a:xfrm>
            <a:off x="1899317" y="2240280"/>
            <a:ext cx="1033737" cy="292608"/>
          </a:xfrm>
          <a:prstGeom prst="rect">
            <a:avLst/>
          </a:prstGeom>
          <a:solidFill>
            <a:srgbClr val="222A68"/>
          </a:solidFill>
          <a:ln w="6350">
            <a:solidFill>
              <a:srgbClr val="AAB2C8"/>
            </a:solidFill>
            <a:prstDash val="solid"/>
          </a:ln>
        </p:spPr>
      </p:sp>
      <p:sp>
        <p:nvSpPr>
          <p:cNvPr id="10" name="Text 8"/>
          <p:cNvSpPr/>
          <p:nvPr/>
        </p:nvSpPr>
        <p:spPr>
          <a:xfrm>
            <a:off x="1917605" y="2304288"/>
            <a:ext cx="997161" cy="146304"/>
          </a:xfrm>
          <a:prstGeom prst="rect">
            <a:avLst/>
          </a:prstGeom>
          <a:noFill/>
          <a:ln/>
        </p:spPr>
        <p:txBody>
          <a:bodyPr wrap="square" lIns="0" tIns="0" rIns="0" bIns="0" rtlCol="0" anchor="ct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province</a:t>
            </a:r>
            <a:endParaRPr lang="en-US" sz="1050" dirty="0"/>
          </a:p>
        </p:txBody>
      </p:sp>
      <p:sp>
        <p:nvSpPr>
          <p:cNvPr id="11" name="Shape 9"/>
          <p:cNvSpPr/>
          <p:nvPr/>
        </p:nvSpPr>
        <p:spPr>
          <a:xfrm>
            <a:off x="2933054" y="2240280"/>
            <a:ext cx="1123627" cy="292608"/>
          </a:xfrm>
          <a:prstGeom prst="rect">
            <a:avLst/>
          </a:prstGeom>
          <a:solidFill>
            <a:srgbClr val="222A68"/>
          </a:solidFill>
          <a:ln w="6350">
            <a:solidFill>
              <a:srgbClr val="AAB2C8"/>
            </a:solidFill>
            <a:prstDash val="solid"/>
          </a:ln>
        </p:spPr>
      </p:sp>
      <p:sp>
        <p:nvSpPr>
          <p:cNvPr id="12" name="Text 10"/>
          <p:cNvSpPr/>
          <p:nvPr/>
        </p:nvSpPr>
        <p:spPr>
          <a:xfrm>
            <a:off x="2951342" y="2304288"/>
            <a:ext cx="1087051" cy="146304"/>
          </a:xfrm>
          <a:prstGeom prst="rect">
            <a:avLst/>
          </a:prstGeom>
          <a:noFill/>
          <a:ln/>
        </p:spPr>
        <p:txBody>
          <a:bodyPr wrap="square" lIns="0" tIns="0" rIns="0" bIns="0" rtlCol="0" anchor="ct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category</a:t>
            </a:r>
            <a:endParaRPr lang="en-US" sz="1050" dirty="0"/>
          </a:p>
        </p:txBody>
      </p:sp>
      <p:sp>
        <p:nvSpPr>
          <p:cNvPr id="13" name="Shape 11"/>
          <p:cNvSpPr/>
          <p:nvPr/>
        </p:nvSpPr>
        <p:spPr>
          <a:xfrm>
            <a:off x="4056681" y="2240280"/>
            <a:ext cx="1078682" cy="292608"/>
          </a:xfrm>
          <a:prstGeom prst="rect">
            <a:avLst/>
          </a:prstGeom>
          <a:solidFill>
            <a:srgbClr val="222A68"/>
          </a:solidFill>
          <a:ln w="6350">
            <a:solidFill>
              <a:srgbClr val="AAB2C8"/>
            </a:solidFill>
            <a:prstDash val="solid"/>
          </a:ln>
        </p:spPr>
      </p:sp>
      <p:sp>
        <p:nvSpPr>
          <p:cNvPr id="14" name="Text 12"/>
          <p:cNvSpPr/>
          <p:nvPr/>
        </p:nvSpPr>
        <p:spPr>
          <a:xfrm>
            <a:off x="4074969" y="2304288"/>
            <a:ext cx="1042106" cy="146304"/>
          </a:xfrm>
          <a:prstGeom prst="rect">
            <a:avLst/>
          </a:prstGeom>
          <a:noFill/>
          <a:ln/>
        </p:spPr>
        <p:txBody>
          <a:bodyPr wrap="square" lIns="0" tIns="0" rIns="0" bIns="0" rtlCol="0" anchor="ct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amount</a:t>
            </a:r>
            <a:endParaRPr lang="en-US" sz="1050" dirty="0"/>
          </a:p>
        </p:txBody>
      </p:sp>
      <p:sp>
        <p:nvSpPr>
          <p:cNvPr id="15" name="Shape 13"/>
          <p:cNvSpPr/>
          <p:nvPr/>
        </p:nvSpPr>
        <p:spPr>
          <a:xfrm>
            <a:off x="5135363" y="2240280"/>
            <a:ext cx="898902" cy="292608"/>
          </a:xfrm>
          <a:prstGeom prst="rect">
            <a:avLst/>
          </a:prstGeom>
          <a:solidFill>
            <a:srgbClr val="222A68"/>
          </a:solidFill>
          <a:ln w="6350">
            <a:solidFill>
              <a:srgbClr val="AAB2C8"/>
            </a:solidFill>
            <a:prstDash val="solid"/>
          </a:ln>
        </p:spPr>
      </p:sp>
      <p:sp>
        <p:nvSpPr>
          <p:cNvPr id="16" name="Text 14"/>
          <p:cNvSpPr/>
          <p:nvPr/>
        </p:nvSpPr>
        <p:spPr>
          <a:xfrm>
            <a:off x="5153651" y="2304288"/>
            <a:ext cx="862326" cy="146304"/>
          </a:xfrm>
          <a:prstGeom prst="rect">
            <a:avLst/>
          </a:prstGeom>
          <a:noFill/>
          <a:ln/>
        </p:spPr>
        <p:txBody>
          <a:bodyPr wrap="square" lIns="0" tIns="0" rIns="0" bIns="0" rtlCol="0" anchor="ct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status</a:t>
            </a:r>
            <a:endParaRPr lang="en-US" sz="1050" dirty="0"/>
          </a:p>
        </p:txBody>
      </p:sp>
      <p:sp>
        <p:nvSpPr>
          <p:cNvPr id="17" name="Shape 15"/>
          <p:cNvSpPr/>
          <p:nvPr/>
        </p:nvSpPr>
        <p:spPr>
          <a:xfrm>
            <a:off x="685800" y="2532888"/>
            <a:ext cx="1213517" cy="292608"/>
          </a:xfrm>
          <a:prstGeom prst="rect">
            <a:avLst/>
          </a:prstGeom>
          <a:solidFill>
            <a:srgbClr val="FFFFFF"/>
          </a:solidFill>
          <a:ln w="6350">
            <a:solidFill>
              <a:srgbClr val="AAB2C8"/>
            </a:solidFill>
            <a:prstDash val="solid"/>
          </a:ln>
        </p:spPr>
      </p:sp>
      <p:sp>
        <p:nvSpPr>
          <p:cNvPr id="18" name="Text 16"/>
          <p:cNvSpPr/>
          <p:nvPr/>
        </p:nvSpPr>
        <p:spPr>
          <a:xfrm>
            <a:off x="704088" y="2596896"/>
            <a:ext cx="1176941"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TX000001</a:t>
            </a:r>
            <a:endParaRPr lang="en-US" sz="1050" dirty="0"/>
          </a:p>
        </p:txBody>
      </p:sp>
      <p:sp>
        <p:nvSpPr>
          <p:cNvPr id="19" name="Shape 17"/>
          <p:cNvSpPr/>
          <p:nvPr/>
        </p:nvSpPr>
        <p:spPr>
          <a:xfrm>
            <a:off x="1899317" y="2532888"/>
            <a:ext cx="1033737" cy="292608"/>
          </a:xfrm>
          <a:prstGeom prst="rect">
            <a:avLst/>
          </a:prstGeom>
          <a:solidFill>
            <a:srgbClr val="FFFFFF"/>
          </a:solidFill>
          <a:ln w="6350">
            <a:solidFill>
              <a:srgbClr val="AAB2C8"/>
            </a:solidFill>
            <a:prstDash val="solid"/>
          </a:ln>
        </p:spPr>
      </p:sp>
      <p:sp>
        <p:nvSpPr>
          <p:cNvPr id="20" name="Text 18"/>
          <p:cNvSpPr/>
          <p:nvPr/>
        </p:nvSpPr>
        <p:spPr>
          <a:xfrm>
            <a:off x="1917605" y="2596896"/>
            <a:ext cx="997161"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Ha Noi</a:t>
            </a:r>
            <a:endParaRPr lang="en-US" sz="1050" dirty="0"/>
          </a:p>
        </p:txBody>
      </p:sp>
      <p:sp>
        <p:nvSpPr>
          <p:cNvPr id="21" name="Shape 19"/>
          <p:cNvSpPr/>
          <p:nvPr/>
        </p:nvSpPr>
        <p:spPr>
          <a:xfrm>
            <a:off x="2933054" y="2532888"/>
            <a:ext cx="1123627" cy="292608"/>
          </a:xfrm>
          <a:prstGeom prst="rect">
            <a:avLst/>
          </a:prstGeom>
          <a:solidFill>
            <a:srgbClr val="FFFFFF"/>
          </a:solidFill>
          <a:ln w="6350">
            <a:solidFill>
              <a:srgbClr val="AAB2C8"/>
            </a:solidFill>
            <a:prstDash val="solid"/>
          </a:ln>
        </p:spPr>
      </p:sp>
      <p:sp>
        <p:nvSpPr>
          <p:cNvPr id="22" name="Text 20"/>
          <p:cNvSpPr/>
          <p:nvPr/>
        </p:nvSpPr>
        <p:spPr>
          <a:xfrm>
            <a:off x="2951342" y="2596896"/>
            <a:ext cx="1087051"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Electronics</a:t>
            </a:r>
            <a:endParaRPr lang="en-US" sz="1050" dirty="0"/>
          </a:p>
        </p:txBody>
      </p:sp>
      <p:sp>
        <p:nvSpPr>
          <p:cNvPr id="23" name="Shape 21"/>
          <p:cNvSpPr/>
          <p:nvPr/>
        </p:nvSpPr>
        <p:spPr>
          <a:xfrm>
            <a:off x="4056681" y="2532888"/>
            <a:ext cx="1078682" cy="292608"/>
          </a:xfrm>
          <a:prstGeom prst="rect">
            <a:avLst/>
          </a:prstGeom>
          <a:solidFill>
            <a:srgbClr val="FFFFFF"/>
          </a:solidFill>
          <a:ln w="6350">
            <a:solidFill>
              <a:srgbClr val="AAB2C8"/>
            </a:solidFill>
            <a:prstDash val="solid"/>
          </a:ln>
        </p:spPr>
      </p:sp>
      <p:sp>
        <p:nvSpPr>
          <p:cNvPr id="24" name="Text 22"/>
          <p:cNvSpPr/>
          <p:nvPr/>
        </p:nvSpPr>
        <p:spPr>
          <a:xfrm>
            <a:off x="4074969" y="2596896"/>
            <a:ext cx="1042106"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3,400,000</a:t>
            </a:r>
            <a:endParaRPr lang="en-US" sz="1050" dirty="0"/>
          </a:p>
        </p:txBody>
      </p:sp>
      <p:sp>
        <p:nvSpPr>
          <p:cNvPr id="25" name="Shape 23"/>
          <p:cNvSpPr/>
          <p:nvPr/>
        </p:nvSpPr>
        <p:spPr>
          <a:xfrm>
            <a:off x="5135363" y="2532888"/>
            <a:ext cx="898902" cy="292608"/>
          </a:xfrm>
          <a:prstGeom prst="rect">
            <a:avLst/>
          </a:prstGeom>
          <a:solidFill>
            <a:srgbClr val="FFFFFF"/>
          </a:solidFill>
          <a:ln w="6350">
            <a:solidFill>
              <a:srgbClr val="AAB2C8"/>
            </a:solidFill>
            <a:prstDash val="solid"/>
          </a:ln>
        </p:spPr>
      </p:sp>
      <p:sp>
        <p:nvSpPr>
          <p:cNvPr id="26" name="Text 24"/>
          <p:cNvSpPr/>
          <p:nvPr/>
        </p:nvSpPr>
        <p:spPr>
          <a:xfrm>
            <a:off x="5153651" y="2596896"/>
            <a:ext cx="862326"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SUCCESS</a:t>
            </a:r>
            <a:endParaRPr lang="en-US" sz="1050" dirty="0"/>
          </a:p>
        </p:txBody>
      </p:sp>
      <p:sp>
        <p:nvSpPr>
          <p:cNvPr id="27" name="Shape 25"/>
          <p:cNvSpPr/>
          <p:nvPr/>
        </p:nvSpPr>
        <p:spPr>
          <a:xfrm>
            <a:off x="685800" y="2825496"/>
            <a:ext cx="1213517" cy="292608"/>
          </a:xfrm>
          <a:prstGeom prst="rect">
            <a:avLst/>
          </a:prstGeom>
          <a:solidFill>
            <a:srgbClr val="FFFFFF"/>
          </a:solidFill>
          <a:ln w="6350">
            <a:solidFill>
              <a:srgbClr val="AAB2C8"/>
            </a:solidFill>
            <a:prstDash val="solid"/>
          </a:ln>
        </p:spPr>
      </p:sp>
      <p:sp>
        <p:nvSpPr>
          <p:cNvPr id="28" name="Text 26"/>
          <p:cNvSpPr/>
          <p:nvPr/>
        </p:nvSpPr>
        <p:spPr>
          <a:xfrm>
            <a:off x="704088" y="2889504"/>
            <a:ext cx="1176941"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TX000002</a:t>
            </a:r>
            <a:endParaRPr lang="en-US" sz="1050" dirty="0"/>
          </a:p>
        </p:txBody>
      </p:sp>
      <p:sp>
        <p:nvSpPr>
          <p:cNvPr id="29" name="Shape 27"/>
          <p:cNvSpPr/>
          <p:nvPr/>
        </p:nvSpPr>
        <p:spPr>
          <a:xfrm>
            <a:off x="1899317" y="2825496"/>
            <a:ext cx="1033737" cy="292608"/>
          </a:xfrm>
          <a:prstGeom prst="rect">
            <a:avLst/>
          </a:prstGeom>
          <a:solidFill>
            <a:srgbClr val="FFFFFF"/>
          </a:solidFill>
          <a:ln w="6350">
            <a:solidFill>
              <a:srgbClr val="AAB2C8"/>
            </a:solidFill>
            <a:prstDash val="solid"/>
          </a:ln>
        </p:spPr>
      </p:sp>
      <p:sp>
        <p:nvSpPr>
          <p:cNvPr id="30" name="Text 28"/>
          <p:cNvSpPr/>
          <p:nvPr/>
        </p:nvSpPr>
        <p:spPr>
          <a:xfrm>
            <a:off x="1917605" y="2889504"/>
            <a:ext cx="997161"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Da Nang</a:t>
            </a:r>
            <a:endParaRPr lang="en-US" sz="1050" dirty="0"/>
          </a:p>
        </p:txBody>
      </p:sp>
      <p:sp>
        <p:nvSpPr>
          <p:cNvPr id="31" name="Shape 29"/>
          <p:cNvSpPr/>
          <p:nvPr/>
        </p:nvSpPr>
        <p:spPr>
          <a:xfrm>
            <a:off x="2933054" y="2825496"/>
            <a:ext cx="1123627" cy="292608"/>
          </a:xfrm>
          <a:prstGeom prst="rect">
            <a:avLst/>
          </a:prstGeom>
          <a:solidFill>
            <a:srgbClr val="FFFFFF"/>
          </a:solidFill>
          <a:ln w="6350">
            <a:solidFill>
              <a:srgbClr val="AAB2C8"/>
            </a:solidFill>
            <a:prstDash val="solid"/>
          </a:ln>
        </p:spPr>
      </p:sp>
      <p:sp>
        <p:nvSpPr>
          <p:cNvPr id="32" name="Text 30"/>
          <p:cNvSpPr/>
          <p:nvPr/>
        </p:nvSpPr>
        <p:spPr>
          <a:xfrm>
            <a:off x="2951342" y="2889504"/>
            <a:ext cx="1087051"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Fashion</a:t>
            </a:r>
            <a:endParaRPr lang="en-US" sz="1050" dirty="0"/>
          </a:p>
        </p:txBody>
      </p:sp>
      <p:sp>
        <p:nvSpPr>
          <p:cNvPr id="33" name="Shape 31"/>
          <p:cNvSpPr/>
          <p:nvPr/>
        </p:nvSpPr>
        <p:spPr>
          <a:xfrm>
            <a:off x="4056681" y="2825496"/>
            <a:ext cx="1078682" cy="292608"/>
          </a:xfrm>
          <a:prstGeom prst="rect">
            <a:avLst/>
          </a:prstGeom>
          <a:solidFill>
            <a:srgbClr val="FFFFFF"/>
          </a:solidFill>
          <a:ln w="6350">
            <a:solidFill>
              <a:srgbClr val="AAB2C8"/>
            </a:solidFill>
            <a:prstDash val="solid"/>
          </a:ln>
        </p:spPr>
      </p:sp>
      <p:sp>
        <p:nvSpPr>
          <p:cNvPr id="34" name="Text 32"/>
          <p:cNvSpPr/>
          <p:nvPr/>
        </p:nvSpPr>
        <p:spPr>
          <a:xfrm>
            <a:off x="4074969" y="2889504"/>
            <a:ext cx="1042106"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520,000</a:t>
            </a:r>
            <a:endParaRPr lang="en-US" sz="1050" dirty="0"/>
          </a:p>
        </p:txBody>
      </p:sp>
      <p:sp>
        <p:nvSpPr>
          <p:cNvPr id="35" name="Shape 33"/>
          <p:cNvSpPr/>
          <p:nvPr/>
        </p:nvSpPr>
        <p:spPr>
          <a:xfrm>
            <a:off x="5135363" y="2825496"/>
            <a:ext cx="898902" cy="292608"/>
          </a:xfrm>
          <a:prstGeom prst="rect">
            <a:avLst/>
          </a:prstGeom>
          <a:solidFill>
            <a:srgbClr val="FFFFFF"/>
          </a:solidFill>
          <a:ln w="6350">
            <a:solidFill>
              <a:srgbClr val="AAB2C8"/>
            </a:solidFill>
            <a:prstDash val="solid"/>
          </a:ln>
        </p:spPr>
      </p:sp>
      <p:sp>
        <p:nvSpPr>
          <p:cNvPr id="36" name="Text 34"/>
          <p:cNvSpPr/>
          <p:nvPr/>
        </p:nvSpPr>
        <p:spPr>
          <a:xfrm>
            <a:off x="5153651" y="2889504"/>
            <a:ext cx="862326"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SUCCESS</a:t>
            </a:r>
            <a:endParaRPr lang="en-US" sz="1050" dirty="0"/>
          </a:p>
        </p:txBody>
      </p:sp>
      <p:sp>
        <p:nvSpPr>
          <p:cNvPr id="37" name="Shape 35"/>
          <p:cNvSpPr/>
          <p:nvPr/>
        </p:nvSpPr>
        <p:spPr>
          <a:xfrm>
            <a:off x="685800" y="3118104"/>
            <a:ext cx="1213517" cy="292608"/>
          </a:xfrm>
          <a:prstGeom prst="rect">
            <a:avLst/>
          </a:prstGeom>
          <a:solidFill>
            <a:srgbClr val="FFFFFF"/>
          </a:solidFill>
          <a:ln w="6350">
            <a:solidFill>
              <a:srgbClr val="AAB2C8"/>
            </a:solidFill>
            <a:prstDash val="solid"/>
          </a:ln>
        </p:spPr>
      </p:sp>
      <p:sp>
        <p:nvSpPr>
          <p:cNvPr id="38" name="Text 36"/>
          <p:cNvSpPr/>
          <p:nvPr/>
        </p:nvSpPr>
        <p:spPr>
          <a:xfrm>
            <a:off x="704088" y="3182112"/>
            <a:ext cx="1176941"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TX000003</a:t>
            </a:r>
            <a:endParaRPr lang="en-US" sz="1050" dirty="0"/>
          </a:p>
        </p:txBody>
      </p:sp>
      <p:sp>
        <p:nvSpPr>
          <p:cNvPr id="39" name="Shape 37"/>
          <p:cNvSpPr/>
          <p:nvPr/>
        </p:nvSpPr>
        <p:spPr>
          <a:xfrm>
            <a:off x="1899317" y="3118104"/>
            <a:ext cx="1033737" cy="292608"/>
          </a:xfrm>
          <a:prstGeom prst="rect">
            <a:avLst/>
          </a:prstGeom>
          <a:solidFill>
            <a:srgbClr val="FFFFFF"/>
          </a:solidFill>
          <a:ln w="6350">
            <a:solidFill>
              <a:srgbClr val="AAB2C8"/>
            </a:solidFill>
            <a:prstDash val="solid"/>
          </a:ln>
        </p:spPr>
      </p:sp>
      <p:sp>
        <p:nvSpPr>
          <p:cNvPr id="40" name="Text 38"/>
          <p:cNvSpPr/>
          <p:nvPr/>
        </p:nvSpPr>
        <p:spPr>
          <a:xfrm>
            <a:off x="1917605" y="3182112"/>
            <a:ext cx="997161"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Can Tho</a:t>
            </a:r>
            <a:endParaRPr lang="en-US" sz="1050" dirty="0"/>
          </a:p>
        </p:txBody>
      </p:sp>
      <p:sp>
        <p:nvSpPr>
          <p:cNvPr id="41" name="Shape 39"/>
          <p:cNvSpPr/>
          <p:nvPr/>
        </p:nvSpPr>
        <p:spPr>
          <a:xfrm>
            <a:off x="2933054" y="3118104"/>
            <a:ext cx="1123627" cy="292608"/>
          </a:xfrm>
          <a:prstGeom prst="rect">
            <a:avLst/>
          </a:prstGeom>
          <a:solidFill>
            <a:srgbClr val="FFFFFF"/>
          </a:solidFill>
          <a:ln w="6350">
            <a:solidFill>
              <a:srgbClr val="AAB2C8"/>
            </a:solidFill>
            <a:prstDash val="solid"/>
          </a:ln>
        </p:spPr>
      </p:sp>
      <p:sp>
        <p:nvSpPr>
          <p:cNvPr id="42" name="Text 40"/>
          <p:cNvSpPr/>
          <p:nvPr/>
        </p:nvSpPr>
        <p:spPr>
          <a:xfrm>
            <a:off x="2951342" y="3182112"/>
            <a:ext cx="1087051"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Grocery</a:t>
            </a:r>
            <a:endParaRPr lang="en-US" sz="1050" dirty="0"/>
          </a:p>
        </p:txBody>
      </p:sp>
      <p:sp>
        <p:nvSpPr>
          <p:cNvPr id="43" name="Shape 41"/>
          <p:cNvSpPr/>
          <p:nvPr/>
        </p:nvSpPr>
        <p:spPr>
          <a:xfrm>
            <a:off x="4056681" y="3118104"/>
            <a:ext cx="1078682" cy="292608"/>
          </a:xfrm>
          <a:prstGeom prst="rect">
            <a:avLst/>
          </a:prstGeom>
          <a:solidFill>
            <a:srgbClr val="FFFFFF"/>
          </a:solidFill>
          <a:ln w="6350">
            <a:solidFill>
              <a:srgbClr val="AAB2C8"/>
            </a:solidFill>
            <a:prstDash val="solid"/>
          </a:ln>
        </p:spPr>
      </p:sp>
      <p:sp>
        <p:nvSpPr>
          <p:cNvPr id="44" name="Text 42"/>
          <p:cNvSpPr/>
          <p:nvPr/>
        </p:nvSpPr>
        <p:spPr>
          <a:xfrm>
            <a:off x="4074969" y="3182112"/>
            <a:ext cx="1042106"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180,000</a:t>
            </a:r>
            <a:endParaRPr lang="en-US" sz="1050" dirty="0"/>
          </a:p>
        </p:txBody>
      </p:sp>
      <p:sp>
        <p:nvSpPr>
          <p:cNvPr id="45" name="Shape 43"/>
          <p:cNvSpPr/>
          <p:nvPr/>
        </p:nvSpPr>
        <p:spPr>
          <a:xfrm>
            <a:off x="5135363" y="3118104"/>
            <a:ext cx="898902" cy="292608"/>
          </a:xfrm>
          <a:prstGeom prst="rect">
            <a:avLst/>
          </a:prstGeom>
          <a:solidFill>
            <a:srgbClr val="FFFFFF"/>
          </a:solidFill>
          <a:ln w="6350">
            <a:solidFill>
              <a:srgbClr val="AAB2C8"/>
            </a:solidFill>
            <a:prstDash val="solid"/>
          </a:ln>
        </p:spPr>
      </p:sp>
      <p:sp>
        <p:nvSpPr>
          <p:cNvPr id="46" name="Text 44"/>
          <p:cNvSpPr/>
          <p:nvPr/>
        </p:nvSpPr>
        <p:spPr>
          <a:xfrm>
            <a:off x="5153651" y="3182112"/>
            <a:ext cx="862326"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FAILED</a:t>
            </a:r>
            <a:endParaRPr lang="en-US" sz="1050" dirty="0"/>
          </a:p>
        </p:txBody>
      </p:sp>
      <p:sp>
        <p:nvSpPr>
          <p:cNvPr id="47" name="Shape 45"/>
          <p:cNvSpPr/>
          <p:nvPr/>
        </p:nvSpPr>
        <p:spPr>
          <a:xfrm>
            <a:off x="685800" y="3410712"/>
            <a:ext cx="1213517" cy="292608"/>
          </a:xfrm>
          <a:prstGeom prst="rect">
            <a:avLst/>
          </a:prstGeom>
          <a:solidFill>
            <a:srgbClr val="FFFFFF"/>
          </a:solidFill>
          <a:ln w="6350">
            <a:solidFill>
              <a:srgbClr val="AAB2C8"/>
            </a:solidFill>
            <a:prstDash val="solid"/>
          </a:ln>
        </p:spPr>
      </p:sp>
      <p:sp>
        <p:nvSpPr>
          <p:cNvPr id="48" name="Text 46"/>
          <p:cNvSpPr/>
          <p:nvPr/>
        </p:nvSpPr>
        <p:spPr>
          <a:xfrm>
            <a:off x="704088" y="3474720"/>
            <a:ext cx="1176941"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TX000004</a:t>
            </a:r>
            <a:endParaRPr lang="en-US" sz="1050" dirty="0"/>
          </a:p>
        </p:txBody>
      </p:sp>
      <p:sp>
        <p:nvSpPr>
          <p:cNvPr id="49" name="Shape 47"/>
          <p:cNvSpPr/>
          <p:nvPr/>
        </p:nvSpPr>
        <p:spPr>
          <a:xfrm>
            <a:off x="1899317" y="3410712"/>
            <a:ext cx="1033737" cy="292608"/>
          </a:xfrm>
          <a:prstGeom prst="rect">
            <a:avLst/>
          </a:prstGeom>
          <a:solidFill>
            <a:srgbClr val="FFFFFF"/>
          </a:solidFill>
          <a:ln w="6350">
            <a:solidFill>
              <a:srgbClr val="AAB2C8"/>
            </a:solidFill>
            <a:prstDash val="solid"/>
          </a:ln>
        </p:spPr>
      </p:sp>
      <p:sp>
        <p:nvSpPr>
          <p:cNvPr id="50" name="Text 48"/>
          <p:cNvSpPr/>
          <p:nvPr/>
        </p:nvSpPr>
        <p:spPr>
          <a:xfrm>
            <a:off x="1917605" y="3474720"/>
            <a:ext cx="997161"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Lam Dong</a:t>
            </a:r>
            <a:endParaRPr lang="en-US" sz="1050" dirty="0"/>
          </a:p>
        </p:txBody>
      </p:sp>
      <p:sp>
        <p:nvSpPr>
          <p:cNvPr id="51" name="Shape 49"/>
          <p:cNvSpPr/>
          <p:nvPr/>
        </p:nvSpPr>
        <p:spPr>
          <a:xfrm>
            <a:off x="2933054" y="3410712"/>
            <a:ext cx="1123627" cy="292608"/>
          </a:xfrm>
          <a:prstGeom prst="rect">
            <a:avLst/>
          </a:prstGeom>
          <a:solidFill>
            <a:srgbClr val="FFFFFF"/>
          </a:solidFill>
          <a:ln w="6350">
            <a:solidFill>
              <a:srgbClr val="AAB2C8"/>
            </a:solidFill>
            <a:prstDash val="solid"/>
          </a:ln>
        </p:spPr>
      </p:sp>
      <p:sp>
        <p:nvSpPr>
          <p:cNvPr id="52" name="Text 50"/>
          <p:cNvSpPr/>
          <p:nvPr/>
        </p:nvSpPr>
        <p:spPr>
          <a:xfrm>
            <a:off x="2951342" y="3474720"/>
            <a:ext cx="1087051"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Book</a:t>
            </a:r>
            <a:endParaRPr lang="en-US" sz="1050" dirty="0"/>
          </a:p>
        </p:txBody>
      </p:sp>
      <p:sp>
        <p:nvSpPr>
          <p:cNvPr id="53" name="Shape 51"/>
          <p:cNvSpPr/>
          <p:nvPr/>
        </p:nvSpPr>
        <p:spPr>
          <a:xfrm>
            <a:off x="4056681" y="3410712"/>
            <a:ext cx="1078682" cy="292608"/>
          </a:xfrm>
          <a:prstGeom prst="rect">
            <a:avLst/>
          </a:prstGeom>
          <a:solidFill>
            <a:srgbClr val="FFFFFF"/>
          </a:solidFill>
          <a:ln w="6350">
            <a:solidFill>
              <a:srgbClr val="AAB2C8"/>
            </a:solidFill>
            <a:prstDash val="solid"/>
          </a:ln>
        </p:spPr>
      </p:sp>
      <p:sp>
        <p:nvSpPr>
          <p:cNvPr id="54" name="Text 52"/>
          <p:cNvSpPr/>
          <p:nvPr/>
        </p:nvSpPr>
        <p:spPr>
          <a:xfrm>
            <a:off x="4074969" y="3474720"/>
            <a:ext cx="1042106"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250,000</a:t>
            </a:r>
            <a:endParaRPr lang="en-US" sz="1050" dirty="0"/>
          </a:p>
        </p:txBody>
      </p:sp>
      <p:sp>
        <p:nvSpPr>
          <p:cNvPr id="55" name="Shape 53"/>
          <p:cNvSpPr/>
          <p:nvPr/>
        </p:nvSpPr>
        <p:spPr>
          <a:xfrm>
            <a:off x="5135363" y="3410712"/>
            <a:ext cx="898902" cy="292608"/>
          </a:xfrm>
          <a:prstGeom prst="rect">
            <a:avLst/>
          </a:prstGeom>
          <a:solidFill>
            <a:srgbClr val="FFFFFF"/>
          </a:solidFill>
          <a:ln w="6350">
            <a:solidFill>
              <a:srgbClr val="AAB2C8"/>
            </a:solidFill>
            <a:prstDash val="solid"/>
          </a:ln>
        </p:spPr>
      </p:sp>
      <p:sp>
        <p:nvSpPr>
          <p:cNvPr id="56" name="Text 54"/>
          <p:cNvSpPr/>
          <p:nvPr/>
        </p:nvSpPr>
        <p:spPr>
          <a:xfrm>
            <a:off x="5153651" y="3474720"/>
            <a:ext cx="862326" cy="146304"/>
          </a:xfrm>
          <a:prstGeom prst="rect">
            <a:avLst/>
          </a:prstGeom>
          <a:noFill/>
          <a:ln/>
        </p:spPr>
        <p:txBody>
          <a:bodyPr wrap="square" lIns="0" tIns="0" rIns="0" bIns="0" rtlCol="0" anchor="ctr"/>
          <a:lstStyle/>
          <a:p>
            <a:pPr marL="0" indent="0" algn="ctr">
              <a:buNone/>
            </a:pPr>
            <a:r>
              <a:rPr lang="en-US" sz="1050" dirty="0">
                <a:solidFill>
                  <a:srgbClr val="1F2430"/>
                </a:solidFill>
                <a:latin typeface="Times New Roman" pitchFamily="34" charset="0"/>
                <a:ea typeface="Times New Roman" pitchFamily="34" charset="-122"/>
                <a:cs typeface="Times New Roman" pitchFamily="34" charset="-120"/>
              </a:rPr>
              <a:t>SUCCESS</a:t>
            </a:r>
            <a:endParaRPr lang="en-US" sz="1050" dirty="0"/>
          </a:p>
        </p:txBody>
      </p:sp>
      <p:sp>
        <p:nvSpPr>
          <p:cNvPr id="57" name="Shape 55"/>
          <p:cNvSpPr/>
          <p:nvPr/>
        </p:nvSpPr>
        <p:spPr>
          <a:xfrm>
            <a:off x="6446520" y="1097280"/>
            <a:ext cx="4983480" cy="1463040"/>
          </a:xfrm>
          <a:prstGeom prst="roundRect">
            <a:avLst>
              <a:gd name="adj" fmla="val 3750"/>
            </a:avLst>
          </a:prstGeom>
          <a:solidFill>
            <a:srgbClr val="FFFFFF"/>
          </a:solidFill>
          <a:ln w="13970">
            <a:solidFill>
              <a:srgbClr val="2F8F6F"/>
            </a:solidFill>
            <a:prstDash val="solid"/>
          </a:ln>
        </p:spPr>
      </p:sp>
      <p:sp>
        <p:nvSpPr>
          <p:cNvPr id="58" name="Text 56"/>
          <p:cNvSpPr/>
          <p:nvPr/>
        </p:nvSpPr>
        <p:spPr>
          <a:xfrm>
            <a:off x="6583680" y="1216152"/>
            <a:ext cx="4709160" cy="256032"/>
          </a:xfrm>
          <a:prstGeom prst="rect">
            <a:avLst/>
          </a:prstGeom>
          <a:noFill/>
          <a:ln/>
        </p:spPr>
        <p:txBody>
          <a:bodyPr wrap="square" lIns="0" tIns="0" rIns="0" bIns="0" rtlCol="0" anchor="ctr"/>
          <a:lstStyle/>
          <a:p>
            <a:pPr marL="0" indent="0">
              <a:buNone/>
            </a:pPr>
            <a:r>
              <a:rPr lang="en-US" sz="1500" b="1" dirty="0">
                <a:solidFill>
                  <a:srgbClr val="2F8F6F"/>
                </a:solidFill>
                <a:latin typeface="Times New Roman" pitchFamily="34" charset="0"/>
                <a:ea typeface="Times New Roman" pitchFamily="34" charset="-122"/>
                <a:cs typeface="Times New Roman" pitchFamily="34" charset="-120"/>
              </a:rPr>
              <a:t>File kèm theo</a:t>
            </a:r>
            <a:endParaRPr lang="en-US" sz="1500" dirty="0"/>
          </a:p>
        </p:txBody>
      </p:sp>
      <p:sp>
        <p:nvSpPr>
          <p:cNvPr id="59" name="Text 57"/>
          <p:cNvSpPr/>
          <p:nvPr/>
        </p:nvSpPr>
        <p:spPr>
          <a:xfrm>
            <a:off x="6583680" y="1554480"/>
            <a:ext cx="4709160" cy="896112"/>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orders_2026_09.csv</a:t>
            </a:r>
            <a:endParaRPr lang="en-US" sz="1400" dirty="0"/>
          </a:p>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mapper_revenue.py</a:t>
            </a:r>
            <a:endParaRPr lang="en-US" sz="1400" dirty="0"/>
          </a:p>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reducer_revenue.py</a:t>
            </a:r>
            <a:endParaRPr lang="en-US" sz="1400" dirty="0"/>
          </a:p>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README.txt</a:t>
            </a:r>
            <a:endParaRPr lang="en-US" sz="1400" dirty="0"/>
          </a:p>
        </p:txBody>
      </p:sp>
      <p:sp>
        <p:nvSpPr>
          <p:cNvPr id="60" name="Shape 58"/>
          <p:cNvSpPr/>
          <p:nvPr/>
        </p:nvSpPr>
        <p:spPr>
          <a:xfrm>
            <a:off x="6446520" y="2834640"/>
            <a:ext cx="4983480" cy="1143000"/>
          </a:xfrm>
          <a:prstGeom prst="roundRect">
            <a:avLst>
              <a:gd name="adj" fmla="val 4800"/>
            </a:avLst>
          </a:prstGeom>
          <a:solidFill>
            <a:srgbClr val="FFFFFF"/>
          </a:solidFill>
          <a:ln w="13970">
            <a:solidFill>
              <a:srgbClr val="D83A6C"/>
            </a:solidFill>
            <a:prstDash val="solid"/>
          </a:ln>
        </p:spPr>
      </p:sp>
      <p:sp>
        <p:nvSpPr>
          <p:cNvPr id="61" name="Text 59"/>
          <p:cNvSpPr/>
          <p:nvPr/>
        </p:nvSpPr>
        <p:spPr>
          <a:xfrm>
            <a:off x="6583680" y="2953512"/>
            <a:ext cx="4709160" cy="256032"/>
          </a:xfrm>
          <a:prstGeom prst="rect">
            <a:avLst/>
          </a:prstGeom>
          <a:noFill/>
          <a:ln/>
        </p:spPr>
        <p:txBody>
          <a:bodyPr wrap="square" lIns="0" tIns="0" rIns="0" bIns="0" rtlCol="0" anchor="ctr"/>
          <a:lstStyle/>
          <a:p>
            <a:pPr marL="0" indent="0">
              <a:buNone/>
            </a:pPr>
            <a:r>
              <a:rPr lang="en-US" sz="1500" b="1" dirty="0">
                <a:solidFill>
                  <a:srgbClr val="D83A6C"/>
                </a:solidFill>
                <a:latin typeface="Times New Roman" pitchFamily="34" charset="0"/>
                <a:ea typeface="Times New Roman" pitchFamily="34" charset="-122"/>
                <a:cs typeface="Times New Roman" pitchFamily="34" charset="-120"/>
              </a:rPr>
              <a:t>Quy tắc dữ liệu</a:t>
            </a:r>
            <a:endParaRPr lang="en-US" sz="1500" dirty="0"/>
          </a:p>
        </p:txBody>
      </p:sp>
      <p:sp>
        <p:nvSpPr>
          <p:cNvPr id="62" name="Text 60"/>
          <p:cNvSpPr/>
          <p:nvPr/>
        </p:nvSpPr>
        <p:spPr>
          <a:xfrm>
            <a:off x="6583680" y="3291840"/>
            <a:ext cx="4709160" cy="576072"/>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Chỉ tính doanh thu cho bản ghi status = SUCCESS. Khóa phân nhóm là category. Giá trị cộng dồn là amount.</a:t>
            </a:r>
            <a:endParaRPr lang="en-US" sz="1400" dirty="0"/>
          </a:p>
        </p:txBody>
      </p:sp>
      <p:sp>
        <p:nvSpPr>
          <p:cNvPr id="63" name="Text 61"/>
          <p:cNvSpPr/>
          <p:nvPr/>
        </p:nvSpPr>
        <p:spPr>
          <a:xfrm>
            <a:off x="6446520" y="4343400"/>
            <a:ext cx="4937760" cy="731520"/>
          </a:xfrm>
          <a:prstGeom prst="rect">
            <a:avLst/>
          </a:prstGeom>
          <a:noFill/>
          <a:ln/>
        </p:spPr>
        <p:txBody>
          <a:bodyPr wrap="square" lIns="762" tIns="762" rIns="762" bIns="762" rtlCol="0" anchor="t">
            <a:normAutofit/>
          </a:bodyPr>
          <a:lstStyle/>
          <a:p>
            <a:pPr marL="0" indent="0" algn="just">
              <a:buNone/>
            </a:pPr>
            <a:r>
              <a:rPr lang="en-US" sz="1400" b="1" dirty="0">
                <a:solidFill>
                  <a:srgbClr val="222A68"/>
                </a:solidFill>
                <a:latin typeface="Times New Roman" pitchFamily="34" charset="0"/>
                <a:ea typeface="Times New Roman" pitchFamily="34" charset="-122"/>
                <a:cs typeface="Times New Roman" pitchFamily="34" charset="-120"/>
              </a:rPr>
              <a:t>Sinh viên có thể chạy thử local bằng Python trước khi đưa lên Hadoop, nhưng kết quả chính thức phải tạo từ Hadoop Streaming.</a:t>
            </a:r>
            <a:endParaRPr lang="en-US" sz="1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222A68"/>
          </a:solidFill>
          <a:ln w="12700">
            <a:solidFill>
              <a:srgbClr val="222A68"/>
            </a:solidFill>
            <a:prstDash val="solid"/>
          </a:ln>
        </p:spPr>
      </p:sp>
      <p:sp>
        <p:nvSpPr>
          <p:cNvPr id="3" name="Text 1"/>
          <p:cNvSpPr/>
          <p:nvPr/>
        </p:nvSpPr>
        <p:spPr>
          <a:xfrm>
            <a:off x="438912" y="310896"/>
            <a:ext cx="10424160" cy="475488"/>
          </a:xfrm>
          <a:prstGeom prst="rect">
            <a:avLst/>
          </a:prstGeom>
          <a:noFill/>
          <a:ln/>
        </p:spPr>
        <p:txBody>
          <a:bodyPr wrap="square" lIns="0" tIns="0" rIns="0" bIns="0" rtlCol="0" anchor="ctr"/>
          <a:lstStyle/>
          <a:p>
            <a:pPr marL="0" indent="0">
              <a:buNone/>
            </a:pPr>
            <a:r>
              <a:rPr lang="en-US" sz="2200" b="1" dirty="0">
                <a:solidFill>
                  <a:srgbClr val="222A68"/>
                </a:solidFill>
                <a:latin typeface="Times New Roman" pitchFamily="34" charset="0"/>
                <a:ea typeface="Times New Roman" pitchFamily="34" charset="-122"/>
                <a:cs typeface="Times New Roman" pitchFamily="34" charset="-120"/>
              </a:rPr>
              <a:t>6. Bước 1 – Đưa dữ liệu lên HDFS</a:t>
            </a:r>
            <a:endParaRPr lang="en-US" sz="2200" dirty="0"/>
          </a:p>
        </p:txBody>
      </p:sp>
      <p:sp>
        <p:nvSpPr>
          <p:cNvPr id="4" name="Shape 2"/>
          <p:cNvSpPr/>
          <p:nvPr/>
        </p:nvSpPr>
        <p:spPr>
          <a:xfrm>
            <a:off x="438912" y="868680"/>
            <a:ext cx="11292840" cy="0"/>
          </a:xfrm>
          <a:prstGeom prst="line">
            <a:avLst/>
          </a:prstGeom>
          <a:noFill/>
          <a:ln w="15240">
            <a:solidFill>
              <a:srgbClr val="D83A6C"/>
            </a:solidFill>
            <a:prstDash val="solid"/>
          </a:ln>
        </p:spPr>
      </p:sp>
      <p:sp>
        <p:nvSpPr>
          <p:cNvPr id="5" name="Text 3"/>
          <p:cNvSpPr/>
          <p:nvPr/>
        </p:nvSpPr>
        <p:spPr>
          <a:xfrm>
            <a:off x="11475720" y="6446520"/>
            <a:ext cx="320040" cy="201168"/>
          </a:xfrm>
          <a:prstGeom prst="rect">
            <a:avLst/>
          </a:prstGeom>
          <a:noFill/>
          <a:ln/>
        </p:spPr>
        <p:txBody>
          <a:bodyPr wrap="square" lIns="0" tIns="0" rIns="0" bIns="0" rtlCol="0" anchor="ctr"/>
          <a:lstStyle/>
          <a:p>
            <a:pPr marL="0" indent="0" algn="ctr">
              <a:buNone/>
            </a:pPr>
            <a:r>
              <a:rPr lang="en-US" sz="900" dirty="0">
                <a:solidFill>
                  <a:srgbClr val="666666"/>
                </a:solidFill>
                <a:latin typeface="Times New Roman" pitchFamily="34" charset="0"/>
                <a:ea typeface="Times New Roman" pitchFamily="34" charset="-122"/>
                <a:cs typeface="Times New Roman" pitchFamily="34" charset="-120"/>
              </a:rPr>
              <a:t>7</a:t>
            </a:r>
            <a:endParaRPr lang="en-US" sz="900" dirty="0"/>
          </a:p>
        </p:txBody>
      </p:sp>
      <p:sp>
        <p:nvSpPr>
          <p:cNvPr id="6" name="Shape 4"/>
          <p:cNvSpPr/>
          <p:nvPr/>
        </p:nvSpPr>
        <p:spPr>
          <a:xfrm>
            <a:off x="594360" y="1143000"/>
            <a:ext cx="5577840" cy="4251960"/>
          </a:xfrm>
          <a:prstGeom prst="roundRect">
            <a:avLst>
              <a:gd name="adj" fmla="val 645"/>
            </a:avLst>
          </a:prstGeom>
          <a:solidFill>
            <a:srgbClr val="111827"/>
          </a:solidFill>
          <a:ln w="12700">
            <a:solidFill>
              <a:srgbClr val="111827"/>
            </a:solidFill>
            <a:prstDash val="solid"/>
          </a:ln>
        </p:spPr>
      </p:sp>
      <p:sp>
        <p:nvSpPr>
          <p:cNvPr id="7" name="Text 5"/>
          <p:cNvSpPr/>
          <p:nvPr/>
        </p:nvSpPr>
        <p:spPr>
          <a:xfrm>
            <a:off x="704088" y="1252728"/>
            <a:ext cx="5358384" cy="4032504"/>
          </a:xfrm>
          <a:prstGeom prst="rect">
            <a:avLst/>
          </a:prstGeom>
          <a:noFill/>
          <a:ln/>
        </p:spPr>
        <p:txBody>
          <a:bodyPr wrap="square" lIns="254" tIns="254" rIns="254" bIns="254" rtlCol="0" anchor="ctr">
            <a:normAutofit/>
          </a:bodyPr>
          <a:lstStyle/>
          <a:p>
            <a:pPr marL="0" indent="0">
              <a:buNone/>
            </a:pPr>
            <a:r>
              <a:rPr lang="en-US" sz="1040" dirty="0">
                <a:solidFill>
                  <a:srgbClr val="FFFFFF"/>
                </a:solidFill>
                <a:latin typeface="Courier New" pitchFamily="34" charset="0"/>
                <a:ea typeface="Courier New" pitchFamily="34" charset="-122"/>
                <a:cs typeface="Courier New" pitchFamily="34" charset="-120"/>
              </a:rPr>
              <a:t># 1. Tạo thư mục làm việc</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hadoop fs -mkdir -p /user/student/ecommerce/input</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hadoop fs -mkdir -p /user/student/ecommerce/output</a:t>
            </a:r>
            <a:endParaRPr lang="en-US" sz="1040" dirty="0"/>
          </a:p>
          <a:p>
            <a:pPr marL="0" indent="0">
              <a:buNone/>
            </a:pP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 2. Đưa file CSV từ máy/terminal lên HDFS</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hadoop fs -put -f orders_2026_09.csv /user/student/ecommerce/input/</a:t>
            </a:r>
            <a:endParaRPr lang="en-US" sz="1040" dirty="0"/>
          </a:p>
          <a:p>
            <a:pPr marL="0" indent="0">
              <a:buNone/>
            </a:pP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 3. Kiểm tra dữ liệu</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hadoop fs -ls /user/student/ecommerce/input</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hadoop fs -head /user/student/ecommerce/input/orders_2026_09.csv</a:t>
            </a:r>
            <a:endParaRPr lang="en-US" sz="1040" dirty="0"/>
          </a:p>
        </p:txBody>
      </p:sp>
      <p:pic>
        <p:nvPicPr>
          <p:cNvPr id="8" name="Image 0" descr="/mnt/data/hadoop_lab_page_11.png"/>
          <p:cNvPicPr>
            <a:picLocks noChangeAspect="1"/>
          </p:cNvPicPr>
          <p:nvPr/>
        </p:nvPicPr>
        <p:blipFill>
          <a:blip r:embed="rId3"/>
          <a:srcRect l="1250" r="1250"/>
          <a:stretch/>
        </p:blipFill>
        <p:spPr>
          <a:xfrm>
            <a:off x="6537960" y="1143000"/>
            <a:ext cx="4754880" cy="2743200"/>
          </a:xfrm>
          <a:prstGeom prst="rect">
            <a:avLst/>
          </a:prstGeom>
        </p:spPr>
      </p:pic>
      <p:sp>
        <p:nvSpPr>
          <p:cNvPr id="9" name="Text 6"/>
          <p:cNvSpPr/>
          <p:nvPr/>
        </p:nvSpPr>
        <p:spPr>
          <a:xfrm>
            <a:off x="6537960" y="4160520"/>
            <a:ext cx="4754880" cy="822960"/>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Giải thích: HDFS tổ chức dữ liệu như cây thư mục. File dữ liệu được đưa vào thư mục input để MapReduce đọc. Trước khi chạy lại, cần xóa thư mục output cũ nếu đã tồn tại.</a:t>
            </a:r>
            <a:endParaRPr lang="en-US" sz="1400" dirty="0"/>
          </a:p>
        </p:txBody>
      </p:sp>
      <p:sp>
        <p:nvSpPr>
          <p:cNvPr id="10" name="Shape 7"/>
          <p:cNvSpPr/>
          <p:nvPr/>
        </p:nvSpPr>
        <p:spPr>
          <a:xfrm>
            <a:off x="6537960" y="5257800"/>
            <a:ext cx="4754880" cy="502920"/>
          </a:xfrm>
          <a:prstGeom prst="roundRect">
            <a:avLst>
              <a:gd name="adj" fmla="val 5455"/>
            </a:avLst>
          </a:prstGeom>
          <a:solidFill>
            <a:srgbClr val="111827"/>
          </a:solidFill>
          <a:ln w="12700">
            <a:solidFill>
              <a:srgbClr val="111827"/>
            </a:solidFill>
            <a:prstDash val="solid"/>
          </a:ln>
        </p:spPr>
      </p:sp>
      <p:sp>
        <p:nvSpPr>
          <p:cNvPr id="11" name="Text 8"/>
          <p:cNvSpPr/>
          <p:nvPr/>
        </p:nvSpPr>
        <p:spPr>
          <a:xfrm>
            <a:off x="6647688" y="5367528"/>
            <a:ext cx="4535424" cy="283464"/>
          </a:xfrm>
          <a:prstGeom prst="rect">
            <a:avLst/>
          </a:prstGeom>
          <a:noFill/>
          <a:ln/>
        </p:spPr>
        <p:txBody>
          <a:bodyPr wrap="square" lIns="254" tIns="254" rIns="254" bIns="254" rtlCol="0" anchor="ctr">
            <a:normAutofit fontScale="77500" lnSpcReduction="20000"/>
          </a:bodyPr>
          <a:lstStyle/>
          <a:p>
            <a:pPr marL="0" indent="0">
              <a:buNone/>
            </a:pPr>
            <a:r>
              <a:rPr lang="en-US" sz="1040" dirty="0">
                <a:solidFill>
                  <a:srgbClr val="FFFFFF"/>
                </a:solidFill>
                <a:latin typeface="Courier New" pitchFamily="34" charset="0"/>
                <a:ea typeface="Courier New" pitchFamily="34" charset="-122"/>
                <a:cs typeface="Courier New" pitchFamily="34" charset="-120"/>
              </a:rPr>
              <a:t># Nếu chạy lại job:</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hadoop fs -rm -r -f /user/student/ecommerce/output/revenue_by_category</a:t>
            </a:r>
            <a:endParaRPr lang="en-US" sz="104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222A68"/>
          </a:solidFill>
          <a:ln w="12700">
            <a:solidFill>
              <a:srgbClr val="222A68"/>
            </a:solidFill>
            <a:prstDash val="solid"/>
          </a:ln>
        </p:spPr>
      </p:sp>
      <p:sp>
        <p:nvSpPr>
          <p:cNvPr id="3" name="Text 1"/>
          <p:cNvSpPr/>
          <p:nvPr/>
        </p:nvSpPr>
        <p:spPr>
          <a:xfrm>
            <a:off x="438912" y="310896"/>
            <a:ext cx="10424160" cy="475488"/>
          </a:xfrm>
          <a:prstGeom prst="rect">
            <a:avLst/>
          </a:prstGeom>
          <a:noFill/>
          <a:ln/>
        </p:spPr>
        <p:txBody>
          <a:bodyPr wrap="square" lIns="0" tIns="0" rIns="0" bIns="0" rtlCol="0" anchor="ctr"/>
          <a:lstStyle/>
          <a:p>
            <a:pPr marL="0" indent="0">
              <a:buNone/>
            </a:pPr>
            <a:r>
              <a:rPr lang="en-US" sz="2200" b="1" dirty="0">
                <a:solidFill>
                  <a:srgbClr val="222A68"/>
                </a:solidFill>
                <a:latin typeface="Times New Roman" pitchFamily="34" charset="0"/>
                <a:ea typeface="Times New Roman" pitchFamily="34" charset="-122"/>
                <a:cs typeface="Times New Roman" pitchFamily="34" charset="-120"/>
              </a:rPr>
              <a:t>7. Bước 2 – Hiểu Mapper và Reducer</a:t>
            </a:r>
            <a:endParaRPr lang="en-US" sz="2200" dirty="0"/>
          </a:p>
        </p:txBody>
      </p:sp>
      <p:sp>
        <p:nvSpPr>
          <p:cNvPr id="4" name="Shape 2"/>
          <p:cNvSpPr/>
          <p:nvPr/>
        </p:nvSpPr>
        <p:spPr>
          <a:xfrm>
            <a:off x="438912" y="868680"/>
            <a:ext cx="11292840" cy="0"/>
          </a:xfrm>
          <a:prstGeom prst="line">
            <a:avLst/>
          </a:prstGeom>
          <a:noFill/>
          <a:ln w="15240">
            <a:solidFill>
              <a:srgbClr val="D83A6C"/>
            </a:solidFill>
            <a:prstDash val="solid"/>
          </a:ln>
        </p:spPr>
      </p:sp>
      <p:sp>
        <p:nvSpPr>
          <p:cNvPr id="5" name="Text 3"/>
          <p:cNvSpPr/>
          <p:nvPr/>
        </p:nvSpPr>
        <p:spPr>
          <a:xfrm>
            <a:off x="11475720" y="6446520"/>
            <a:ext cx="320040" cy="201168"/>
          </a:xfrm>
          <a:prstGeom prst="rect">
            <a:avLst/>
          </a:prstGeom>
          <a:noFill/>
          <a:ln/>
        </p:spPr>
        <p:txBody>
          <a:bodyPr wrap="square" lIns="0" tIns="0" rIns="0" bIns="0" rtlCol="0" anchor="ctr"/>
          <a:lstStyle/>
          <a:p>
            <a:pPr marL="0" indent="0" algn="ctr">
              <a:buNone/>
            </a:pPr>
            <a:r>
              <a:rPr lang="en-US" sz="900" dirty="0">
                <a:solidFill>
                  <a:srgbClr val="666666"/>
                </a:solidFill>
                <a:latin typeface="Times New Roman" pitchFamily="34" charset="0"/>
                <a:ea typeface="Times New Roman" pitchFamily="34" charset="-122"/>
                <a:cs typeface="Times New Roman" pitchFamily="34" charset="-120"/>
              </a:rPr>
              <a:t>8</a:t>
            </a:r>
            <a:endParaRPr lang="en-US" sz="900" dirty="0"/>
          </a:p>
        </p:txBody>
      </p:sp>
      <p:sp>
        <p:nvSpPr>
          <p:cNvPr id="6" name="Shape 4"/>
          <p:cNvSpPr/>
          <p:nvPr/>
        </p:nvSpPr>
        <p:spPr>
          <a:xfrm>
            <a:off x="1965960" y="1426464"/>
            <a:ext cx="256032" cy="0"/>
          </a:xfrm>
          <a:prstGeom prst="line">
            <a:avLst/>
          </a:prstGeom>
          <a:noFill/>
          <a:ln w="12700">
            <a:solidFill>
              <a:srgbClr val="777777"/>
            </a:solidFill>
            <a:prstDash val="solid"/>
            <a:headEnd type="none"/>
            <a:tailEnd type="triangle"/>
          </a:ln>
        </p:spPr>
      </p:sp>
      <p:sp>
        <p:nvSpPr>
          <p:cNvPr id="7" name="Shape 5"/>
          <p:cNvSpPr/>
          <p:nvPr/>
        </p:nvSpPr>
        <p:spPr>
          <a:xfrm>
            <a:off x="3456432" y="1426464"/>
            <a:ext cx="256032" cy="0"/>
          </a:xfrm>
          <a:prstGeom prst="line">
            <a:avLst/>
          </a:prstGeom>
          <a:noFill/>
          <a:ln w="12700">
            <a:solidFill>
              <a:srgbClr val="777777"/>
            </a:solidFill>
            <a:prstDash val="solid"/>
            <a:headEnd type="none"/>
            <a:tailEnd type="triangle"/>
          </a:ln>
        </p:spPr>
      </p:sp>
      <p:sp>
        <p:nvSpPr>
          <p:cNvPr id="8" name="Shape 6"/>
          <p:cNvSpPr/>
          <p:nvPr/>
        </p:nvSpPr>
        <p:spPr>
          <a:xfrm>
            <a:off x="4946904" y="1426464"/>
            <a:ext cx="256032" cy="0"/>
          </a:xfrm>
          <a:prstGeom prst="line">
            <a:avLst/>
          </a:prstGeom>
          <a:noFill/>
          <a:ln w="12700">
            <a:solidFill>
              <a:srgbClr val="777777"/>
            </a:solidFill>
            <a:prstDash val="solid"/>
            <a:headEnd type="none"/>
            <a:tailEnd type="triangle"/>
          </a:ln>
        </p:spPr>
      </p:sp>
      <p:sp>
        <p:nvSpPr>
          <p:cNvPr id="9" name="Shape 7"/>
          <p:cNvSpPr/>
          <p:nvPr/>
        </p:nvSpPr>
        <p:spPr>
          <a:xfrm>
            <a:off x="6437376" y="1426464"/>
            <a:ext cx="256032" cy="0"/>
          </a:xfrm>
          <a:prstGeom prst="line">
            <a:avLst/>
          </a:prstGeom>
          <a:noFill/>
          <a:ln w="12700">
            <a:solidFill>
              <a:srgbClr val="777777"/>
            </a:solidFill>
            <a:prstDash val="solid"/>
            <a:headEnd type="none"/>
            <a:tailEnd type="triangle"/>
          </a:ln>
        </p:spPr>
      </p:sp>
      <p:sp>
        <p:nvSpPr>
          <p:cNvPr id="10" name="Shape 8"/>
          <p:cNvSpPr/>
          <p:nvPr/>
        </p:nvSpPr>
        <p:spPr>
          <a:xfrm>
            <a:off x="731520" y="1143000"/>
            <a:ext cx="1234440" cy="566928"/>
          </a:xfrm>
          <a:prstGeom prst="roundRect">
            <a:avLst>
              <a:gd name="adj" fmla="val 8065"/>
            </a:avLst>
          </a:prstGeom>
          <a:solidFill>
            <a:srgbClr val="222A68"/>
          </a:solidFill>
          <a:ln w="12700">
            <a:solidFill>
              <a:srgbClr val="222A68"/>
            </a:solidFill>
            <a:prstDash val="solid"/>
          </a:ln>
        </p:spPr>
      </p:sp>
      <p:sp>
        <p:nvSpPr>
          <p:cNvPr id="11" name="Text 9"/>
          <p:cNvSpPr/>
          <p:nvPr/>
        </p:nvSpPr>
        <p:spPr>
          <a:xfrm>
            <a:off x="758952" y="1316736"/>
            <a:ext cx="1179576" cy="18288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Input CSV</a:t>
            </a:r>
            <a:endParaRPr lang="en-US" sz="1200" dirty="0"/>
          </a:p>
        </p:txBody>
      </p:sp>
      <p:sp>
        <p:nvSpPr>
          <p:cNvPr id="12" name="Shape 10"/>
          <p:cNvSpPr/>
          <p:nvPr/>
        </p:nvSpPr>
        <p:spPr>
          <a:xfrm>
            <a:off x="2221992" y="1143000"/>
            <a:ext cx="1234440" cy="566928"/>
          </a:xfrm>
          <a:prstGeom prst="roundRect">
            <a:avLst>
              <a:gd name="adj" fmla="val 8065"/>
            </a:avLst>
          </a:prstGeom>
          <a:solidFill>
            <a:srgbClr val="D83A6C"/>
          </a:solidFill>
          <a:ln w="12700">
            <a:solidFill>
              <a:srgbClr val="D83A6C"/>
            </a:solidFill>
            <a:prstDash val="solid"/>
          </a:ln>
        </p:spPr>
      </p:sp>
      <p:sp>
        <p:nvSpPr>
          <p:cNvPr id="13" name="Text 11"/>
          <p:cNvSpPr/>
          <p:nvPr/>
        </p:nvSpPr>
        <p:spPr>
          <a:xfrm>
            <a:off x="2249424" y="1316736"/>
            <a:ext cx="1179576" cy="18288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Mapper</a:t>
            </a:r>
            <a:endParaRPr lang="en-US" sz="1200" dirty="0"/>
          </a:p>
        </p:txBody>
      </p:sp>
      <p:sp>
        <p:nvSpPr>
          <p:cNvPr id="14" name="Shape 12"/>
          <p:cNvSpPr/>
          <p:nvPr/>
        </p:nvSpPr>
        <p:spPr>
          <a:xfrm>
            <a:off x="3712464" y="1143000"/>
            <a:ext cx="1234440" cy="566928"/>
          </a:xfrm>
          <a:prstGeom prst="roundRect">
            <a:avLst>
              <a:gd name="adj" fmla="val 8065"/>
            </a:avLst>
          </a:prstGeom>
          <a:solidFill>
            <a:srgbClr val="C36B2C"/>
          </a:solidFill>
          <a:ln w="12700">
            <a:solidFill>
              <a:srgbClr val="C36B2C"/>
            </a:solidFill>
            <a:prstDash val="solid"/>
          </a:ln>
        </p:spPr>
      </p:sp>
      <p:sp>
        <p:nvSpPr>
          <p:cNvPr id="15" name="Text 13"/>
          <p:cNvSpPr/>
          <p:nvPr/>
        </p:nvSpPr>
        <p:spPr>
          <a:xfrm>
            <a:off x="3739896" y="1316736"/>
            <a:ext cx="1179576" cy="18288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Shuffle / Sort</a:t>
            </a:r>
            <a:endParaRPr lang="en-US" sz="1200" dirty="0"/>
          </a:p>
        </p:txBody>
      </p:sp>
      <p:sp>
        <p:nvSpPr>
          <p:cNvPr id="16" name="Shape 14"/>
          <p:cNvSpPr/>
          <p:nvPr/>
        </p:nvSpPr>
        <p:spPr>
          <a:xfrm>
            <a:off x="5202936" y="1143000"/>
            <a:ext cx="1234440" cy="566928"/>
          </a:xfrm>
          <a:prstGeom prst="roundRect">
            <a:avLst>
              <a:gd name="adj" fmla="val 8065"/>
            </a:avLst>
          </a:prstGeom>
          <a:solidFill>
            <a:srgbClr val="2F8F6F"/>
          </a:solidFill>
          <a:ln w="12700">
            <a:solidFill>
              <a:srgbClr val="2F8F6F"/>
            </a:solidFill>
            <a:prstDash val="solid"/>
          </a:ln>
        </p:spPr>
      </p:sp>
      <p:sp>
        <p:nvSpPr>
          <p:cNvPr id="17" name="Text 15"/>
          <p:cNvSpPr/>
          <p:nvPr/>
        </p:nvSpPr>
        <p:spPr>
          <a:xfrm>
            <a:off x="5230368" y="1316736"/>
            <a:ext cx="1179576" cy="18288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Reducer</a:t>
            </a:r>
            <a:endParaRPr lang="en-US" sz="1200" dirty="0"/>
          </a:p>
        </p:txBody>
      </p:sp>
      <p:sp>
        <p:nvSpPr>
          <p:cNvPr id="18" name="Shape 16"/>
          <p:cNvSpPr/>
          <p:nvPr/>
        </p:nvSpPr>
        <p:spPr>
          <a:xfrm>
            <a:off x="6693408" y="1143000"/>
            <a:ext cx="1234440" cy="566928"/>
          </a:xfrm>
          <a:prstGeom prst="roundRect">
            <a:avLst>
              <a:gd name="adj" fmla="val 8065"/>
            </a:avLst>
          </a:prstGeom>
          <a:solidFill>
            <a:srgbClr val="5B4AA0"/>
          </a:solidFill>
          <a:ln w="12700">
            <a:solidFill>
              <a:srgbClr val="5B4AA0"/>
            </a:solidFill>
            <a:prstDash val="solid"/>
          </a:ln>
        </p:spPr>
      </p:sp>
      <p:sp>
        <p:nvSpPr>
          <p:cNvPr id="19" name="Text 17"/>
          <p:cNvSpPr/>
          <p:nvPr/>
        </p:nvSpPr>
        <p:spPr>
          <a:xfrm>
            <a:off x="6720840" y="1316736"/>
            <a:ext cx="1179576" cy="18288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Output</a:t>
            </a:r>
            <a:endParaRPr lang="en-US" sz="1200" dirty="0"/>
          </a:p>
        </p:txBody>
      </p:sp>
      <p:sp>
        <p:nvSpPr>
          <p:cNvPr id="20" name="Shape 18"/>
          <p:cNvSpPr/>
          <p:nvPr/>
        </p:nvSpPr>
        <p:spPr>
          <a:xfrm>
            <a:off x="685800" y="2331720"/>
            <a:ext cx="3337560" cy="1234440"/>
          </a:xfrm>
          <a:prstGeom prst="roundRect">
            <a:avLst>
              <a:gd name="adj" fmla="val 4444"/>
            </a:avLst>
          </a:prstGeom>
          <a:solidFill>
            <a:srgbClr val="FFFFFF"/>
          </a:solidFill>
          <a:ln w="13970">
            <a:solidFill>
              <a:srgbClr val="222A68"/>
            </a:solidFill>
            <a:prstDash val="solid"/>
          </a:ln>
        </p:spPr>
      </p:sp>
      <p:sp>
        <p:nvSpPr>
          <p:cNvPr id="21" name="Text 19"/>
          <p:cNvSpPr/>
          <p:nvPr/>
        </p:nvSpPr>
        <p:spPr>
          <a:xfrm>
            <a:off x="822960" y="2450592"/>
            <a:ext cx="3063240" cy="256032"/>
          </a:xfrm>
          <a:prstGeom prst="rect">
            <a:avLst/>
          </a:prstGeom>
          <a:noFill/>
          <a:ln/>
        </p:spPr>
        <p:txBody>
          <a:bodyPr wrap="square" lIns="0" tIns="0" rIns="0" bIns="0" rtlCol="0" anchor="ctr"/>
          <a:lstStyle/>
          <a:p>
            <a:pPr marL="0" indent="0">
              <a:buNone/>
            </a:pPr>
            <a:r>
              <a:rPr lang="en-US" sz="1500" b="1" dirty="0">
                <a:solidFill>
                  <a:srgbClr val="222A68"/>
                </a:solidFill>
                <a:latin typeface="Times New Roman" pitchFamily="34" charset="0"/>
                <a:ea typeface="Times New Roman" pitchFamily="34" charset="-122"/>
                <a:cs typeface="Times New Roman" pitchFamily="34" charset="-120"/>
              </a:rPr>
              <a:t>Mapper</a:t>
            </a:r>
            <a:endParaRPr lang="en-US" sz="1500" dirty="0"/>
          </a:p>
        </p:txBody>
      </p:sp>
      <p:sp>
        <p:nvSpPr>
          <p:cNvPr id="22" name="Text 20"/>
          <p:cNvSpPr/>
          <p:nvPr/>
        </p:nvSpPr>
        <p:spPr>
          <a:xfrm>
            <a:off x="822960" y="2788920"/>
            <a:ext cx="3063240" cy="667512"/>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Đọc từng dòng CSV. Nếu status = SUCCESS thì phát sinh cặp:</a:t>
            </a:r>
            <a:endParaRPr lang="en-US" sz="1400" dirty="0"/>
          </a:p>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category → amount</a:t>
            </a:r>
            <a:endParaRPr lang="en-US" sz="1400" dirty="0"/>
          </a:p>
        </p:txBody>
      </p:sp>
      <p:sp>
        <p:nvSpPr>
          <p:cNvPr id="23" name="Shape 21"/>
          <p:cNvSpPr/>
          <p:nvPr/>
        </p:nvSpPr>
        <p:spPr>
          <a:xfrm>
            <a:off x="4434840" y="2331720"/>
            <a:ext cx="3337560" cy="1234440"/>
          </a:xfrm>
          <a:prstGeom prst="roundRect">
            <a:avLst>
              <a:gd name="adj" fmla="val 4444"/>
            </a:avLst>
          </a:prstGeom>
          <a:solidFill>
            <a:srgbClr val="FFFFFF"/>
          </a:solidFill>
          <a:ln w="13970">
            <a:solidFill>
              <a:srgbClr val="C36B2C"/>
            </a:solidFill>
            <a:prstDash val="solid"/>
          </a:ln>
        </p:spPr>
      </p:sp>
      <p:sp>
        <p:nvSpPr>
          <p:cNvPr id="24" name="Text 22"/>
          <p:cNvSpPr/>
          <p:nvPr/>
        </p:nvSpPr>
        <p:spPr>
          <a:xfrm>
            <a:off x="4572000" y="2450592"/>
            <a:ext cx="3063240" cy="256032"/>
          </a:xfrm>
          <a:prstGeom prst="rect">
            <a:avLst/>
          </a:prstGeom>
          <a:noFill/>
          <a:ln/>
        </p:spPr>
        <p:txBody>
          <a:bodyPr wrap="square" lIns="0" tIns="0" rIns="0" bIns="0" rtlCol="0" anchor="ctr"/>
          <a:lstStyle/>
          <a:p>
            <a:pPr marL="0" indent="0">
              <a:buNone/>
            </a:pPr>
            <a:r>
              <a:rPr lang="en-US" sz="1500" b="1" dirty="0">
                <a:solidFill>
                  <a:srgbClr val="C36B2C"/>
                </a:solidFill>
                <a:latin typeface="Times New Roman" pitchFamily="34" charset="0"/>
                <a:ea typeface="Times New Roman" pitchFamily="34" charset="-122"/>
                <a:cs typeface="Times New Roman" pitchFamily="34" charset="-120"/>
              </a:rPr>
              <a:t>Shuffle / Sort</a:t>
            </a:r>
            <a:endParaRPr lang="en-US" sz="1500" dirty="0"/>
          </a:p>
        </p:txBody>
      </p:sp>
      <p:sp>
        <p:nvSpPr>
          <p:cNvPr id="25" name="Text 23"/>
          <p:cNvSpPr/>
          <p:nvPr/>
        </p:nvSpPr>
        <p:spPr>
          <a:xfrm>
            <a:off x="4572000" y="2788920"/>
            <a:ext cx="3063240" cy="667512"/>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Hadoop gom các bản ghi có cùng category về cùng một reducer.</a:t>
            </a:r>
            <a:endParaRPr lang="en-US" sz="1400" dirty="0"/>
          </a:p>
        </p:txBody>
      </p:sp>
      <p:sp>
        <p:nvSpPr>
          <p:cNvPr id="26" name="Shape 24"/>
          <p:cNvSpPr/>
          <p:nvPr/>
        </p:nvSpPr>
        <p:spPr>
          <a:xfrm>
            <a:off x="8183880" y="2331720"/>
            <a:ext cx="3063240" cy="1234440"/>
          </a:xfrm>
          <a:prstGeom prst="roundRect">
            <a:avLst>
              <a:gd name="adj" fmla="val 4444"/>
            </a:avLst>
          </a:prstGeom>
          <a:solidFill>
            <a:srgbClr val="FFFFFF"/>
          </a:solidFill>
          <a:ln w="13970">
            <a:solidFill>
              <a:srgbClr val="2F8F6F"/>
            </a:solidFill>
            <a:prstDash val="solid"/>
          </a:ln>
        </p:spPr>
      </p:sp>
      <p:sp>
        <p:nvSpPr>
          <p:cNvPr id="27" name="Text 25"/>
          <p:cNvSpPr/>
          <p:nvPr/>
        </p:nvSpPr>
        <p:spPr>
          <a:xfrm>
            <a:off x="8321040" y="2450592"/>
            <a:ext cx="2788920" cy="256032"/>
          </a:xfrm>
          <a:prstGeom prst="rect">
            <a:avLst/>
          </a:prstGeom>
          <a:noFill/>
          <a:ln/>
        </p:spPr>
        <p:txBody>
          <a:bodyPr wrap="square" lIns="0" tIns="0" rIns="0" bIns="0" rtlCol="0" anchor="ctr"/>
          <a:lstStyle/>
          <a:p>
            <a:pPr marL="0" indent="0">
              <a:buNone/>
            </a:pPr>
            <a:r>
              <a:rPr lang="en-US" sz="1500" b="1" dirty="0">
                <a:solidFill>
                  <a:srgbClr val="2F8F6F"/>
                </a:solidFill>
                <a:latin typeface="Times New Roman" pitchFamily="34" charset="0"/>
                <a:ea typeface="Times New Roman" pitchFamily="34" charset="-122"/>
                <a:cs typeface="Times New Roman" pitchFamily="34" charset="-120"/>
              </a:rPr>
              <a:t>Reducer</a:t>
            </a:r>
            <a:endParaRPr lang="en-US" sz="1500" dirty="0"/>
          </a:p>
        </p:txBody>
      </p:sp>
      <p:sp>
        <p:nvSpPr>
          <p:cNvPr id="28" name="Text 26"/>
          <p:cNvSpPr/>
          <p:nvPr/>
        </p:nvSpPr>
        <p:spPr>
          <a:xfrm>
            <a:off x="8321040" y="2788920"/>
            <a:ext cx="2788920" cy="667512"/>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Cộng tổng amount theo từng category và ghi ra kết quả cuối.</a:t>
            </a:r>
            <a:endParaRPr lang="en-US" sz="1400" dirty="0"/>
          </a:p>
        </p:txBody>
      </p:sp>
      <p:sp>
        <p:nvSpPr>
          <p:cNvPr id="29" name="Shape 27"/>
          <p:cNvSpPr/>
          <p:nvPr/>
        </p:nvSpPr>
        <p:spPr>
          <a:xfrm>
            <a:off x="777240" y="4206240"/>
            <a:ext cx="10424160" cy="1417320"/>
          </a:xfrm>
          <a:prstGeom prst="roundRect">
            <a:avLst>
              <a:gd name="adj" fmla="val 1935"/>
            </a:avLst>
          </a:prstGeom>
          <a:solidFill>
            <a:srgbClr val="111827"/>
          </a:solidFill>
          <a:ln w="12700">
            <a:solidFill>
              <a:srgbClr val="111827"/>
            </a:solidFill>
            <a:prstDash val="solid"/>
          </a:ln>
        </p:spPr>
      </p:sp>
      <p:sp>
        <p:nvSpPr>
          <p:cNvPr id="30" name="Text 28"/>
          <p:cNvSpPr/>
          <p:nvPr/>
        </p:nvSpPr>
        <p:spPr>
          <a:xfrm>
            <a:off x="886968" y="4315968"/>
            <a:ext cx="10204704" cy="1197864"/>
          </a:xfrm>
          <a:prstGeom prst="rect">
            <a:avLst/>
          </a:prstGeom>
          <a:noFill/>
          <a:ln/>
        </p:spPr>
        <p:txBody>
          <a:bodyPr wrap="square" lIns="254" tIns="254" rIns="254" bIns="254" rtlCol="0" anchor="ctr">
            <a:normAutofit fontScale="92500" lnSpcReduction="20000"/>
          </a:bodyPr>
          <a:lstStyle/>
          <a:p>
            <a:pPr marL="0" indent="0">
              <a:buNone/>
            </a:pPr>
            <a:r>
              <a:rPr lang="en-US" sz="1040" dirty="0">
                <a:solidFill>
                  <a:srgbClr val="FFFFFF"/>
                </a:solidFill>
                <a:latin typeface="Courier New" pitchFamily="34" charset="0"/>
                <a:ea typeface="Courier New" pitchFamily="34" charset="-122"/>
                <a:cs typeface="Courier New" pitchFamily="34" charset="-120"/>
              </a:rPr>
              <a:t>Ví dụ luồng key–value:</a:t>
            </a:r>
            <a:endParaRPr lang="en-US" sz="1040" dirty="0"/>
          </a:p>
          <a:p>
            <a:pPr marL="0" indent="0">
              <a:buNone/>
            </a:pP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Electronics    3400000</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Fashion         520000</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Electronics    2500000</a:t>
            </a:r>
            <a:endParaRPr lang="en-US" sz="1040" dirty="0"/>
          </a:p>
          <a:p>
            <a:pPr marL="0" indent="0">
              <a:buNone/>
            </a:pP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=&gt; Reducer:</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Electronics    5900000</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Fashion         520000</a:t>
            </a:r>
            <a:endParaRPr lang="en-US" sz="104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222A68"/>
          </a:solidFill>
          <a:ln w="12700">
            <a:solidFill>
              <a:srgbClr val="222A68"/>
            </a:solidFill>
            <a:prstDash val="solid"/>
          </a:ln>
        </p:spPr>
      </p:sp>
      <p:sp>
        <p:nvSpPr>
          <p:cNvPr id="3" name="Text 1"/>
          <p:cNvSpPr/>
          <p:nvPr/>
        </p:nvSpPr>
        <p:spPr>
          <a:xfrm>
            <a:off x="438912" y="310896"/>
            <a:ext cx="10424160" cy="475488"/>
          </a:xfrm>
          <a:prstGeom prst="rect">
            <a:avLst/>
          </a:prstGeom>
          <a:noFill/>
          <a:ln/>
        </p:spPr>
        <p:txBody>
          <a:bodyPr wrap="square" lIns="0" tIns="0" rIns="0" bIns="0" rtlCol="0" anchor="ctr"/>
          <a:lstStyle/>
          <a:p>
            <a:pPr marL="0" indent="0">
              <a:buNone/>
            </a:pPr>
            <a:r>
              <a:rPr lang="en-US" sz="2200" b="1" dirty="0">
                <a:solidFill>
                  <a:srgbClr val="222A68"/>
                </a:solidFill>
                <a:latin typeface="Times New Roman" pitchFamily="34" charset="0"/>
                <a:ea typeface="Times New Roman" pitchFamily="34" charset="-122"/>
                <a:cs typeface="Times New Roman" pitchFamily="34" charset="-120"/>
              </a:rPr>
              <a:t>8. Bước 3 – Chạy Hadoop Streaming</a:t>
            </a:r>
            <a:endParaRPr lang="en-US" sz="2200" dirty="0"/>
          </a:p>
        </p:txBody>
      </p:sp>
      <p:sp>
        <p:nvSpPr>
          <p:cNvPr id="4" name="Shape 2"/>
          <p:cNvSpPr/>
          <p:nvPr/>
        </p:nvSpPr>
        <p:spPr>
          <a:xfrm>
            <a:off x="438912" y="868680"/>
            <a:ext cx="11292840" cy="0"/>
          </a:xfrm>
          <a:prstGeom prst="line">
            <a:avLst/>
          </a:prstGeom>
          <a:noFill/>
          <a:ln w="15240">
            <a:solidFill>
              <a:srgbClr val="D83A6C"/>
            </a:solidFill>
            <a:prstDash val="solid"/>
          </a:ln>
        </p:spPr>
      </p:sp>
      <p:sp>
        <p:nvSpPr>
          <p:cNvPr id="5" name="Text 3"/>
          <p:cNvSpPr/>
          <p:nvPr/>
        </p:nvSpPr>
        <p:spPr>
          <a:xfrm>
            <a:off x="11475720" y="6446520"/>
            <a:ext cx="320040" cy="201168"/>
          </a:xfrm>
          <a:prstGeom prst="rect">
            <a:avLst/>
          </a:prstGeom>
          <a:noFill/>
          <a:ln/>
        </p:spPr>
        <p:txBody>
          <a:bodyPr wrap="square" lIns="0" tIns="0" rIns="0" bIns="0" rtlCol="0" anchor="ctr"/>
          <a:lstStyle/>
          <a:p>
            <a:pPr marL="0" indent="0" algn="ctr">
              <a:buNone/>
            </a:pPr>
            <a:r>
              <a:rPr lang="en-US" sz="900" dirty="0">
                <a:solidFill>
                  <a:srgbClr val="666666"/>
                </a:solidFill>
                <a:latin typeface="Times New Roman" pitchFamily="34" charset="0"/>
                <a:ea typeface="Times New Roman" pitchFamily="34" charset="-122"/>
                <a:cs typeface="Times New Roman" pitchFamily="34" charset="-120"/>
              </a:rPr>
              <a:t>9</a:t>
            </a:r>
            <a:endParaRPr lang="en-US" sz="900" dirty="0"/>
          </a:p>
        </p:txBody>
      </p:sp>
      <p:sp>
        <p:nvSpPr>
          <p:cNvPr id="6" name="Shape 4"/>
          <p:cNvSpPr/>
          <p:nvPr/>
        </p:nvSpPr>
        <p:spPr>
          <a:xfrm>
            <a:off x="594360" y="1051560"/>
            <a:ext cx="5897880" cy="3931920"/>
          </a:xfrm>
          <a:prstGeom prst="roundRect">
            <a:avLst>
              <a:gd name="adj" fmla="val 698"/>
            </a:avLst>
          </a:prstGeom>
          <a:solidFill>
            <a:srgbClr val="111827"/>
          </a:solidFill>
          <a:ln w="12700">
            <a:solidFill>
              <a:srgbClr val="111827"/>
            </a:solidFill>
            <a:prstDash val="solid"/>
          </a:ln>
        </p:spPr>
      </p:sp>
      <p:sp>
        <p:nvSpPr>
          <p:cNvPr id="7" name="Text 5"/>
          <p:cNvSpPr/>
          <p:nvPr/>
        </p:nvSpPr>
        <p:spPr>
          <a:xfrm>
            <a:off x="704088" y="1161288"/>
            <a:ext cx="5678424" cy="3712464"/>
          </a:xfrm>
          <a:prstGeom prst="rect">
            <a:avLst/>
          </a:prstGeom>
          <a:noFill/>
          <a:ln/>
        </p:spPr>
        <p:txBody>
          <a:bodyPr wrap="square" lIns="254" tIns="254" rIns="254" bIns="254" rtlCol="0" anchor="ctr">
            <a:normAutofit/>
          </a:bodyPr>
          <a:lstStyle/>
          <a:p>
            <a:pPr marL="0" indent="0">
              <a:buNone/>
            </a:pPr>
            <a:r>
              <a:rPr lang="en-US" sz="1040" dirty="0">
                <a:solidFill>
                  <a:srgbClr val="FFFFFF"/>
                </a:solidFill>
                <a:latin typeface="Courier New" pitchFamily="34" charset="0"/>
                <a:ea typeface="Courier New" pitchFamily="34" charset="-122"/>
                <a:cs typeface="Courier New" pitchFamily="34" charset="-120"/>
              </a:rPr>
              <a:t>chmod +x mapper_revenue.py reducer_revenue.py</a:t>
            </a:r>
            <a:endParaRPr lang="en-US" sz="1040" dirty="0"/>
          </a:p>
          <a:p>
            <a:pPr marL="0" indent="0">
              <a:buNone/>
            </a:pP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hadoop fs -rm -r -f /user/student/ecommerce/output/revenue_by_category</a:t>
            </a:r>
            <a:endParaRPr lang="en-US" sz="1040" dirty="0"/>
          </a:p>
          <a:p>
            <a:pPr marL="0" indent="0">
              <a:buNone/>
            </a:pP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hadoop jar $HADOOP_HOME/share/hadoop/tools/lib/hadoop-streaming*.jar \</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  -files mapper_revenue.py,reducer_revenue.py \</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  -mapper mapper_revenue.py \</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  -reducer reducer_revenue.py \</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  -input /user/student/ecommerce/input/orders_2026_09.csv \</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  -output /user/student/ecommerce/output/revenue_by_category</a:t>
            </a:r>
            <a:endParaRPr lang="en-US" sz="1040" dirty="0"/>
          </a:p>
        </p:txBody>
      </p:sp>
      <p:pic>
        <p:nvPicPr>
          <p:cNvPr id="8" name="Image 0" descr="/mnt/data/hadoop_lab_page_18.png"/>
          <p:cNvPicPr>
            <a:picLocks noChangeAspect="1"/>
          </p:cNvPicPr>
          <p:nvPr/>
        </p:nvPicPr>
        <p:blipFill>
          <a:blip r:embed="rId3"/>
          <a:srcRect l="8252" r="8252"/>
          <a:stretch/>
        </p:blipFill>
        <p:spPr>
          <a:xfrm>
            <a:off x="6903720" y="1051560"/>
            <a:ext cx="4343400" cy="2926080"/>
          </a:xfrm>
          <a:prstGeom prst="rect">
            <a:avLst/>
          </a:prstGeom>
        </p:spPr>
      </p:pic>
      <p:sp>
        <p:nvSpPr>
          <p:cNvPr id="9" name="Text 6"/>
          <p:cNvSpPr/>
          <p:nvPr/>
        </p:nvSpPr>
        <p:spPr>
          <a:xfrm>
            <a:off x="6903720" y="4206240"/>
            <a:ext cx="4343400" cy="868680"/>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Nếu môi trường dùng đường dẫn streaming jar khác, sinh viên có thể tìm bằng lệnh: find $HADOOP_HOME -name "*streaming*.jar". Ý nghĩa cốt lõi không đổi: chỉ định mapper, reducer, input và output.</a:t>
            </a:r>
            <a:endParaRPr lang="en-US" sz="1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222A68"/>
          </a:solidFill>
          <a:ln w="12700">
            <a:solidFill>
              <a:srgbClr val="222A68"/>
            </a:solidFill>
            <a:prstDash val="solid"/>
          </a:ln>
        </p:spPr>
      </p:sp>
      <p:sp>
        <p:nvSpPr>
          <p:cNvPr id="3" name="Text 1"/>
          <p:cNvSpPr/>
          <p:nvPr/>
        </p:nvSpPr>
        <p:spPr>
          <a:xfrm>
            <a:off x="438912" y="310896"/>
            <a:ext cx="10424160" cy="475488"/>
          </a:xfrm>
          <a:prstGeom prst="rect">
            <a:avLst/>
          </a:prstGeom>
          <a:noFill/>
          <a:ln/>
        </p:spPr>
        <p:txBody>
          <a:bodyPr wrap="square" lIns="0" tIns="0" rIns="0" bIns="0" rtlCol="0" anchor="ctr"/>
          <a:lstStyle/>
          <a:p>
            <a:pPr marL="0" indent="0">
              <a:buNone/>
            </a:pPr>
            <a:r>
              <a:rPr lang="en-US" sz="2200" b="1" dirty="0">
                <a:solidFill>
                  <a:srgbClr val="222A68"/>
                </a:solidFill>
                <a:latin typeface="Times New Roman" pitchFamily="34" charset="0"/>
                <a:ea typeface="Times New Roman" pitchFamily="34" charset="-122"/>
                <a:cs typeface="Times New Roman" pitchFamily="34" charset="-120"/>
              </a:rPr>
              <a:t>9. Bước 4 – Kiểm tra và tải kết quả</a:t>
            </a:r>
            <a:endParaRPr lang="en-US" sz="2200" dirty="0"/>
          </a:p>
        </p:txBody>
      </p:sp>
      <p:sp>
        <p:nvSpPr>
          <p:cNvPr id="4" name="Shape 2"/>
          <p:cNvSpPr/>
          <p:nvPr/>
        </p:nvSpPr>
        <p:spPr>
          <a:xfrm>
            <a:off x="438912" y="868680"/>
            <a:ext cx="11292840" cy="0"/>
          </a:xfrm>
          <a:prstGeom prst="line">
            <a:avLst/>
          </a:prstGeom>
          <a:noFill/>
          <a:ln w="15240">
            <a:solidFill>
              <a:srgbClr val="D83A6C"/>
            </a:solidFill>
            <a:prstDash val="solid"/>
          </a:ln>
        </p:spPr>
      </p:sp>
      <p:sp>
        <p:nvSpPr>
          <p:cNvPr id="5" name="Text 3"/>
          <p:cNvSpPr/>
          <p:nvPr/>
        </p:nvSpPr>
        <p:spPr>
          <a:xfrm>
            <a:off x="11475720" y="6446520"/>
            <a:ext cx="320040" cy="201168"/>
          </a:xfrm>
          <a:prstGeom prst="rect">
            <a:avLst/>
          </a:prstGeom>
          <a:noFill/>
          <a:ln/>
        </p:spPr>
        <p:txBody>
          <a:bodyPr wrap="square" lIns="0" tIns="0" rIns="0" bIns="0" rtlCol="0" anchor="ctr"/>
          <a:lstStyle/>
          <a:p>
            <a:pPr marL="0" indent="0" algn="ctr">
              <a:buNone/>
            </a:pPr>
            <a:r>
              <a:rPr lang="en-US" sz="900" dirty="0">
                <a:solidFill>
                  <a:srgbClr val="666666"/>
                </a:solidFill>
                <a:latin typeface="Times New Roman" pitchFamily="34" charset="0"/>
                <a:ea typeface="Times New Roman" pitchFamily="34" charset="-122"/>
                <a:cs typeface="Times New Roman" pitchFamily="34" charset="-120"/>
              </a:rPr>
              <a:t>10</a:t>
            </a:r>
            <a:endParaRPr lang="en-US" sz="900" dirty="0"/>
          </a:p>
        </p:txBody>
      </p:sp>
      <p:sp>
        <p:nvSpPr>
          <p:cNvPr id="6" name="Shape 4"/>
          <p:cNvSpPr/>
          <p:nvPr/>
        </p:nvSpPr>
        <p:spPr>
          <a:xfrm>
            <a:off x="594360" y="1051560"/>
            <a:ext cx="5897880" cy="2560320"/>
          </a:xfrm>
          <a:prstGeom prst="roundRect">
            <a:avLst>
              <a:gd name="adj" fmla="val 1071"/>
            </a:avLst>
          </a:prstGeom>
          <a:solidFill>
            <a:srgbClr val="111827"/>
          </a:solidFill>
          <a:ln w="12700">
            <a:solidFill>
              <a:srgbClr val="111827"/>
            </a:solidFill>
            <a:prstDash val="solid"/>
          </a:ln>
        </p:spPr>
      </p:sp>
      <p:sp>
        <p:nvSpPr>
          <p:cNvPr id="7" name="Text 5"/>
          <p:cNvSpPr/>
          <p:nvPr/>
        </p:nvSpPr>
        <p:spPr>
          <a:xfrm>
            <a:off x="704088" y="1161288"/>
            <a:ext cx="5678424" cy="2340864"/>
          </a:xfrm>
          <a:prstGeom prst="rect">
            <a:avLst/>
          </a:prstGeom>
          <a:noFill/>
          <a:ln/>
        </p:spPr>
        <p:txBody>
          <a:bodyPr wrap="square" lIns="254" tIns="254" rIns="254" bIns="254" rtlCol="0" anchor="ctr">
            <a:normAutofit/>
          </a:bodyPr>
          <a:lstStyle/>
          <a:p>
            <a:pPr marL="0" indent="0">
              <a:buNone/>
            </a:pPr>
            <a:r>
              <a:rPr lang="en-US" sz="1040" dirty="0">
                <a:solidFill>
                  <a:srgbClr val="FFFFFF"/>
                </a:solidFill>
                <a:latin typeface="Courier New" pitchFamily="34" charset="0"/>
                <a:ea typeface="Courier New" pitchFamily="34" charset="-122"/>
                <a:cs typeface="Courier New" pitchFamily="34" charset="-120"/>
              </a:rPr>
              <a:t># Xem thư mục output</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hadoop fs -ls /user/student/ecommerce/output/revenue_by_category</a:t>
            </a:r>
            <a:endParaRPr lang="en-US" sz="1040" dirty="0"/>
          </a:p>
          <a:p>
            <a:pPr marL="0" indent="0">
              <a:buNone/>
            </a:pP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 Xem kết quả</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hadoop fs -cat /user/student/ecommerce/output/revenue_by_category/part-*</a:t>
            </a:r>
            <a:endParaRPr lang="en-US" sz="1040" dirty="0"/>
          </a:p>
          <a:p>
            <a:pPr marL="0" indent="0">
              <a:buNone/>
            </a:pP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 Tải kết quả về môi trường local của lab</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hadoop fs -get -f /user/student/ecommerce/output/revenue_by_category/part-* ./result_revenue_by_category.txt</a:t>
            </a:r>
            <a:endParaRPr lang="en-US" sz="1040" dirty="0"/>
          </a:p>
        </p:txBody>
      </p:sp>
      <p:sp>
        <p:nvSpPr>
          <p:cNvPr id="8" name="Shape 6"/>
          <p:cNvSpPr/>
          <p:nvPr/>
        </p:nvSpPr>
        <p:spPr>
          <a:xfrm>
            <a:off x="6812280" y="1051560"/>
            <a:ext cx="4480560" cy="2057400"/>
          </a:xfrm>
          <a:prstGeom prst="roundRect">
            <a:avLst>
              <a:gd name="adj" fmla="val 2667"/>
            </a:avLst>
          </a:prstGeom>
          <a:solidFill>
            <a:srgbClr val="FFFFFF"/>
          </a:solidFill>
          <a:ln w="13970">
            <a:solidFill>
              <a:srgbClr val="5B4AA0"/>
            </a:solidFill>
            <a:prstDash val="solid"/>
          </a:ln>
        </p:spPr>
      </p:sp>
      <p:sp>
        <p:nvSpPr>
          <p:cNvPr id="9" name="Text 7"/>
          <p:cNvSpPr/>
          <p:nvPr/>
        </p:nvSpPr>
        <p:spPr>
          <a:xfrm>
            <a:off x="6949440" y="1170432"/>
            <a:ext cx="4206240" cy="256032"/>
          </a:xfrm>
          <a:prstGeom prst="rect">
            <a:avLst/>
          </a:prstGeom>
          <a:noFill/>
          <a:ln/>
        </p:spPr>
        <p:txBody>
          <a:bodyPr wrap="square" lIns="0" tIns="0" rIns="0" bIns="0" rtlCol="0" anchor="ctr"/>
          <a:lstStyle/>
          <a:p>
            <a:pPr marL="0" indent="0">
              <a:buNone/>
            </a:pPr>
            <a:r>
              <a:rPr lang="en-US" sz="1500" b="1" dirty="0">
                <a:solidFill>
                  <a:srgbClr val="5B4AA0"/>
                </a:solidFill>
                <a:latin typeface="Times New Roman" pitchFamily="34" charset="0"/>
                <a:ea typeface="Times New Roman" pitchFamily="34" charset="-122"/>
                <a:cs typeface="Times New Roman" pitchFamily="34" charset="-120"/>
              </a:rPr>
              <a:t>Kết quả mong đợi</a:t>
            </a:r>
            <a:endParaRPr lang="en-US" sz="1500" dirty="0"/>
          </a:p>
        </p:txBody>
      </p:sp>
      <p:sp>
        <p:nvSpPr>
          <p:cNvPr id="10" name="Text 8"/>
          <p:cNvSpPr/>
          <p:nvPr/>
        </p:nvSpPr>
        <p:spPr>
          <a:xfrm>
            <a:off x="6949440" y="1508760"/>
            <a:ext cx="4206240" cy="1490472"/>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File kết quả có dạng:</a:t>
            </a:r>
            <a:endParaRPr lang="en-US" sz="1400" dirty="0"/>
          </a:p>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Book    123456789</a:t>
            </a:r>
            <a:endParaRPr lang="en-US" sz="1400" dirty="0"/>
          </a:p>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Electronics    987654321</a:t>
            </a:r>
            <a:endParaRPr lang="en-US" sz="1400" dirty="0"/>
          </a:p>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Fashion    456789123</a:t>
            </a:r>
            <a:endParaRPr lang="en-US" sz="1400" dirty="0"/>
          </a:p>
          <a:p>
            <a:pPr marL="0" indent="0" algn="just">
              <a:buNone/>
            </a:pPr>
            <a:endParaRPr lang="en-US" sz="1400" dirty="0"/>
          </a:p>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Thứ tự dòng có thể khác nhau tùy môi trường.</a:t>
            </a:r>
            <a:endParaRPr lang="en-US" sz="1400" dirty="0"/>
          </a:p>
        </p:txBody>
      </p:sp>
      <p:sp>
        <p:nvSpPr>
          <p:cNvPr id="11" name="Text 9"/>
          <p:cNvSpPr/>
          <p:nvPr/>
        </p:nvSpPr>
        <p:spPr>
          <a:xfrm>
            <a:off x="640080" y="3977640"/>
            <a:ext cx="5852160" cy="822960"/>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Sinh viên sắp xếp kết quả theo doanh thu giảm dần bằng spreadsheet, Python hoặc lệnh shell. Sau đó lập bảng Top 3 nhóm sản phẩm và nhận xét ngắn.</a:t>
            </a:r>
            <a:endParaRPr lang="en-US" sz="1400" dirty="0"/>
          </a:p>
        </p:txBody>
      </p:sp>
      <p:sp>
        <p:nvSpPr>
          <p:cNvPr id="12" name="Shape 10"/>
          <p:cNvSpPr/>
          <p:nvPr/>
        </p:nvSpPr>
        <p:spPr>
          <a:xfrm>
            <a:off x="6812280" y="3977640"/>
            <a:ext cx="4480560" cy="594360"/>
          </a:xfrm>
          <a:prstGeom prst="roundRect">
            <a:avLst>
              <a:gd name="adj" fmla="val 4615"/>
            </a:avLst>
          </a:prstGeom>
          <a:solidFill>
            <a:srgbClr val="111827"/>
          </a:solidFill>
          <a:ln w="12700">
            <a:solidFill>
              <a:srgbClr val="111827"/>
            </a:solidFill>
            <a:prstDash val="solid"/>
          </a:ln>
        </p:spPr>
      </p:sp>
      <p:sp>
        <p:nvSpPr>
          <p:cNvPr id="13" name="Text 11"/>
          <p:cNvSpPr/>
          <p:nvPr/>
        </p:nvSpPr>
        <p:spPr>
          <a:xfrm>
            <a:off x="6922008" y="4087368"/>
            <a:ext cx="4261104" cy="374904"/>
          </a:xfrm>
          <a:prstGeom prst="rect">
            <a:avLst/>
          </a:prstGeom>
          <a:noFill/>
          <a:ln/>
        </p:spPr>
        <p:txBody>
          <a:bodyPr wrap="square" lIns="254" tIns="254" rIns="254" bIns="254" rtlCol="0" anchor="ctr">
            <a:normAutofit/>
          </a:bodyPr>
          <a:lstStyle/>
          <a:p>
            <a:pPr marL="0" indent="0">
              <a:buNone/>
            </a:pPr>
            <a:r>
              <a:rPr lang="en-US" sz="1040" dirty="0">
                <a:solidFill>
                  <a:srgbClr val="FFFFFF"/>
                </a:solidFill>
                <a:latin typeface="Courier New" pitchFamily="34" charset="0"/>
                <a:ea typeface="Courier New" pitchFamily="34" charset="-122"/>
                <a:cs typeface="Courier New" pitchFamily="34" charset="-120"/>
              </a:rPr>
              <a:t>sort -k2 -nr result_revenue_by_category.txt | head -3</a:t>
            </a:r>
            <a:endParaRPr lang="en-US" sz="104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222A68"/>
          </a:solidFill>
          <a:ln w="12700">
            <a:solidFill>
              <a:srgbClr val="222A68"/>
            </a:solidFill>
            <a:prstDash val="solid"/>
          </a:ln>
        </p:spPr>
      </p:sp>
      <p:sp>
        <p:nvSpPr>
          <p:cNvPr id="3" name="Text 1"/>
          <p:cNvSpPr/>
          <p:nvPr/>
        </p:nvSpPr>
        <p:spPr>
          <a:xfrm>
            <a:off x="438912" y="310896"/>
            <a:ext cx="10424160" cy="475488"/>
          </a:xfrm>
          <a:prstGeom prst="rect">
            <a:avLst/>
          </a:prstGeom>
          <a:noFill/>
          <a:ln/>
        </p:spPr>
        <p:txBody>
          <a:bodyPr wrap="square" lIns="0" tIns="0" rIns="0" bIns="0" rtlCol="0" anchor="ctr"/>
          <a:lstStyle/>
          <a:p>
            <a:pPr marL="0" indent="0">
              <a:buNone/>
            </a:pPr>
            <a:r>
              <a:rPr lang="en-US" sz="2200" b="1" dirty="0">
                <a:solidFill>
                  <a:srgbClr val="222A68"/>
                </a:solidFill>
                <a:latin typeface="Times New Roman" pitchFamily="34" charset="0"/>
                <a:ea typeface="Times New Roman" pitchFamily="34" charset="-122"/>
                <a:cs typeface="Times New Roman" pitchFamily="34" charset="-120"/>
              </a:rPr>
              <a:t>10. Bước 5 – Quan sát job và liên hệ YARN</a:t>
            </a:r>
            <a:endParaRPr lang="en-US" sz="2200" dirty="0"/>
          </a:p>
        </p:txBody>
      </p:sp>
      <p:sp>
        <p:nvSpPr>
          <p:cNvPr id="4" name="Shape 2"/>
          <p:cNvSpPr/>
          <p:nvPr/>
        </p:nvSpPr>
        <p:spPr>
          <a:xfrm>
            <a:off x="438912" y="868680"/>
            <a:ext cx="11292840" cy="0"/>
          </a:xfrm>
          <a:prstGeom prst="line">
            <a:avLst/>
          </a:prstGeom>
          <a:noFill/>
          <a:ln w="15240">
            <a:solidFill>
              <a:srgbClr val="D83A6C"/>
            </a:solidFill>
            <a:prstDash val="solid"/>
          </a:ln>
        </p:spPr>
      </p:sp>
      <p:sp>
        <p:nvSpPr>
          <p:cNvPr id="5" name="Text 3"/>
          <p:cNvSpPr/>
          <p:nvPr/>
        </p:nvSpPr>
        <p:spPr>
          <a:xfrm>
            <a:off x="11475720" y="6446520"/>
            <a:ext cx="320040" cy="201168"/>
          </a:xfrm>
          <a:prstGeom prst="rect">
            <a:avLst/>
          </a:prstGeom>
          <a:noFill/>
          <a:ln/>
        </p:spPr>
        <p:txBody>
          <a:bodyPr wrap="square" lIns="0" tIns="0" rIns="0" bIns="0" rtlCol="0" anchor="ctr"/>
          <a:lstStyle/>
          <a:p>
            <a:pPr marL="0" indent="0" algn="ctr">
              <a:buNone/>
            </a:pPr>
            <a:r>
              <a:rPr lang="en-US" sz="900" dirty="0">
                <a:solidFill>
                  <a:srgbClr val="666666"/>
                </a:solidFill>
                <a:latin typeface="Times New Roman" pitchFamily="34" charset="0"/>
                <a:ea typeface="Times New Roman" pitchFamily="34" charset="-122"/>
                <a:cs typeface="Times New Roman" pitchFamily="34" charset="-120"/>
              </a:rPr>
              <a:t>11</a:t>
            </a:r>
            <a:endParaRPr lang="en-US" sz="900" dirty="0"/>
          </a:p>
        </p:txBody>
      </p:sp>
      <p:pic>
        <p:nvPicPr>
          <p:cNvPr id="6" name="Image 0" descr="/mnt/data/hadoop_lab_page_19.png"/>
          <p:cNvPicPr>
            <a:picLocks noChangeAspect="1"/>
          </p:cNvPicPr>
          <p:nvPr/>
        </p:nvPicPr>
        <p:blipFill>
          <a:blip r:embed="rId3"/>
          <a:srcRect l="6641" r="6641"/>
          <a:stretch/>
        </p:blipFill>
        <p:spPr>
          <a:xfrm>
            <a:off x="640080" y="1051560"/>
            <a:ext cx="5074920" cy="3291840"/>
          </a:xfrm>
          <a:prstGeom prst="rect">
            <a:avLst/>
          </a:prstGeom>
        </p:spPr>
      </p:pic>
      <p:sp>
        <p:nvSpPr>
          <p:cNvPr id="7" name="Shape 4"/>
          <p:cNvSpPr/>
          <p:nvPr/>
        </p:nvSpPr>
        <p:spPr>
          <a:xfrm>
            <a:off x="6172200" y="1051560"/>
            <a:ext cx="5349240" cy="1417320"/>
          </a:xfrm>
          <a:prstGeom prst="roundRect">
            <a:avLst>
              <a:gd name="adj" fmla="val 3871"/>
            </a:avLst>
          </a:prstGeom>
          <a:solidFill>
            <a:srgbClr val="FFFFFF"/>
          </a:solidFill>
          <a:ln w="13970">
            <a:solidFill>
              <a:srgbClr val="222A68"/>
            </a:solidFill>
            <a:prstDash val="solid"/>
          </a:ln>
        </p:spPr>
      </p:sp>
      <p:sp>
        <p:nvSpPr>
          <p:cNvPr id="8" name="Text 5"/>
          <p:cNvSpPr/>
          <p:nvPr/>
        </p:nvSpPr>
        <p:spPr>
          <a:xfrm>
            <a:off x="6309360" y="1170432"/>
            <a:ext cx="5074920" cy="256032"/>
          </a:xfrm>
          <a:prstGeom prst="rect">
            <a:avLst/>
          </a:prstGeom>
          <a:noFill/>
          <a:ln/>
        </p:spPr>
        <p:txBody>
          <a:bodyPr wrap="square" lIns="0" tIns="0" rIns="0" bIns="0" rtlCol="0" anchor="ctr"/>
          <a:lstStyle/>
          <a:p>
            <a:pPr marL="0" indent="0">
              <a:buNone/>
            </a:pPr>
            <a:r>
              <a:rPr lang="en-US" sz="1500" b="1" dirty="0">
                <a:solidFill>
                  <a:srgbClr val="222A68"/>
                </a:solidFill>
                <a:latin typeface="Times New Roman" pitchFamily="34" charset="0"/>
                <a:ea typeface="Times New Roman" pitchFamily="34" charset="-122"/>
                <a:cs typeface="Times New Roman" pitchFamily="34" charset="-120"/>
              </a:rPr>
              <a:t>Cần quan sát</a:t>
            </a:r>
            <a:endParaRPr lang="en-US" sz="1500" dirty="0"/>
          </a:p>
        </p:txBody>
      </p:sp>
      <p:sp>
        <p:nvSpPr>
          <p:cNvPr id="9" name="Text 6"/>
          <p:cNvSpPr/>
          <p:nvPr/>
        </p:nvSpPr>
        <p:spPr>
          <a:xfrm>
            <a:off x="6309360" y="1508760"/>
            <a:ext cx="5074920" cy="850392"/>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Khi job chạy, Hadoop/YARN cấp tài nguyên để thực hiện các tác vụ mapper và reducer. Nếu môi trường có giao diện ResourceManager, sinh viên chụp màn hình trạng thái job.</a:t>
            </a:r>
            <a:endParaRPr lang="en-US" sz="1400" dirty="0"/>
          </a:p>
        </p:txBody>
      </p:sp>
      <p:sp>
        <p:nvSpPr>
          <p:cNvPr id="10" name="Shape 7"/>
          <p:cNvSpPr/>
          <p:nvPr/>
        </p:nvSpPr>
        <p:spPr>
          <a:xfrm>
            <a:off x="6172200" y="2834640"/>
            <a:ext cx="5349240" cy="1325880"/>
          </a:xfrm>
          <a:prstGeom prst="roundRect">
            <a:avLst>
              <a:gd name="adj" fmla="val 2069"/>
            </a:avLst>
          </a:prstGeom>
          <a:solidFill>
            <a:srgbClr val="111827"/>
          </a:solidFill>
          <a:ln w="12700">
            <a:solidFill>
              <a:srgbClr val="111827"/>
            </a:solidFill>
            <a:prstDash val="solid"/>
          </a:ln>
        </p:spPr>
      </p:sp>
      <p:sp>
        <p:nvSpPr>
          <p:cNvPr id="11" name="Text 8"/>
          <p:cNvSpPr/>
          <p:nvPr/>
        </p:nvSpPr>
        <p:spPr>
          <a:xfrm>
            <a:off x="6281928" y="2944368"/>
            <a:ext cx="5129784" cy="1106424"/>
          </a:xfrm>
          <a:prstGeom prst="rect">
            <a:avLst/>
          </a:prstGeom>
          <a:noFill/>
          <a:ln/>
        </p:spPr>
        <p:txBody>
          <a:bodyPr wrap="square" lIns="254" tIns="254" rIns="254" bIns="254" rtlCol="0" anchor="ctr">
            <a:normAutofit/>
          </a:bodyPr>
          <a:lstStyle/>
          <a:p>
            <a:pPr marL="0" indent="0">
              <a:buNone/>
            </a:pPr>
            <a:r>
              <a:rPr lang="en-US" sz="1040" dirty="0">
                <a:solidFill>
                  <a:srgbClr val="FFFFFF"/>
                </a:solidFill>
                <a:latin typeface="Courier New" pitchFamily="34" charset="0"/>
                <a:ea typeface="Courier New" pitchFamily="34" charset="-122"/>
                <a:cs typeface="Courier New" pitchFamily="34" charset="-120"/>
              </a:rPr>
              <a:t># Một số lệnh kiểm tra nếu môi trường hỗ trợ</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yarn application -list</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yarn application -status &lt;application_id&gt;</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yarn logs -applicationId &lt;application_id&gt;</a:t>
            </a:r>
            <a:endParaRPr lang="en-US" sz="1040" dirty="0"/>
          </a:p>
        </p:txBody>
      </p:sp>
      <p:sp>
        <p:nvSpPr>
          <p:cNvPr id="12" name="Text 9"/>
          <p:cNvSpPr/>
          <p:nvPr/>
        </p:nvSpPr>
        <p:spPr>
          <a:xfrm>
            <a:off x="6172200" y="4617720"/>
            <a:ext cx="5349240" cy="731520"/>
          </a:xfrm>
          <a:prstGeom prst="rect">
            <a:avLst/>
          </a:prstGeom>
          <a:noFill/>
          <a:ln/>
        </p:spPr>
        <p:txBody>
          <a:bodyPr wrap="square" lIns="762" tIns="762" rIns="762" bIns="762" rtlCol="0" anchor="t">
            <a:normAutofit/>
          </a:bodyPr>
          <a:lstStyle/>
          <a:p>
            <a:pPr marL="0" indent="0" algn="just">
              <a:buNone/>
            </a:pPr>
            <a:r>
              <a:rPr lang="en-US" sz="1400" b="1" dirty="0">
                <a:solidFill>
                  <a:srgbClr val="D83A6C"/>
                </a:solidFill>
                <a:latin typeface="Times New Roman" pitchFamily="34" charset="0"/>
                <a:ea typeface="Times New Roman" pitchFamily="34" charset="-122"/>
                <a:cs typeface="Times New Roman" pitchFamily="34" charset="-120"/>
              </a:rPr>
              <a:t>Liên hệ bài học: MapReduce job được chia thành các task độc lập, giảm phụ thuộc giữa các node và giúp hệ thống dễ mở rộng, dễ phục hồi khi có lỗi.</a:t>
            </a:r>
            <a:endParaRPr lang="en-US" sz="1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222A68"/>
          </a:solidFill>
          <a:ln w="12700">
            <a:solidFill>
              <a:srgbClr val="222A68"/>
            </a:solidFill>
            <a:prstDash val="solid"/>
          </a:ln>
        </p:spPr>
      </p:sp>
      <p:sp>
        <p:nvSpPr>
          <p:cNvPr id="3" name="Text 1"/>
          <p:cNvSpPr/>
          <p:nvPr/>
        </p:nvSpPr>
        <p:spPr>
          <a:xfrm>
            <a:off x="438912" y="310896"/>
            <a:ext cx="10424160" cy="475488"/>
          </a:xfrm>
          <a:prstGeom prst="rect">
            <a:avLst/>
          </a:prstGeom>
          <a:noFill/>
          <a:ln/>
        </p:spPr>
        <p:txBody>
          <a:bodyPr wrap="square" lIns="0" tIns="0" rIns="0" bIns="0" rtlCol="0" anchor="ctr"/>
          <a:lstStyle/>
          <a:p>
            <a:pPr marL="0" indent="0">
              <a:buNone/>
            </a:pPr>
            <a:r>
              <a:rPr lang="en-US" sz="2200" b="1" dirty="0">
                <a:solidFill>
                  <a:srgbClr val="222A68"/>
                </a:solidFill>
                <a:latin typeface="Times New Roman" pitchFamily="34" charset="0"/>
                <a:ea typeface="Times New Roman" pitchFamily="34" charset="-122"/>
                <a:cs typeface="Times New Roman" pitchFamily="34" charset="-120"/>
              </a:rPr>
              <a:t>11. Mẫu báo cáo kết quả</a:t>
            </a:r>
            <a:endParaRPr lang="en-US" sz="2200" dirty="0"/>
          </a:p>
        </p:txBody>
      </p:sp>
      <p:sp>
        <p:nvSpPr>
          <p:cNvPr id="4" name="Shape 2"/>
          <p:cNvSpPr/>
          <p:nvPr/>
        </p:nvSpPr>
        <p:spPr>
          <a:xfrm>
            <a:off x="438912" y="868680"/>
            <a:ext cx="11292840" cy="0"/>
          </a:xfrm>
          <a:prstGeom prst="line">
            <a:avLst/>
          </a:prstGeom>
          <a:noFill/>
          <a:ln w="15240">
            <a:solidFill>
              <a:srgbClr val="D83A6C"/>
            </a:solidFill>
            <a:prstDash val="solid"/>
          </a:ln>
        </p:spPr>
      </p:sp>
      <p:sp>
        <p:nvSpPr>
          <p:cNvPr id="5" name="Text 3"/>
          <p:cNvSpPr/>
          <p:nvPr/>
        </p:nvSpPr>
        <p:spPr>
          <a:xfrm>
            <a:off x="11475720" y="6446520"/>
            <a:ext cx="320040" cy="201168"/>
          </a:xfrm>
          <a:prstGeom prst="rect">
            <a:avLst/>
          </a:prstGeom>
          <a:noFill/>
          <a:ln/>
        </p:spPr>
        <p:txBody>
          <a:bodyPr wrap="square" lIns="0" tIns="0" rIns="0" bIns="0" rtlCol="0" anchor="ctr"/>
          <a:lstStyle/>
          <a:p>
            <a:pPr marL="0" indent="0" algn="ctr">
              <a:buNone/>
            </a:pPr>
            <a:r>
              <a:rPr lang="en-US" sz="900" dirty="0">
                <a:solidFill>
                  <a:srgbClr val="666666"/>
                </a:solidFill>
                <a:latin typeface="Times New Roman" pitchFamily="34" charset="0"/>
                <a:ea typeface="Times New Roman" pitchFamily="34" charset="-122"/>
                <a:cs typeface="Times New Roman" pitchFamily="34" charset="-120"/>
              </a:rPr>
              <a:t>12</a:t>
            </a:r>
            <a:endParaRPr lang="en-US" sz="900" dirty="0"/>
          </a:p>
        </p:txBody>
      </p:sp>
      <p:sp>
        <p:nvSpPr>
          <p:cNvPr id="6" name="Shape 4"/>
          <p:cNvSpPr/>
          <p:nvPr/>
        </p:nvSpPr>
        <p:spPr>
          <a:xfrm>
            <a:off x="777240" y="1143000"/>
            <a:ext cx="731520" cy="365760"/>
          </a:xfrm>
          <a:prstGeom prst="rect">
            <a:avLst/>
          </a:prstGeom>
          <a:solidFill>
            <a:srgbClr val="222A68"/>
          </a:solidFill>
          <a:ln w="7620">
            <a:solidFill>
              <a:srgbClr val="A9B0C4"/>
            </a:solidFill>
            <a:prstDash val="solid"/>
          </a:ln>
        </p:spPr>
      </p:sp>
      <p:sp>
        <p:nvSpPr>
          <p:cNvPr id="7" name="Text 5"/>
          <p:cNvSpPr/>
          <p:nvPr/>
        </p:nvSpPr>
        <p:spPr>
          <a:xfrm>
            <a:off x="832104" y="1216152"/>
            <a:ext cx="621792" cy="256032"/>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Hạng</a:t>
            </a:r>
            <a:endParaRPr lang="en-US" sz="1300" dirty="0"/>
          </a:p>
        </p:txBody>
      </p:sp>
      <p:sp>
        <p:nvSpPr>
          <p:cNvPr id="8" name="Shape 6"/>
          <p:cNvSpPr/>
          <p:nvPr/>
        </p:nvSpPr>
        <p:spPr>
          <a:xfrm>
            <a:off x="1508760" y="1143000"/>
            <a:ext cx="2194560" cy="365760"/>
          </a:xfrm>
          <a:prstGeom prst="rect">
            <a:avLst/>
          </a:prstGeom>
          <a:solidFill>
            <a:srgbClr val="222A68"/>
          </a:solidFill>
          <a:ln w="7620">
            <a:solidFill>
              <a:srgbClr val="A9B0C4"/>
            </a:solidFill>
            <a:prstDash val="solid"/>
          </a:ln>
        </p:spPr>
      </p:sp>
      <p:sp>
        <p:nvSpPr>
          <p:cNvPr id="9" name="Text 7"/>
          <p:cNvSpPr/>
          <p:nvPr/>
        </p:nvSpPr>
        <p:spPr>
          <a:xfrm>
            <a:off x="1563624" y="1216152"/>
            <a:ext cx="2084832" cy="256032"/>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Category</a:t>
            </a:r>
            <a:endParaRPr lang="en-US" sz="1300" dirty="0"/>
          </a:p>
        </p:txBody>
      </p:sp>
      <p:sp>
        <p:nvSpPr>
          <p:cNvPr id="10" name="Shape 8"/>
          <p:cNvSpPr/>
          <p:nvPr/>
        </p:nvSpPr>
        <p:spPr>
          <a:xfrm>
            <a:off x="3703320" y="1143000"/>
            <a:ext cx="2011680" cy="365760"/>
          </a:xfrm>
          <a:prstGeom prst="rect">
            <a:avLst/>
          </a:prstGeom>
          <a:solidFill>
            <a:srgbClr val="222A68"/>
          </a:solidFill>
          <a:ln w="7620">
            <a:solidFill>
              <a:srgbClr val="A9B0C4"/>
            </a:solidFill>
            <a:prstDash val="solid"/>
          </a:ln>
        </p:spPr>
      </p:sp>
      <p:sp>
        <p:nvSpPr>
          <p:cNvPr id="11" name="Text 9"/>
          <p:cNvSpPr/>
          <p:nvPr/>
        </p:nvSpPr>
        <p:spPr>
          <a:xfrm>
            <a:off x="3758184" y="1216152"/>
            <a:ext cx="1901952" cy="256032"/>
          </a:xfrm>
          <a:prstGeom prst="rect">
            <a:avLst/>
          </a:prstGeom>
          <a:noFill/>
          <a:ln/>
        </p:spPr>
        <p:txBody>
          <a:bodyPr wrap="square" lIns="0" tIns="0" rIns="0" bIns="0" rtlCol="0" anchor="ctr">
            <a:normAutofit/>
          </a:bodyP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Doanh thu</a:t>
            </a:r>
            <a:endParaRPr lang="en-US" sz="1300" dirty="0"/>
          </a:p>
        </p:txBody>
      </p:sp>
      <p:sp>
        <p:nvSpPr>
          <p:cNvPr id="12" name="Shape 10"/>
          <p:cNvSpPr/>
          <p:nvPr/>
        </p:nvSpPr>
        <p:spPr>
          <a:xfrm>
            <a:off x="5715000" y="1143000"/>
            <a:ext cx="5760720" cy="365760"/>
          </a:xfrm>
          <a:prstGeom prst="rect">
            <a:avLst/>
          </a:prstGeom>
          <a:solidFill>
            <a:srgbClr val="222A68"/>
          </a:solidFill>
          <a:ln w="7620">
            <a:solidFill>
              <a:srgbClr val="A9B0C4"/>
            </a:solidFill>
            <a:prstDash val="solid"/>
          </a:ln>
        </p:spPr>
      </p:sp>
      <p:sp>
        <p:nvSpPr>
          <p:cNvPr id="13" name="Text 11"/>
          <p:cNvSpPr/>
          <p:nvPr/>
        </p:nvSpPr>
        <p:spPr>
          <a:xfrm>
            <a:off x="5769864" y="1216152"/>
            <a:ext cx="5650992" cy="256032"/>
          </a:xfrm>
          <a:prstGeom prst="rect">
            <a:avLst/>
          </a:prstGeom>
          <a:noFill/>
          <a:ln/>
        </p:spPr>
        <p:txBody>
          <a:bodyPr wrap="square" lIns="0" tIns="0" rIns="0" bIns="0" rtlCol="0" anchor="ctr">
            <a:normAutofit/>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Nhận xét</a:t>
            </a:r>
            <a:endParaRPr lang="en-US" sz="1300" dirty="0"/>
          </a:p>
        </p:txBody>
      </p:sp>
      <p:sp>
        <p:nvSpPr>
          <p:cNvPr id="14" name="Shape 12"/>
          <p:cNvSpPr/>
          <p:nvPr/>
        </p:nvSpPr>
        <p:spPr>
          <a:xfrm>
            <a:off x="777240" y="1508760"/>
            <a:ext cx="731520" cy="411480"/>
          </a:xfrm>
          <a:prstGeom prst="rect">
            <a:avLst/>
          </a:prstGeom>
          <a:solidFill>
            <a:srgbClr val="FFFFFF"/>
          </a:solidFill>
          <a:ln w="7620">
            <a:solidFill>
              <a:srgbClr val="A9B0C4"/>
            </a:solidFill>
            <a:prstDash val="solid"/>
          </a:ln>
        </p:spPr>
      </p:sp>
      <p:sp>
        <p:nvSpPr>
          <p:cNvPr id="15" name="Text 13"/>
          <p:cNvSpPr/>
          <p:nvPr/>
        </p:nvSpPr>
        <p:spPr>
          <a:xfrm>
            <a:off x="832104" y="1581912"/>
            <a:ext cx="621792" cy="301752"/>
          </a:xfrm>
          <a:prstGeom prst="rect">
            <a:avLst/>
          </a:prstGeom>
          <a:noFill/>
          <a:ln/>
        </p:spPr>
        <p:txBody>
          <a:bodyPr wrap="square" lIns="0" tIns="0" rIns="0" bIns="0" rtlCol="0" anchor="ctr">
            <a:normAutofit/>
          </a:bodyPr>
          <a:lstStyle/>
          <a:p>
            <a:pPr marL="0" indent="0" algn="ctr">
              <a:buNone/>
            </a:pPr>
            <a:r>
              <a:rPr lang="en-US" sz="1300" dirty="0">
                <a:solidFill>
                  <a:srgbClr val="1F2430"/>
                </a:solidFill>
                <a:latin typeface="Times New Roman" pitchFamily="34" charset="0"/>
                <a:ea typeface="Times New Roman" pitchFamily="34" charset="-122"/>
                <a:cs typeface="Times New Roman" pitchFamily="34" charset="-120"/>
              </a:rPr>
              <a:t>1</a:t>
            </a:r>
            <a:endParaRPr lang="en-US" sz="1300" dirty="0"/>
          </a:p>
        </p:txBody>
      </p:sp>
      <p:sp>
        <p:nvSpPr>
          <p:cNvPr id="16" name="Shape 14"/>
          <p:cNvSpPr/>
          <p:nvPr/>
        </p:nvSpPr>
        <p:spPr>
          <a:xfrm>
            <a:off x="1508760" y="1508760"/>
            <a:ext cx="2194560" cy="411480"/>
          </a:xfrm>
          <a:prstGeom prst="rect">
            <a:avLst/>
          </a:prstGeom>
          <a:solidFill>
            <a:srgbClr val="FFFFFF"/>
          </a:solidFill>
          <a:ln w="7620">
            <a:solidFill>
              <a:srgbClr val="A9B0C4"/>
            </a:solidFill>
            <a:prstDash val="solid"/>
          </a:ln>
        </p:spPr>
      </p:sp>
      <p:sp>
        <p:nvSpPr>
          <p:cNvPr id="17" name="Text 15"/>
          <p:cNvSpPr/>
          <p:nvPr/>
        </p:nvSpPr>
        <p:spPr>
          <a:xfrm>
            <a:off x="1563624" y="1581912"/>
            <a:ext cx="2084832" cy="301752"/>
          </a:xfrm>
          <a:prstGeom prst="rect">
            <a:avLst/>
          </a:prstGeom>
          <a:noFill/>
          <a:ln/>
        </p:spPr>
        <p:txBody>
          <a:bodyPr wrap="square" lIns="0" tIns="0" rIns="0" bIns="0" rtlCol="0" anchor="ctr">
            <a:normAutofit/>
          </a:bodyPr>
          <a:lstStyle/>
          <a:p>
            <a:pPr marL="0" indent="0" algn="ctr">
              <a:buNone/>
            </a:pPr>
            <a:endParaRPr lang="en-US" sz="1300" dirty="0"/>
          </a:p>
        </p:txBody>
      </p:sp>
      <p:sp>
        <p:nvSpPr>
          <p:cNvPr id="18" name="Shape 16"/>
          <p:cNvSpPr/>
          <p:nvPr/>
        </p:nvSpPr>
        <p:spPr>
          <a:xfrm>
            <a:off x="3703320" y="1508760"/>
            <a:ext cx="2011680" cy="411480"/>
          </a:xfrm>
          <a:prstGeom prst="rect">
            <a:avLst/>
          </a:prstGeom>
          <a:solidFill>
            <a:srgbClr val="FFFFFF"/>
          </a:solidFill>
          <a:ln w="7620">
            <a:solidFill>
              <a:srgbClr val="A9B0C4"/>
            </a:solidFill>
            <a:prstDash val="solid"/>
          </a:ln>
        </p:spPr>
      </p:sp>
      <p:sp>
        <p:nvSpPr>
          <p:cNvPr id="19" name="Text 17"/>
          <p:cNvSpPr/>
          <p:nvPr/>
        </p:nvSpPr>
        <p:spPr>
          <a:xfrm>
            <a:off x="3758184" y="1581912"/>
            <a:ext cx="1901952" cy="301752"/>
          </a:xfrm>
          <a:prstGeom prst="rect">
            <a:avLst/>
          </a:prstGeom>
          <a:noFill/>
          <a:ln/>
        </p:spPr>
        <p:txBody>
          <a:bodyPr wrap="square" lIns="0" tIns="0" rIns="0" bIns="0" rtlCol="0" anchor="ctr">
            <a:normAutofit/>
          </a:bodyPr>
          <a:lstStyle/>
          <a:p>
            <a:pPr marL="0" indent="0" algn="ctr">
              <a:buNone/>
            </a:pPr>
            <a:endParaRPr lang="en-US" sz="1300" dirty="0"/>
          </a:p>
        </p:txBody>
      </p:sp>
      <p:sp>
        <p:nvSpPr>
          <p:cNvPr id="20" name="Shape 18"/>
          <p:cNvSpPr/>
          <p:nvPr/>
        </p:nvSpPr>
        <p:spPr>
          <a:xfrm>
            <a:off x="5715000" y="1508760"/>
            <a:ext cx="5760720" cy="411480"/>
          </a:xfrm>
          <a:prstGeom prst="rect">
            <a:avLst/>
          </a:prstGeom>
          <a:solidFill>
            <a:srgbClr val="FFFFFF"/>
          </a:solidFill>
          <a:ln w="7620">
            <a:solidFill>
              <a:srgbClr val="A9B0C4"/>
            </a:solidFill>
            <a:prstDash val="solid"/>
          </a:ln>
        </p:spPr>
      </p:sp>
      <p:sp>
        <p:nvSpPr>
          <p:cNvPr id="21" name="Text 19"/>
          <p:cNvSpPr/>
          <p:nvPr/>
        </p:nvSpPr>
        <p:spPr>
          <a:xfrm>
            <a:off x="5769864" y="1581912"/>
            <a:ext cx="5650992" cy="301752"/>
          </a:xfrm>
          <a:prstGeom prst="rect">
            <a:avLst/>
          </a:prstGeom>
          <a:noFill/>
          <a:ln/>
        </p:spPr>
        <p:txBody>
          <a:bodyPr wrap="square" lIns="0" tIns="0" rIns="0" bIns="0" rtlCol="0" anchor="ctr">
            <a:normAutofit/>
          </a:bodyPr>
          <a:lstStyle/>
          <a:p>
            <a:pPr marL="0" indent="0" algn="l">
              <a:buNone/>
            </a:pPr>
            <a:r>
              <a:rPr lang="en-US" sz="1300" dirty="0">
                <a:solidFill>
                  <a:srgbClr val="1F2430"/>
                </a:solidFill>
                <a:latin typeface="Times New Roman" pitchFamily="34" charset="0"/>
                <a:ea typeface="Times New Roman" pitchFamily="34" charset="-122"/>
                <a:cs typeface="Times New Roman" pitchFamily="34" charset="-120"/>
              </a:rPr>
              <a:t>Nhóm có doanh thu cao nhất</a:t>
            </a:r>
            <a:endParaRPr lang="en-US" sz="1300" dirty="0"/>
          </a:p>
        </p:txBody>
      </p:sp>
      <p:sp>
        <p:nvSpPr>
          <p:cNvPr id="22" name="Shape 20"/>
          <p:cNvSpPr/>
          <p:nvPr/>
        </p:nvSpPr>
        <p:spPr>
          <a:xfrm>
            <a:off x="777240" y="1920240"/>
            <a:ext cx="731520" cy="411480"/>
          </a:xfrm>
          <a:prstGeom prst="rect">
            <a:avLst/>
          </a:prstGeom>
          <a:solidFill>
            <a:srgbClr val="FFFFFF"/>
          </a:solidFill>
          <a:ln w="7620">
            <a:solidFill>
              <a:srgbClr val="A9B0C4"/>
            </a:solidFill>
            <a:prstDash val="solid"/>
          </a:ln>
        </p:spPr>
      </p:sp>
      <p:sp>
        <p:nvSpPr>
          <p:cNvPr id="23" name="Text 21"/>
          <p:cNvSpPr/>
          <p:nvPr/>
        </p:nvSpPr>
        <p:spPr>
          <a:xfrm>
            <a:off x="832104" y="1993392"/>
            <a:ext cx="621792" cy="301752"/>
          </a:xfrm>
          <a:prstGeom prst="rect">
            <a:avLst/>
          </a:prstGeom>
          <a:noFill/>
          <a:ln/>
        </p:spPr>
        <p:txBody>
          <a:bodyPr wrap="square" lIns="0" tIns="0" rIns="0" bIns="0" rtlCol="0" anchor="ctr">
            <a:normAutofit/>
          </a:bodyPr>
          <a:lstStyle/>
          <a:p>
            <a:pPr marL="0" indent="0" algn="ctr">
              <a:buNone/>
            </a:pPr>
            <a:r>
              <a:rPr lang="en-US" sz="1300" dirty="0">
                <a:solidFill>
                  <a:srgbClr val="1F2430"/>
                </a:solidFill>
                <a:latin typeface="Times New Roman" pitchFamily="34" charset="0"/>
                <a:ea typeface="Times New Roman" pitchFamily="34" charset="-122"/>
                <a:cs typeface="Times New Roman" pitchFamily="34" charset="-120"/>
              </a:rPr>
              <a:t>2</a:t>
            </a:r>
            <a:endParaRPr lang="en-US" sz="1300" dirty="0"/>
          </a:p>
        </p:txBody>
      </p:sp>
      <p:sp>
        <p:nvSpPr>
          <p:cNvPr id="24" name="Shape 22"/>
          <p:cNvSpPr/>
          <p:nvPr/>
        </p:nvSpPr>
        <p:spPr>
          <a:xfrm>
            <a:off x="1508760" y="1920240"/>
            <a:ext cx="2194560" cy="411480"/>
          </a:xfrm>
          <a:prstGeom prst="rect">
            <a:avLst/>
          </a:prstGeom>
          <a:solidFill>
            <a:srgbClr val="FFFFFF"/>
          </a:solidFill>
          <a:ln w="7620">
            <a:solidFill>
              <a:srgbClr val="A9B0C4"/>
            </a:solidFill>
            <a:prstDash val="solid"/>
          </a:ln>
        </p:spPr>
      </p:sp>
      <p:sp>
        <p:nvSpPr>
          <p:cNvPr id="25" name="Text 23"/>
          <p:cNvSpPr/>
          <p:nvPr/>
        </p:nvSpPr>
        <p:spPr>
          <a:xfrm>
            <a:off x="1563624" y="1993392"/>
            <a:ext cx="2084832" cy="301752"/>
          </a:xfrm>
          <a:prstGeom prst="rect">
            <a:avLst/>
          </a:prstGeom>
          <a:noFill/>
          <a:ln/>
        </p:spPr>
        <p:txBody>
          <a:bodyPr wrap="square" lIns="0" tIns="0" rIns="0" bIns="0" rtlCol="0" anchor="ctr">
            <a:normAutofit/>
          </a:bodyPr>
          <a:lstStyle/>
          <a:p>
            <a:pPr marL="0" indent="0" algn="ctr">
              <a:buNone/>
            </a:pPr>
            <a:endParaRPr lang="en-US" sz="1300" dirty="0"/>
          </a:p>
        </p:txBody>
      </p:sp>
      <p:sp>
        <p:nvSpPr>
          <p:cNvPr id="26" name="Shape 24"/>
          <p:cNvSpPr/>
          <p:nvPr/>
        </p:nvSpPr>
        <p:spPr>
          <a:xfrm>
            <a:off x="3703320" y="1920240"/>
            <a:ext cx="2011680" cy="411480"/>
          </a:xfrm>
          <a:prstGeom prst="rect">
            <a:avLst/>
          </a:prstGeom>
          <a:solidFill>
            <a:srgbClr val="FFFFFF"/>
          </a:solidFill>
          <a:ln w="7620">
            <a:solidFill>
              <a:srgbClr val="A9B0C4"/>
            </a:solidFill>
            <a:prstDash val="solid"/>
          </a:ln>
        </p:spPr>
      </p:sp>
      <p:sp>
        <p:nvSpPr>
          <p:cNvPr id="27" name="Text 25"/>
          <p:cNvSpPr/>
          <p:nvPr/>
        </p:nvSpPr>
        <p:spPr>
          <a:xfrm>
            <a:off x="3758184" y="1993392"/>
            <a:ext cx="1901952" cy="301752"/>
          </a:xfrm>
          <a:prstGeom prst="rect">
            <a:avLst/>
          </a:prstGeom>
          <a:noFill/>
          <a:ln/>
        </p:spPr>
        <p:txBody>
          <a:bodyPr wrap="square" lIns="0" tIns="0" rIns="0" bIns="0" rtlCol="0" anchor="ctr">
            <a:normAutofit/>
          </a:bodyPr>
          <a:lstStyle/>
          <a:p>
            <a:pPr marL="0" indent="0" algn="ctr">
              <a:buNone/>
            </a:pPr>
            <a:endParaRPr lang="en-US" sz="1300" dirty="0"/>
          </a:p>
        </p:txBody>
      </p:sp>
      <p:sp>
        <p:nvSpPr>
          <p:cNvPr id="28" name="Shape 26"/>
          <p:cNvSpPr/>
          <p:nvPr/>
        </p:nvSpPr>
        <p:spPr>
          <a:xfrm>
            <a:off x="5715000" y="1920240"/>
            <a:ext cx="5760720" cy="411480"/>
          </a:xfrm>
          <a:prstGeom prst="rect">
            <a:avLst/>
          </a:prstGeom>
          <a:solidFill>
            <a:srgbClr val="FFFFFF"/>
          </a:solidFill>
          <a:ln w="7620">
            <a:solidFill>
              <a:srgbClr val="A9B0C4"/>
            </a:solidFill>
            <a:prstDash val="solid"/>
          </a:ln>
        </p:spPr>
      </p:sp>
      <p:sp>
        <p:nvSpPr>
          <p:cNvPr id="29" name="Text 27"/>
          <p:cNvSpPr/>
          <p:nvPr/>
        </p:nvSpPr>
        <p:spPr>
          <a:xfrm>
            <a:off x="5769864" y="1993392"/>
            <a:ext cx="5650992" cy="301752"/>
          </a:xfrm>
          <a:prstGeom prst="rect">
            <a:avLst/>
          </a:prstGeom>
          <a:noFill/>
          <a:ln/>
        </p:spPr>
        <p:txBody>
          <a:bodyPr wrap="square" lIns="0" tIns="0" rIns="0" bIns="0" rtlCol="0" anchor="ctr">
            <a:normAutofit/>
          </a:bodyPr>
          <a:lstStyle/>
          <a:p>
            <a:pPr marL="0" indent="0" algn="l">
              <a:buNone/>
            </a:pPr>
            <a:r>
              <a:rPr lang="en-US" sz="1300" dirty="0">
                <a:solidFill>
                  <a:srgbClr val="1F2430"/>
                </a:solidFill>
                <a:latin typeface="Times New Roman" pitchFamily="34" charset="0"/>
                <a:ea typeface="Times New Roman" pitchFamily="34" charset="-122"/>
                <a:cs typeface="Times New Roman" pitchFamily="34" charset="-120"/>
              </a:rPr>
              <a:t>Nhóm có doanh thu đứng thứ hai</a:t>
            </a:r>
            <a:endParaRPr lang="en-US" sz="1300" dirty="0"/>
          </a:p>
        </p:txBody>
      </p:sp>
      <p:sp>
        <p:nvSpPr>
          <p:cNvPr id="30" name="Shape 28"/>
          <p:cNvSpPr/>
          <p:nvPr/>
        </p:nvSpPr>
        <p:spPr>
          <a:xfrm>
            <a:off x="777240" y="2331720"/>
            <a:ext cx="731520" cy="411480"/>
          </a:xfrm>
          <a:prstGeom prst="rect">
            <a:avLst/>
          </a:prstGeom>
          <a:solidFill>
            <a:srgbClr val="FFFFFF"/>
          </a:solidFill>
          <a:ln w="7620">
            <a:solidFill>
              <a:srgbClr val="A9B0C4"/>
            </a:solidFill>
            <a:prstDash val="solid"/>
          </a:ln>
        </p:spPr>
      </p:sp>
      <p:sp>
        <p:nvSpPr>
          <p:cNvPr id="31" name="Text 29"/>
          <p:cNvSpPr/>
          <p:nvPr/>
        </p:nvSpPr>
        <p:spPr>
          <a:xfrm>
            <a:off x="832104" y="2404872"/>
            <a:ext cx="621792" cy="301752"/>
          </a:xfrm>
          <a:prstGeom prst="rect">
            <a:avLst/>
          </a:prstGeom>
          <a:noFill/>
          <a:ln/>
        </p:spPr>
        <p:txBody>
          <a:bodyPr wrap="square" lIns="0" tIns="0" rIns="0" bIns="0" rtlCol="0" anchor="ctr">
            <a:normAutofit/>
          </a:bodyPr>
          <a:lstStyle/>
          <a:p>
            <a:pPr marL="0" indent="0" algn="ctr">
              <a:buNone/>
            </a:pPr>
            <a:r>
              <a:rPr lang="en-US" sz="1300" dirty="0">
                <a:solidFill>
                  <a:srgbClr val="1F2430"/>
                </a:solidFill>
                <a:latin typeface="Times New Roman" pitchFamily="34" charset="0"/>
                <a:ea typeface="Times New Roman" pitchFamily="34" charset="-122"/>
                <a:cs typeface="Times New Roman" pitchFamily="34" charset="-120"/>
              </a:rPr>
              <a:t>3</a:t>
            </a:r>
            <a:endParaRPr lang="en-US" sz="1300" dirty="0"/>
          </a:p>
        </p:txBody>
      </p:sp>
      <p:sp>
        <p:nvSpPr>
          <p:cNvPr id="32" name="Shape 30"/>
          <p:cNvSpPr/>
          <p:nvPr/>
        </p:nvSpPr>
        <p:spPr>
          <a:xfrm>
            <a:off x="1508760" y="2331720"/>
            <a:ext cx="2194560" cy="411480"/>
          </a:xfrm>
          <a:prstGeom prst="rect">
            <a:avLst/>
          </a:prstGeom>
          <a:solidFill>
            <a:srgbClr val="FFFFFF"/>
          </a:solidFill>
          <a:ln w="7620">
            <a:solidFill>
              <a:srgbClr val="A9B0C4"/>
            </a:solidFill>
            <a:prstDash val="solid"/>
          </a:ln>
        </p:spPr>
      </p:sp>
      <p:sp>
        <p:nvSpPr>
          <p:cNvPr id="33" name="Text 31"/>
          <p:cNvSpPr/>
          <p:nvPr/>
        </p:nvSpPr>
        <p:spPr>
          <a:xfrm>
            <a:off x="1563624" y="2404872"/>
            <a:ext cx="2084832" cy="301752"/>
          </a:xfrm>
          <a:prstGeom prst="rect">
            <a:avLst/>
          </a:prstGeom>
          <a:noFill/>
          <a:ln/>
        </p:spPr>
        <p:txBody>
          <a:bodyPr wrap="square" lIns="0" tIns="0" rIns="0" bIns="0" rtlCol="0" anchor="ctr">
            <a:normAutofit/>
          </a:bodyPr>
          <a:lstStyle/>
          <a:p>
            <a:pPr marL="0" indent="0" algn="ctr">
              <a:buNone/>
            </a:pPr>
            <a:endParaRPr lang="en-US" sz="1300" dirty="0"/>
          </a:p>
        </p:txBody>
      </p:sp>
      <p:sp>
        <p:nvSpPr>
          <p:cNvPr id="34" name="Shape 32"/>
          <p:cNvSpPr/>
          <p:nvPr/>
        </p:nvSpPr>
        <p:spPr>
          <a:xfrm>
            <a:off x="3703320" y="2331720"/>
            <a:ext cx="2011680" cy="411480"/>
          </a:xfrm>
          <a:prstGeom prst="rect">
            <a:avLst/>
          </a:prstGeom>
          <a:solidFill>
            <a:srgbClr val="FFFFFF"/>
          </a:solidFill>
          <a:ln w="7620">
            <a:solidFill>
              <a:srgbClr val="A9B0C4"/>
            </a:solidFill>
            <a:prstDash val="solid"/>
          </a:ln>
        </p:spPr>
      </p:sp>
      <p:sp>
        <p:nvSpPr>
          <p:cNvPr id="35" name="Text 33"/>
          <p:cNvSpPr/>
          <p:nvPr/>
        </p:nvSpPr>
        <p:spPr>
          <a:xfrm>
            <a:off x="3758184" y="2404872"/>
            <a:ext cx="1901952" cy="301752"/>
          </a:xfrm>
          <a:prstGeom prst="rect">
            <a:avLst/>
          </a:prstGeom>
          <a:noFill/>
          <a:ln/>
        </p:spPr>
        <p:txBody>
          <a:bodyPr wrap="square" lIns="0" tIns="0" rIns="0" bIns="0" rtlCol="0" anchor="ctr">
            <a:normAutofit/>
          </a:bodyPr>
          <a:lstStyle/>
          <a:p>
            <a:pPr marL="0" indent="0" algn="ctr">
              <a:buNone/>
            </a:pPr>
            <a:endParaRPr lang="en-US" sz="1300" dirty="0"/>
          </a:p>
        </p:txBody>
      </p:sp>
      <p:sp>
        <p:nvSpPr>
          <p:cNvPr id="36" name="Shape 34"/>
          <p:cNvSpPr/>
          <p:nvPr/>
        </p:nvSpPr>
        <p:spPr>
          <a:xfrm>
            <a:off x="5715000" y="2331720"/>
            <a:ext cx="5760720" cy="411480"/>
          </a:xfrm>
          <a:prstGeom prst="rect">
            <a:avLst/>
          </a:prstGeom>
          <a:solidFill>
            <a:srgbClr val="FFFFFF"/>
          </a:solidFill>
          <a:ln w="7620">
            <a:solidFill>
              <a:srgbClr val="A9B0C4"/>
            </a:solidFill>
            <a:prstDash val="solid"/>
          </a:ln>
        </p:spPr>
      </p:sp>
      <p:sp>
        <p:nvSpPr>
          <p:cNvPr id="37" name="Text 35"/>
          <p:cNvSpPr/>
          <p:nvPr/>
        </p:nvSpPr>
        <p:spPr>
          <a:xfrm>
            <a:off x="5769864" y="2404872"/>
            <a:ext cx="5650992" cy="301752"/>
          </a:xfrm>
          <a:prstGeom prst="rect">
            <a:avLst/>
          </a:prstGeom>
          <a:noFill/>
          <a:ln/>
        </p:spPr>
        <p:txBody>
          <a:bodyPr wrap="square" lIns="0" tIns="0" rIns="0" bIns="0" rtlCol="0" anchor="ctr">
            <a:normAutofit/>
          </a:bodyPr>
          <a:lstStyle/>
          <a:p>
            <a:pPr marL="0" indent="0" algn="l">
              <a:buNone/>
            </a:pPr>
            <a:r>
              <a:rPr lang="en-US" sz="1300" dirty="0">
                <a:solidFill>
                  <a:srgbClr val="1F2430"/>
                </a:solidFill>
                <a:latin typeface="Times New Roman" pitchFamily="34" charset="0"/>
                <a:ea typeface="Times New Roman" pitchFamily="34" charset="-122"/>
                <a:cs typeface="Times New Roman" pitchFamily="34" charset="-120"/>
              </a:rPr>
              <a:t>Nhóm có doanh thu đứng thứ ba</a:t>
            </a:r>
            <a:endParaRPr lang="en-US" sz="1300" dirty="0"/>
          </a:p>
        </p:txBody>
      </p:sp>
      <p:sp>
        <p:nvSpPr>
          <p:cNvPr id="38" name="Shape 36"/>
          <p:cNvSpPr/>
          <p:nvPr/>
        </p:nvSpPr>
        <p:spPr>
          <a:xfrm>
            <a:off x="777240" y="3246120"/>
            <a:ext cx="5074920" cy="2057400"/>
          </a:xfrm>
          <a:prstGeom prst="roundRect">
            <a:avLst>
              <a:gd name="adj" fmla="val 2667"/>
            </a:avLst>
          </a:prstGeom>
          <a:solidFill>
            <a:srgbClr val="FFFFFF"/>
          </a:solidFill>
          <a:ln w="13970">
            <a:solidFill>
              <a:srgbClr val="D83A6C"/>
            </a:solidFill>
            <a:prstDash val="solid"/>
          </a:ln>
        </p:spPr>
      </p:sp>
      <p:sp>
        <p:nvSpPr>
          <p:cNvPr id="39" name="Text 37"/>
          <p:cNvSpPr/>
          <p:nvPr/>
        </p:nvSpPr>
        <p:spPr>
          <a:xfrm>
            <a:off x="914400" y="3364992"/>
            <a:ext cx="4800600" cy="256032"/>
          </a:xfrm>
          <a:prstGeom prst="rect">
            <a:avLst/>
          </a:prstGeom>
          <a:noFill/>
          <a:ln/>
        </p:spPr>
        <p:txBody>
          <a:bodyPr wrap="square" lIns="0" tIns="0" rIns="0" bIns="0" rtlCol="0" anchor="ctr"/>
          <a:lstStyle/>
          <a:p>
            <a:pPr marL="0" indent="0">
              <a:buNone/>
            </a:pPr>
            <a:r>
              <a:rPr lang="en-US" sz="1500" b="1" dirty="0">
                <a:solidFill>
                  <a:srgbClr val="D83A6C"/>
                </a:solidFill>
                <a:latin typeface="Times New Roman" pitchFamily="34" charset="0"/>
                <a:ea typeface="Times New Roman" pitchFamily="34" charset="-122"/>
                <a:cs typeface="Times New Roman" pitchFamily="34" charset="-120"/>
              </a:rPr>
              <a:t>Đoạn giải thích cần có</a:t>
            </a:r>
            <a:endParaRPr lang="en-US" sz="1500" dirty="0"/>
          </a:p>
        </p:txBody>
      </p:sp>
      <p:sp>
        <p:nvSpPr>
          <p:cNvPr id="40" name="Text 38"/>
          <p:cNvSpPr/>
          <p:nvPr/>
        </p:nvSpPr>
        <p:spPr>
          <a:xfrm>
            <a:off x="914400" y="3703320"/>
            <a:ext cx="4800600" cy="1490472"/>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1. Mô tả dữ liệu đầu vào.</a:t>
            </a:r>
            <a:endParaRPr lang="en-US" sz="1400" dirty="0"/>
          </a:p>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2. Giải thích key–value của Mapper.</a:t>
            </a:r>
            <a:endParaRPr lang="en-US" sz="1400" dirty="0"/>
          </a:p>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3. Giải thích Reducer cộng doanh thu.</a:t>
            </a:r>
            <a:endParaRPr lang="en-US" sz="1400" dirty="0"/>
          </a:p>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4. Nhận xét ý nghĩa kinh doanh của Top 3.</a:t>
            </a:r>
            <a:endParaRPr lang="en-US" sz="1400" dirty="0"/>
          </a:p>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5. Nêu một hạn chế của xử lý batch.</a:t>
            </a:r>
            <a:endParaRPr lang="en-US" sz="1400" dirty="0"/>
          </a:p>
        </p:txBody>
      </p:sp>
      <p:sp>
        <p:nvSpPr>
          <p:cNvPr id="41" name="Shape 39"/>
          <p:cNvSpPr/>
          <p:nvPr/>
        </p:nvSpPr>
        <p:spPr>
          <a:xfrm>
            <a:off x="6400800" y="3246120"/>
            <a:ext cx="5074920" cy="2057400"/>
          </a:xfrm>
          <a:prstGeom prst="roundRect">
            <a:avLst>
              <a:gd name="adj" fmla="val 2667"/>
            </a:avLst>
          </a:prstGeom>
          <a:solidFill>
            <a:srgbClr val="FFFFFF"/>
          </a:solidFill>
          <a:ln w="13970">
            <a:solidFill>
              <a:srgbClr val="2F8F6F"/>
            </a:solidFill>
            <a:prstDash val="solid"/>
          </a:ln>
        </p:spPr>
      </p:sp>
      <p:sp>
        <p:nvSpPr>
          <p:cNvPr id="42" name="Text 40"/>
          <p:cNvSpPr/>
          <p:nvPr/>
        </p:nvSpPr>
        <p:spPr>
          <a:xfrm>
            <a:off x="6537960" y="3364992"/>
            <a:ext cx="4800600" cy="256032"/>
          </a:xfrm>
          <a:prstGeom prst="rect">
            <a:avLst/>
          </a:prstGeom>
          <a:noFill/>
          <a:ln/>
        </p:spPr>
        <p:txBody>
          <a:bodyPr wrap="square" lIns="0" tIns="0" rIns="0" bIns="0" rtlCol="0" anchor="ctr"/>
          <a:lstStyle/>
          <a:p>
            <a:pPr marL="0" indent="0">
              <a:buNone/>
            </a:pPr>
            <a:r>
              <a:rPr lang="en-US" sz="1500" b="1" dirty="0">
                <a:solidFill>
                  <a:srgbClr val="2F8F6F"/>
                </a:solidFill>
                <a:latin typeface="Times New Roman" pitchFamily="34" charset="0"/>
                <a:ea typeface="Times New Roman" pitchFamily="34" charset="-122"/>
                <a:cs typeface="Times New Roman" pitchFamily="34" charset="-120"/>
              </a:rPr>
              <a:t>Minh chứng kỹ thuật</a:t>
            </a:r>
            <a:endParaRPr lang="en-US" sz="1500" dirty="0"/>
          </a:p>
        </p:txBody>
      </p:sp>
      <p:sp>
        <p:nvSpPr>
          <p:cNvPr id="43" name="Text 41"/>
          <p:cNvSpPr/>
          <p:nvPr/>
        </p:nvSpPr>
        <p:spPr>
          <a:xfrm>
            <a:off x="6537960" y="3703320"/>
            <a:ext cx="4800600" cy="1490472"/>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Ảnh/lệnh cần có: hadoop fs -ls, hadoop fs -head, lệnh chạy streaming, hadoop fs -cat output, kết quả Top 3.</a:t>
            </a:r>
            <a:endParaRPr lang="en-US" sz="1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222A68"/>
          </a:solidFill>
          <a:ln w="12700">
            <a:solidFill>
              <a:srgbClr val="222A68"/>
            </a:solidFill>
            <a:prstDash val="solid"/>
          </a:ln>
        </p:spPr>
      </p:sp>
      <p:sp>
        <p:nvSpPr>
          <p:cNvPr id="3" name="Text 1"/>
          <p:cNvSpPr/>
          <p:nvPr/>
        </p:nvSpPr>
        <p:spPr>
          <a:xfrm>
            <a:off x="438912" y="310896"/>
            <a:ext cx="10424160" cy="475488"/>
          </a:xfrm>
          <a:prstGeom prst="rect">
            <a:avLst/>
          </a:prstGeom>
          <a:noFill/>
          <a:ln/>
        </p:spPr>
        <p:txBody>
          <a:bodyPr wrap="square" lIns="0" tIns="0" rIns="0" bIns="0" rtlCol="0" anchor="ctr"/>
          <a:lstStyle/>
          <a:p>
            <a:pPr marL="0" indent="0">
              <a:buNone/>
            </a:pPr>
            <a:r>
              <a:rPr lang="en-US" sz="2200" b="1" dirty="0">
                <a:solidFill>
                  <a:srgbClr val="222A68"/>
                </a:solidFill>
                <a:latin typeface="Times New Roman" pitchFamily="34" charset="0"/>
                <a:ea typeface="Times New Roman" pitchFamily="34" charset="-122"/>
                <a:cs typeface="Times New Roman" pitchFamily="34" charset="-120"/>
              </a:rPr>
              <a:t>12. Tiêu chí chấm điểm gợi ý</a:t>
            </a:r>
            <a:endParaRPr lang="en-US" sz="2200" dirty="0"/>
          </a:p>
        </p:txBody>
      </p:sp>
      <p:sp>
        <p:nvSpPr>
          <p:cNvPr id="4" name="Shape 2"/>
          <p:cNvSpPr/>
          <p:nvPr/>
        </p:nvSpPr>
        <p:spPr>
          <a:xfrm>
            <a:off x="438912" y="868680"/>
            <a:ext cx="11292840" cy="0"/>
          </a:xfrm>
          <a:prstGeom prst="line">
            <a:avLst/>
          </a:prstGeom>
          <a:noFill/>
          <a:ln w="15240">
            <a:solidFill>
              <a:srgbClr val="D83A6C"/>
            </a:solidFill>
            <a:prstDash val="solid"/>
          </a:ln>
        </p:spPr>
      </p:sp>
      <p:sp>
        <p:nvSpPr>
          <p:cNvPr id="5" name="Text 3"/>
          <p:cNvSpPr/>
          <p:nvPr/>
        </p:nvSpPr>
        <p:spPr>
          <a:xfrm>
            <a:off x="11475720" y="6446520"/>
            <a:ext cx="320040" cy="201168"/>
          </a:xfrm>
          <a:prstGeom prst="rect">
            <a:avLst/>
          </a:prstGeom>
          <a:noFill/>
          <a:ln/>
        </p:spPr>
        <p:txBody>
          <a:bodyPr wrap="square" lIns="0" tIns="0" rIns="0" bIns="0" rtlCol="0" anchor="ctr"/>
          <a:lstStyle/>
          <a:p>
            <a:pPr marL="0" indent="0" algn="ctr">
              <a:buNone/>
            </a:pPr>
            <a:r>
              <a:rPr lang="en-US" sz="900" dirty="0">
                <a:solidFill>
                  <a:srgbClr val="666666"/>
                </a:solidFill>
                <a:latin typeface="Times New Roman" pitchFamily="34" charset="0"/>
                <a:ea typeface="Times New Roman" pitchFamily="34" charset="-122"/>
                <a:cs typeface="Times New Roman" pitchFamily="34" charset="-120"/>
              </a:rPr>
              <a:t>13</a:t>
            </a:r>
            <a:endParaRPr lang="en-US" sz="900" dirty="0"/>
          </a:p>
        </p:txBody>
      </p:sp>
      <p:sp>
        <p:nvSpPr>
          <p:cNvPr id="6" name="Shape 4"/>
          <p:cNvSpPr/>
          <p:nvPr/>
        </p:nvSpPr>
        <p:spPr>
          <a:xfrm>
            <a:off x="1005840" y="1143000"/>
            <a:ext cx="7863840" cy="457200"/>
          </a:xfrm>
          <a:prstGeom prst="rect">
            <a:avLst/>
          </a:prstGeom>
          <a:solidFill>
            <a:srgbClr val="222A68"/>
          </a:solidFill>
          <a:ln w="7620">
            <a:solidFill>
              <a:srgbClr val="A9B0C4"/>
            </a:solidFill>
            <a:prstDash val="solid"/>
          </a:ln>
        </p:spPr>
      </p:sp>
      <p:sp>
        <p:nvSpPr>
          <p:cNvPr id="7" name="Text 5"/>
          <p:cNvSpPr/>
          <p:nvPr/>
        </p:nvSpPr>
        <p:spPr>
          <a:xfrm>
            <a:off x="1060704" y="1216152"/>
            <a:ext cx="7754112" cy="34747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Tiêu chí</a:t>
            </a:r>
            <a:endParaRPr lang="en-US" sz="1400" dirty="0"/>
          </a:p>
        </p:txBody>
      </p:sp>
      <p:sp>
        <p:nvSpPr>
          <p:cNvPr id="8" name="Shape 6"/>
          <p:cNvSpPr/>
          <p:nvPr/>
        </p:nvSpPr>
        <p:spPr>
          <a:xfrm>
            <a:off x="8869680" y="1143000"/>
            <a:ext cx="2286000" cy="457200"/>
          </a:xfrm>
          <a:prstGeom prst="rect">
            <a:avLst/>
          </a:prstGeom>
          <a:solidFill>
            <a:srgbClr val="222A68"/>
          </a:solidFill>
          <a:ln w="7620">
            <a:solidFill>
              <a:srgbClr val="A9B0C4"/>
            </a:solidFill>
            <a:prstDash val="solid"/>
          </a:ln>
        </p:spPr>
      </p:sp>
      <p:sp>
        <p:nvSpPr>
          <p:cNvPr id="9" name="Text 7"/>
          <p:cNvSpPr/>
          <p:nvPr/>
        </p:nvSpPr>
        <p:spPr>
          <a:xfrm>
            <a:off x="8924544" y="1216152"/>
            <a:ext cx="2176272" cy="34747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Điểm</a:t>
            </a:r>
            <a:endParaRPr lang="en-US" sz="1400" dirty="0"/>
          </a:p>
        </p:txBody>
      </p:sp>
      <p:sp>
        <p:nvSpPr>
          <p:cNvPr id="10" name="Shape 8"/>
          <p:cNvSpPr/>
          <p:nvPr/>
        </p:nvSpPr>
        <p:spPr>
          <a:xfrm>
            <a:off x="1005840" y="1600200"/>
            <a:ext cx="7863840" cy="475488"/>
          </a:xfrm>
          <a:prstGeom prst="rect">
            <a:avLst/>
          </a:prstGeom>
          <a:solidFill>
            <a:srgbClr val="FFFFFF"/>
          </a:solidFill>
          <a:ln w="7620">
            <a:solidFill>
              <a:srgbClr val="A9B0C4"/>
            </a:solidFill>
            <a:prstDash val="solid"/>
          </a:ln>
        </p:spPr>
      </p:sp>
      <p:sp>
        <p:nvSpPr>
          <p:cNvPr id="11" name="Text 9"/>
          <p:cNvSpPr/>
          <p:nvPr/>
        </p:nvSpPr>
        <p:spPr>
          <a:xfrm>
            <a:off x="1060704" y="1673352"/>
            <a:ext cx="7754112" cy="365760"/>
          </a:xfrm>
          <a:prstGeom prst="rect">
            <a:avLst/>
          </a:prstGeom>
          <a:noFill/>
          <a:ln/>
        </p:spPr>
        <p:txBody>
          <a:bodyPr wrap="square" lIns="0" tIns="0" rIns="0" bIns="0" rtlCol="0" anchor="ctr">
            <a:normAutofit/>
          </a:bodyPr>
          <a:lstStyle/>
          <a:p>
            <a:pPr marL="0" indent="0" algn="ctr">
              <a:buNone/>
            </a:pPr>
            <a:r>
              <a:rPr lang="en-US" sz="1400" dirty="0">
                <a:solidFill>
                  <a:srgbClr val="1F2430"/>
                </a:solidFill>
                <a:latin typeface="Times New Roman" pitchFamily="34" charset="0"/>
                <a:ea typeface="Times New Roman" pitchFamily="34" charset="-122"/>
                <a:cs typeface="Times New Roman" pitchFamily="34" charset="-120"/>
              </a:rPr>
              <a:t>Chuẩn bị đúng môi trường, upload dữ liệu vào HDFS</a:t>
            </a:r>
            <a:endParaRPr lang="en-US" sz="1400" dirty="0"/>
          </a:p>
        </p:txBody>
      </p:sp>
      <p:sp>
        <p:nvSpPr>
          <p:cNvPr id="12" name="Shape 10"/>
          <p:cNvSpPr/>
          <p:nvPr/>
        </p:nvSpPr>
        <p:spPr>
          <a:xfrm>
            <a:off x="8869680" y="1600200"/>
            <a:ext cx="2286000" cy="475488"/>
          </a:xfrm>
          <a:prstGeom prst="rect">
            <a:avLst/>
          </a:prstGeom>
          <a:solidFill>
            <a:srgbClr val="FFFFFF"/>
          </a:solidFill>
          <a:ln w="7620">
            <a:solidFill>
              <a:srgbClr val="A9B0C4"/>
            </a:solidFill>
            <a:prstDash val="solid"/>
          </a:ln>
        </p:spPr>
      </p:sp>
      <p:sp>
        <p:nvSpPr>
          <p:cNvPr id="13" name="Text 11"/>
          <p:cNvSpPr/>
          <p:nvPr/>
        </p:nvSpPr>
        <p:spPr>
          <a:xfrm>
            <a:off x="8924544" y="1673352"/>
            <a:ext cx="2176272" cy="365760"/>
          </a:xfrm>
          <a:prstGeom prst="rect">
            <a:avLst/>
          </a:prstGeom>
          <a:noFill/>
          <a:ln/>
        </p:spPr>
        <p:txBody>
          <a:bodyPr wrap="square" lIns="0" tIns="0" rIns="0" bIns="0" rtlCol="0" anchor="ctr">
            <a:normAutofit/>
          </a:bodyPr>
          <a:lstStyle/>
          <a:p>
            <a:pPr marL="0" indent="0" algn="ctr">
              <a:buNone/>
            </a:pPr>
            <a:r>
              <a:rPr lang="en-US" sz="1400" dirty="0">
                <a:solidFill>
                  <a:srgbClr val="1F2430"/>
                </a:solidFill>
                <a:latin typeface="Times New Roman" pitchFamily="34" charset="0"/>
                <a:ea typeface="Times New Roman" pitchFamily="34" charset="-122"/>
                <a:cs typeface="Times New Roman" pitchFamily="34" charset="-120"/>
              </a:rPr>
              <a:t>2.0</a:t>
            </a:r>
            <a:endParaRPr lang="en-US" sz="1400" dirty="0"/>
          </a:p>
        </p:txBody>
      </p:sp>
      <p:sp>
        <p:nvSpPr>
          <p:cNvPr id="14" name="Shape 12"/>
          <p:cNvSpPr/>
          <p:nvPr/>
        </p:nvSpPr>
        <p:spPr>
          <a:xfrm>
            <a:off x="1005840" y="2075688"/>
            <a:ext cx="7863840" cy="475488"/>
          </a:xfrm>
          <a:prstGeom prst="rect">
            <a:avLst/>
          </a:prstGeom>
          <a:solidFill>
            <a:srgbClr val="FFFFFF"/>
          </a:solidFill>
          <a:ln w="7620">
            <a:solidFill>
              <a:srgbClr val="A9B0C4"/>
            </a:solidFill>
            <a:prstDash val="solid"/>
          </a:ln>
        </p:spPr>
      </p:sp>
      <p:sp>
        <p:nvSpPr>
          <p:cNvPr id="15" name="Text 13"/>
          <p:cNvSpPr/>
          <p:nvPr/>
        </p:nvSpPr>
        <p:spPr>
          <a:xfrm>
            <a:off x="1060704" y="2148840"/>
            <a:ext cx="7754112" cy="365760"/>
          </a:xfrm>
          <a:prstGeom prst="rect">
            <a:avLst/>
          </a:prstGeom>
          <a:noFill/>
          <a:ln/>
        </p:spPr>
        <p:txBody>
          <a:bodyPr wrap="square" lIns="0" tIns="0" rIns="0" bIns="0" rtlCol="0" anchor="ctr">
            <a:normAutofit/>
          </a:bodyPr>
          <a:lstStyle/>
          <a:p>
            <a:pPr marL="0" indent="0" algn="ctr">
              <a:buNone/>
            </a:pPr>
            <a:r>
              <a:rPr lang="en-US" sz="1400" dirty="0">
                <a:solidFill>
                  <a:srgbClr val="1F2430"/>
                </a:solidFill>
                <a:latin typeface="Times New Roman" pitchFamily="34" charset="0"/>
                <a:ea typeface="Times New Roman" pitchFamily="34" charset="-122"/>
                <a:cs typeface="Times New Roman" pitchFamily="34" charset="-120"/>
              </a:rPr>
              <a:t>Chạy được MapReduce/Hadoop Streaming và tạo output</a:t>
            </a:r>
            <a:endParaRPr lang="en-US" sz="1400" dirty="0"/>
          </a:p>
        </p:txBody>
      </p:sp>
      <p:sp>
        <p:nvSpPr>
          <p:cNvPr id="16" name="Shape 14"/>
          <p:cNvSpPr/>
          <p:nvPr/>
        </p:nvSpPr>
        <p:spPr>
          <a:xfrm>
            <a:off x="8869680" y="2075688"/>
            <a:ext cx="2286000" cy="475488"/>
          </a:xfrm>
          <a:prstGeom prst="rect">
            <a:avLst/>
          </a:prstGeom>
          <a:solidFill>
            <a:srgbClr val="FFFFFF"/>
          </a:solidFill>
          <a:ln w="7620">
            <a:solidFill>
              <a:srgbClr val="A9B0C4"/>
            </a:solidFill>
            <a:prstDash val="solid"/>
          </a:ln>
        </p:spPr>
      </p:sp>
      <p:sp>
        <p:nvSpPr>
          <p:cNvPr id="17" name="Text 15"/>
          <p:cNvSpPr/>
          <p:nvPr/>
        </p:nvSpPr>
        <p:spPr>
          <a:xfrm>
            <a:off x="8924544" y="2148840"/>
            <a:ext cx="2176272" cy="365760"/>
          </a:xfrm>
          <a:prstGeom prst="rect">
            <a:avLst/>
          </a:prstGeom>
          <a:noFill/>
          <a:ln/>
        </p:spPr>
        <p:txBody>
          <a:bodyPr wrap="square" lIns="0" tIns="0" rIns="0" bIns="0" rtlCol="0" anchor="ctr">
            <a:normAutofit/>
          </a:bodyPr>
          <a:lstStyle/>
          <a:p>
            <a:pPr marL="0" indent="0" algn="ctr">
              <a:buNone/>
            </a:pPr>
            <a:r>
              <a:rPr lang="en-US" sz="1400" dirty="0">
                <a:solidFill>
                  <a:srgbClr val="1F2430"/>
                </a:solidFill>
                <a:latin typeface="Times New Roman" pitchFamily="34" charset="0"/>
                <a:ea typeface="Times New Roman" pitchFamily="34" charset="-122"/>
                <a:cs typeface="Times New Roman" pitchFamily="34" charset="-120"/>
              </a:rPr>
              <a:t>3.0</a:t>
            </a:r>
            <a:endParaRPr lang="en-US" sz="1400" dirty="0"/>
          </a:p>
        </p:txBody>
      </p:sp>
      <p:sp>
        <p:nvSpPr>
          <p:cNvPr id="18" name="Shape 16"/>
          <p:cNvSpPr/>
          <p:nvPr/>
        </p:nvSpPr>
        <p:spPr>
          <a:xfrm>
            <a:off x="1005840" y="2551176"/>
            <a:ext cx="7863840" cy="475488"/>
          </a:xfrm>
          <a:prstGeom prst="rect">
            <a:avLst/>
          </a:prstGeom>
          <a:solidFill>
            <a:srgbClr val="FFFFFF"/>
          </a:solidFill>
          <a:ln w="7620">
            <a:solidFill>
              <a:srgbClr val="A9B0C4"/>
            </a:solidFill>
            <a:prstDash val="solid"/>
          </a:ln>
        </p:spPr>
      </p:sp>
      <p:sp>
        <p:nvSpPr>
          <p:cNvPr id="19" name="Text 17"/>
          <p:cNvSpPr/>
          <p:nvPr/>
        </p:nvSpPr>
        <p:spPr>
          <a:xfrm>
            <a:off x="1060704" y="2624328"/>
            <a:ext cx="7754112" cy="365760"/>
          </a:xfrm>
          <a:prstGeom prst="rect">
            <a:avLst/>
          </a:prstGeom>
          <a:noFill/>
          <a:ln/>
        </p:spPr>
        <p:txBody>
          <a:bodyPr wrap="square" lIns="0" tIns="0" rIns="0" bIns="0" rtlCol="0" anchor="ctr">
            <a:normAutofit/>
          </a:bodyPr>
          <a:lstStyle/>
          <a:p>
            <a:pPr marL="0" indent="0" algn="ctr">
              <a:buNone/>
            </a:pPr>
            <a:r>
              <a:rPr lang="en-US" sz="1400" dirty="0">
                <a:solidFill>
                  <a:srgbClr val="1F2430"/>
                </a:solidFill>
                <a:latin typeface="Times New Roman" pitchFamily="34" charset="0"/>
                <a:ea typeface="Times New Roman" pitchFamily="34" charset="-122"/>
                <a:cs typeface="Times New Roman" pitchFamily="34" charset="-120"/>
              </a:rPr>
              <a:t>Kết quả tính doanh thu đúng logic SUCCESS + category</a:t>
            </a:r>
            <a:endParaRPr lang="en-US" sz="1400" dirty="0"/>
          </a:p>
        </p:txBody>
      </p:sp>
      <p:sp>
        <p:nvSpPr>
          <p:cNvPr id="20" name="Shape 18"/>
          <p:cNvSpPr/>
          <p:nvPr/>
        </p:nvSpPr>
        <p:spPr>
          <a:xfrm>
            <a:off x="8869680" y="2551176"/>
            <a:ext cx="2286000" cy="475488"/>
          </a:xfrm>
          <a:prstGeom prst="rect">
            <a:avLst/>
          </a:prstGeom>
          <a:solidFill>
            <a:srgbClr val="FFFFFF"/>
          </a:solidFill>
          <a:ln w="7620">
            <a:solidFill>
              <a:srgbClr val="A9B0C4"/>
            </a:solidFill>
            <a:prstDash val="solid"/>
          </a:ln>
        </p:spPr>
      </p:sp>
      <p:sp>
        <p:nvSpPr>
          <p:cNvPr id="21" name="Text 19"/>
          <p:cNvSpPr/>
          <p:nvPr/>
        </p:nvSpPr>
        <p:spPr>
          <a:xfrm>
            <a:off x="8924544" y="2624328"/>
            <a:ext cx="2176272" cy="365760"/>
          </a:xfrm>
          <a:prstGeom prst="rect">
            <a:avLst/>
          </a:prstGeom>
          <a:noFill/>
          <a:ln/>
        </p:spPr>
        <p:txBody>
          <a:bodyPr wrap="square" lIns="0" tIns="0" rIns="0" bIns="0" rtlCol="0" anchor="ctr">
            <a:normAutofit/>
          </a:bodyPr>
          <a:lstStyle/>
          <a:p>
            <a:pPr marL="0" indent="0" algn="ctr">
              <a:buNone/>
            </a:pPr>
            <a:r>
              <a:rPr lang="en-US" sz="1400" dirty="0">
                <a:solidFill>
                  <a:srgbClr val="1F2430"/>
                </a:solidFill>
                <a:latin typeface="Times New Roman" pitchFamily="34" charset="0"/>
                <a:ea typeface="Times New Roman" pitchFamily="34" charset="-122"/>
                <a:cs typeface="Times New Roman" pitchFamily="34" charset="-120"/>
              </a:rPr>
              <a:t>2.0</a:t>
            </a:r>
            <a:endParaRPr lang="en-US" sz="1400" dirty="0"/>
          </a:p>
        </p:txBody>
      </p:sp>
      <p:sp>
        <p:nvSpPr>
          <p:cNvPr id="22" name="Shape 20"/>
          <p:cNvSpPr/>
          <p:nvPr/>
        </p:nvSpPr>
        <p:spPr>
          <a:xfrm>
            <a:off x="1005840" y="3026664"/>
            <a:ext cx="7863840" cy="475488"/>
          </a:xfrm>
          <a:prstGeom prst="rect">
            <a:avLst/>
          </a:prstGeom>
          <a:solidFill>
            <a:srgbClr val="FFFFFF"/>
          </a:solidFill>
          <a:ln w="7620">
            <a:solidFill>
              <a:srgbClr val="A9B0C4"/>
            </a:solidFill>
            <a:prstDash val="solid"/>
          </a:ln>
        </p:spPr>
      </p:sp>
      <p:sp>
        <p:nvSpPr>
          <p:cNvPr id="23" name="Text 21"/>
          <p:cNvSpPr/>
          <p:nvPr/>
        </p:nvSpPr>
        <p:spPr>
          <a:xfrm>
            <a:off x="1060704" y="3099816"/>
            <a:ext cx="7754112" cy="365760"/>
          </a:xfrm>
          <a:prstGeom prst="rect">
            <a:avLst/>
          </a:prstGeom>
          <a:noFill/>
          <a:ln/>
        </p:spPr>
        <p:txBody>
          <a:bodyPr wrap="square" lIns="0" tIns="0" rIns="0" bIns="0" rtlCol="0" anchor="ctr">
            <a:normAutofit/>
          </a:bodyPr>
          <a:lstStyle/>
          <a:p>
            <a:pPr marL="0" indent="0" algn="ctr">
              <a:buNone/>
            </a:pPr>
            <a:r>
              <a:rPr lang="en-US" sz="1400" dirty="0">
                <a:solidFill>
                  <a:srgbClr val="1F2430"/>
                </a:solidFill>
                <a:latin typeface="Times New Roman" pitchFamily="34" charset="0"/>
                <a:ea typeface="Times New Roman" pitchFamily="34" charset="-122"/>
                <a:cs typeface="Times New Roman" pitchFamily="34" charset="-120"/>
              </a:rPr>
              <a:t>Báo cáo giải thích được Mapper, Reducer, HDFS, YARN</a:t>
            </a:r>
            <a:endParaRPr lang="en-US" sz="1400" dirty="0"/>
          </a:p>
        </p:txBody>
      </p:sp>
      <p:sp>
        <p:nvSpPr>
          <p:cNvPr id="24" name="Shape 22"/>
          <p:cNvSpPr/>
          <p:nvPr/>
        </p:nvSpPr>
        <p:spPr>
          <a:xfrm>
            <a:off x="8869680" y="3026664"/>
            <a:ext cx="2286000" cy="475488"/>
          </a:xfrm>
          <a:prstGeom prst="rect">
            <a:avLst/>
          </a:prstGeom>
          <a:solidFill>
            <a:srgbClr val="FFFFFF"/>
          </a:solidFill>
          <a:ln w="7620">
            <a:solidFill>
              <a:srgbClr val="A9B0C4"/>
            </a:solidFill>
            <a:prstDash val="solid"/>
          </a:ln>
        </p:spPr>
      </p:sp>
      <p:sp>
        <p:nvSpPr>
          <p:cNvPr id="25" name="Text 23"/>
          <p:cNvSpPr/>
          <p:nvPr/>
        </p:nvSpPr>
        <p:spPr>
          <a:xfrm>
            <a:off x="8924544" y="3099816"/>
            <a:ext cx="2176272" cy="365760"/>
          </a:xfrm>
          <a:prstGeom prst="rect">
            <a:avLst/>
          </a:prstGeom>
          <a:noFill/>
          <a:ln/>
        </p:spPr>
        <p:txBody>
          <a:bodyPr wrap="square" lIns="0" tIns="0" rIns="0" bIns="0" rtlCol="0" anchor="ctr">
            <a:normAutofit/>
          </a:bodyPr>
          <a:lstStyle/>
          <a:p>
            <a:pPr marL="0" indent="0" algn="ctr">
              <a:buNone/>
            </a:pPr>
            <a:r>
              <a:rPr lang="en-US" sz="1400" dirty="0">
                <a:solidFill>
                  <a:srgbClr val="1F2430"/>
                </a:solidFill>
                <a:latin typeface="Times New Roman" pitchFamily="34" charset="0"/>
                <a:ea typeface="Times New Roman" pitchFamily="34" charset="-122"/>
                <a:cs typeface="Times New Roman" pitchFamily="34" charset="-120"/>
              </a:rPr>
              <a:t>2.0</a:t>
            </a:r>
            <a:endParaRPr lang="en-US" sz="1400" dirty="0"/>
          </a:p>
        </p:txBody>
      </p:sp>
      <p:sp>
        <p:nvSpPr>
          <p:cNvPr id="26" name="Shape 24"/>
          <p:cNvSpPr/>
          <p:nvPr/>
        </p:nvSpPr>
        <p:spPr>
          <a:xfrm>
            <a:off x="1005840" y="3502152"/>
            <a:ext cx="7863840" cy="475488"/>
          </a:xfrm>
          <a:prstGeom prst="rect">
            <a:avLst/>
          </a:prstGeom>
          <a:solidFill>
            <a:srgbClr val="FFFFFF"/>
          </a:solidFill>
          <a:ln w="7620">
            <a:solidFill>
              <a:srgbClr val="A9B0C4"/>
            </a:solidFill>
            <a:prstDash val="solid"/>
          </a:ln>
        </p:spPr>
      </p:sp>
      <p:sp>
        <p:nvSpPr>
          <p:cNvPr id="27" name="Text 25"/>
          <p:cNvSpPr/>
          <p:nvPr/>
        </p:nvSpPr>
        <p:spPr>
          <a:xfrm>
            <a:off x="1060704" y="3575304"/>
            <a:ext cx="7754112" cy="365760"/>
          </a:xfrm>
          <a:prstGeom prst="rect">
            <a:avLst/>
          </a:prstGeom>
          <a:noFill/>
          <a:ln/>
        </p:spPr>
        <p:txBody>
          <a:bodyPr wrap="square" lIns="0" tIns="0" rIns="0" bIns="0" rtlCol="0" anchor="ctr">
            <a:normAutofit/>
          </a:bodyPr>
          <a:lstStyle/>
          <a:p>
            <a:pPr marL="0" indent="0" algn="ctr">
              <a:buNone/>
            </a:pPr>
            <a:r>
              <a:rPr lang="en-US" sz="1400" dirty="0">
                <a:solidFill>
                  <a:srgbClr val="1F2430"/>
                </a:solidFill>
                <a:latin typeface="Times New Roman" pitchFamily="34" charset="0"/>
                <a:ea typeface="Times New Roman" pitchFamily="34" charset="-122"/>
                <a:cs typeface="Times New Roman" pitchFamily="34" charset="-120"/>
              </a:rPr>
              <a:t>Trình bày rõ ràng, có minh chứng và nhận xét kinh doanh</a:t>
            </a:r>
            <a:endParaRPr lang="en-US" sz="1400" dirty="0"/>
          </a:p>
        </p:txBody>
      </p:sp>
      <p:sp>
        <p:nvSpPr>
          <p:cNvPr id="28" name="Shape 26"/>
          <p:cNvSpPr/>
          <p:nvPr/>
        </p:nvSpPr>
        <p:spPr>
          <a:xfrm>
            <a:off x="8869680" y="3502152"/>
            <a:ext cx="2286000" cy="475488"/>
          </a:xfrm>
          <a:prstGeom prst="rect">
            <a:avLst/>
          </a:prstGeom>
          <a:solidFill>
            <a:srgbClr val="FFFFFF"/>
          </a:solidFill>
          <a:ln w="7620">
            <a:solidFill>
              <a:srgbClr val="A9B0C4"/>
            </a:solidFill>
            <a:prstDash val="solid"/>
          </a:ln>
        </p:spPr>
      </p:sp>
      <p:sp>
        <p:nvSpPr>
          <p:cNvPr id="29" name="Text 27"/>
          <p:cNvSpPr/>
          <p:nvPr/>
        </p:nvSpPr>
        <p:spPr>
          <a:xfrm>
            <a:off x="8924544" y="3575304"/>
            <a:ext cx="2176272" cy="365760"/>
          </a:xfrm>
          <a:prstGeom prst="rect">
            <a:avLst/>
          </a:prstGeom>
          <a:noFill/>
          <a:ln/>
        </p:spPr>
        <p:txBody>
          <a:bodyPr wrap="square" lIns="0" tIns="0" rIns="0" bIns="0" rtlCol="0" anchor="ctr">
            <a:normAutofit/>
          </a:bodyPr>
          <a:lstStyle/>
          <a:p>
            <a:pPr marL="0" indent="0" algn="ctr">
              <a:buNone/>
            </a:pPr>
            <a:r>
              <a:rPr lang="en-US" sz="1400" dirty="0">
                <a:solidFill>
                  <a:srgbClr val="1F2430"/>
                </a:solidFill>
                <a:latin typeface="Times New Roman" pitchFamily="34" charset="0"/>
                <a:ea typeface="Times New Roman" pitchFamily="34" charset="-122"/>
                <a:cs typeface="Times New Roman" pitchFamily="34" charset="-120"/>
              </a:rPr>
              <a:t>1.0</a:t>
            </a:r>
            <a:endParaRPr lang="en-US" sz="1400" dirty="0"/>
          </a:p>
        </p:txBody>
      </p:sp>
      <p:sp>
        <p:nvSpPr>
          <p:cNvPr id="30" name="Text 28"/>
          <p:cNvSpPr/>
          <p:nvPr/>
        </p:nvSpPr>
        <p:spPr>
          <a:xfrm>
            <a:off x="1005840" y="4389120"/>
            <a:ext cx="10149840" cy="731520"/>
          </a:xfrm>
          <a:prstGeom prst="rect">
            <a:avLst/>
          </a:prstGeom>
          <a:noFill/>
          <a:ln/>
        </p:spPr>
        <p:txBody>
          <a:bodyPr wrap="square" lIns="762" tIns="762" rIns="762" bIns="762" rtlCol="0" anchor="t">
            <a:normAutofit/>
          </a:bodyPr>
          <a:lstStyle/>
          <a:p>
            <a:pPr marL="0" indent="0" algn="just">
              <a:buNone/>
            </a:pPr>
            <a:r>
              <a:rPr lang="en-US" sz="1400" b="1" dirty="0">
                <a:solidFill>
                  <a:srgbClr val="D83A6C"/>
                </a:solidFill>
                <a:latin typeface="Times New Roman" pitchFamily="34" charset="0"/>
                <a:ea typeface="Times New Roman" pitchFamily="34" charset="-122"/>
                <a:cs typeface="Times New Roman" pitchFamily="34" charset="-120"/>
              </a:rPr>
              <a:t>Lưu ý chấm: nếu sinh viên không chạy được do nền tảng online hết tài nguyên nhưng có minh chứng thao tác đúng, giảng viên có thể cho điểm phần quy trình và yêu cầu nộp lại phần output sau.</a:t>
            </a:r>
            <a:endParaRPr lang="en-US" sz="1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222A68"/>
          </a:solidFill>
          <a:ln w="12700">
            <a:solidFill>
              <a:srgbClr val="222A68"/>
            </a:solidFill>
            <a:prstDash val="solid"/>
          </a:ln>
        </p:spPr>
      </p:sp>
      <p:sp>
        <p:nvSpPr>
          <p:cNvPr id="3" name="Text 1"/>
          <p:cNvSpPr/>
          <p:nvPr/>
        </p:nvSpPr>
        <p:spPr>
          <a:xfrm>
            <a:off x="438912" y="310896"/>
            <a:ext cx="10424160" cy="475488"/>
          </a:xfrm>
          <a:prstGeom prst="rect">
            <a:avLst/>
          </a:prstGeom>
          <a:noFill/>
          <a:ln/>
        </p:spPr>
        <p:txBody>
          <a:bodyPr wrap="square" lIns="0" tIns="0" rIns="0" bIns="0" rtlCol="0" anchor="ctr"/>
          <a:lstStyle/>
          <a:p>
            <a:pPr marL="0" indent="0">
              <a:buNone/>
            </a:pPr>
            <a:r>
              <a:rPr lang="en-US" sz="2200" b="1" dirty="0">
                <a:solidFill>
                  <a:srgbClr val="222A68"/>
                </a:solidFill>
                <a:latin typeface="Times New Roman" pitchFamily="34" charset="0"/>
                <a:ea typeface="Times New Roman" pitchFamily="34" charset="-122"/>
                <a:cs typeface="Times New Roman" pitchFamily="34" charset="-120"/>
              </a:rPr>
              <a:t>13. Phần mở </a:t>
            </a:r>
            <a:r>
              <a:rPr lang="en-US" sz="2200" b="1" dirty="0" smtClean="0">
                <a:solidFill>
                  <a:srgbClr val="222A68"/>
                </a:solidFill>
                <a:latin typeface="Times New Roman" pitchFamily="34" charset="0"/>
                <a:ea typeface="Times New Roman" pitchFamily="34" charset="-122"/>
                <a:cs typeface="Times New Roman" pitchFamily="34" charset="-120"/>
              </a:rPr>
              <a:t>rộng</a:t>
            </a:r>
            <a:endParaRPr lang="en-US" sz="2200" dirty="0"/>
          </a:p>
        </p:txBody>
      </p:sp>
      <p:sp>
        <p:nvSpPr>
          <p:cNvPr id="4" name="Shape 2"/>
          <p:cNvSpPr/>
          <p:nvPr/>
        </p:nvSpPr>
        <p:spPr>
          <a:xfrm>
            <a:off x="438912" y="868680"/>
            <a:ext cx="11292840" cy="0"/>
          </a:xfrm>
          <a:prstGeom prst="line">
            <a:avLst/>
          </a:prstGeom>
          <a:noFill/>
          <a:ln w="15240">
            <a:solidFill>
              <a:srgbClr val="D83A6C"/>
            </a:solidFill>
            <a:prstDash val="solid"/>
          </a:ln>
        </p:spPr>
      </p:sp>
      <p:sp>
        <p:nvSpPr>
          <p:cNvPr id="5" name="Text 3"/>
          <p:cNvSpPr/>
          <p:nvPr/>
        </p:nvSpPr>
        <p:spPr>
          <a:xfrm>
            <a:off x="11475720" y="6446520"/>
            <a:ext cx="320040" cy="201168"/>
          </a:xfrm>
          <a:prstGeom prst="rect">
            <a:avLst/>
          </a:prstGeom>
          <a:noFill/>
          <a:ln/>
        </p:spPr>
        <p:txBody>
          <a:bodyPr wrap="square" lIns="0" tIns="0" rIns="0" bIns="0" rtlCol="0" anchor="ctr"/>
          <a:lstStyle/>
          <a:p>
            <a:pPr marL="0" indent="0" algn="ctr">
              <a:buNone/>
            </a:pPr>
            <a:r>
              <a:rPr lang="en-US" sz="900" dirty="0">
                <a:solidFill>
                  <a:srgbClr val="666666"/>
                </a:solidFill>
                <a:latin typeface="Times New Roman" pitchFamily="34" charset="0"/>
                <a:ea typeface="Times New Roman" pitchFamily="34" charset="-122"/>
                <a:cs typeface="Times New Roman" pitchFamily="34" charset="-120"/>
              </a:rPr>
              <a:t>14</a:t>
            </a:r>
            <a:endParaRPr lang="en-US" sz="900" dirty="0"/>
          </a:p>
        </p:txBody>
      </p:sp>
      <p:sp>
        <p:nvSpPr>
          <p:cNvPr id="6" name="Shape 4"/>
          <p:cNvSpPr/>
          <p:nvPr/>
        </p:nvSpPr>
        <p:spPr>
          <a:xfrm>
            <a:off x="868680" y="1097280"/>
            <a:ext cx="411480" cy="347472"/>
          </a:xfrm>
          <a:prstGeom prst="roundRect">
            <a:avLst>
              <a:gd name="adj" fmla="val 13158"/>
            </a:avLst>
          </a:prstGeom>
          <a:solidFill>
            <a:srgbClr val="222A68"/>
          </a:solidFill>
          <a:ln w="12700">
            <a:solidFill>
              <a:srgbClr val="222A68"/>
            </a:solidFill>
            <a:prstDash val="solid"/>
          </a:ln>
        </p:spPr>
      </p:sp>
      <p:sp>
        <p:nvSpPr>
          <p:cNvPr id="7" name="Text 5"/>
          <p:cNvSpPr/>
          <p:nvPr/>
        </p:nvSpPr>
        <p:spPr>
          <a:xfrm>
            <a:off x="960120" y="1152144"/>
            <a:ext cx="228600"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8" name="Text 6"/>
          <p:cNvSpPr/>
          <p:nvPr/>
        </p:nvSpPr>
        <p:spPr>
          <a:xfrm>
            <a:off x="1417320" y="1069848"/>
            <a:ext cx="9601200" cy="475488"/>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Tính doanh thu theo province thay vì category.</a:t>
            </a:r>
            <a:endParaRPr lang="en-US" sz="1400" dirty="0"/>
          </a:p>
        </p:txBody>
      </p:sp>
      <p:sp>
        <p:nvSpPr>
          <p:cNvPr id="9" name="Shape 7"/>
          <p:cNvSpPr/>
          <p:nvPr/>
        </p:nvSpPr>
        <p:spPr>
          <a:xfrm>
            <a:off x="868680" y="1847088"/>
            <a:ext cx="411480" cy="347472"/>
          </a:xfrm>
          <a:prstGeom prst="roundRect">
            <a:avLst>
              <a:gd name="adj" fmla="val 13158"/>
            </a:avLst>
          </a:prstGeom>
          <a:solidFill>
            <a:srgbClr val="D83A6C"/>
          </a:solidFill>
          <a:ln w="12700">
            <a:solidFill>
              <a:srgbClr val="D83A6C"/>
            </a:solidFill>
            <a:prstDash val="solid"/>
          </a:ln>
        </p:spPr>
      </p:sp>
      <p:sp>
        <p:nvSpPr>
          <p:cNvPr id="10" name="Text 8"/>
          <p:cNvSpPr/>
          <p:nvPr/>
        </p:nvSpPr>
        <p:spPr>
          <a:xfrm>
            <a:off x="960120" y="1901952"/>
            <a:ext cx="228600"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11" name="Text 9"/>
          <p:cNvSpPr/>
          <p:nvPr/>
        </p:nvSpPr>
        <p:spPr>
          <a:xfrm>
            <a:off x="1417320" y="1819656"/>
            <a:ext cx="9601200" cy="475488"/>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Tính tỷ lệ FAILED theo từng channel.</a:t>
            </a:r>
            <a:endParaRPr lang="en-US" sz="1400" dirty="0"/>
          </a:p>
        </p:txBody>
      </p:sp>
      <p:sp>
        <p:nvSpPr>
          <p:cNvPr id="12" name="Shape 10"/>
          <p:cNvSpPr/>
          <p:nvPr/>
        </p:nvSpPr>
        <p:spPr>
          <a:xfrm>
            <a:off x="868680" y="2596896"/>
            <a:ext cx="411480" cy="347472"/>
          </a:xfrm>
          <a:prstGeom prst="roundRect">
            <a:avLst>
              <a:gd name="adj" fmla="val 13158"/>
            </a:avLst>
          </a:prstGeom>
          <a:solidFill>
            <a:srgbClr val="222A68"/>
          </a:solidFill>
          <a:ln w="12700">
            <a:solidFill>
              <a:srgbClr val="222A68"/>
            </a:solidFill>
            <a:prstDash val="solid"/>
          </a:ln>
        </p:spPr>
      </p:sp>
      <p:sp>
        <p:nvSpPr>
          <p:cNvPr id="13" name="Text 11"/>
          <p:cNvSpPr/>
          <p:nvPr/>
        </p:nvSpPr>
        <p:spPr>
          <a:xfrm>
            <a:off x="960120" y="2651760"/>
            <a:ext cx="228600"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14" name="Text 12"/>
          <p:cNvSpPr/>
          <p:nvPr/>
        </p:nvSpPr>
        <p:spPr>
          <a:xfrm>
            <a:off x="1417320" y="2569464"/>
            <a:ext cx="9601200" cy="475488"/>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Tính số ngày giao hàng trung bình theo province.</a:t>
            </a:r>
            <a:endParaRPr lang="en-US" sz="1400" dirty="0"/>
          </a:p>
        </p:txBody>
      </p:sp>
      <p:sp>
        <p:nvSpPr>
          <p:cNvPr id="15" name="Shape 13"/>
          <p:cNvSpPr/>
          <p:nvPr/>
        </p:nvSpPr>
        <p:spPr>
          <a:xfrm>
            <a:off x="868680" y="3346704"/>
            <a:ext cx="411480" cy="347472"/>
          </a:xfrm>
          <a:prstGeom prst="roundRect">
            <a:avLst>
              <a:gd name="adj" fmla="val 13158"/>
            </a:avLst>
          </a:prstGeom>
          <a:solidFill>
            <a:srgbClr val="D83A6C"/>
          </a:solidFill>
          <a:ln w="12700">
            <a:solidFill>
              <a:srgbClr val="D83A6C"/>
            </a:solidFill>
            <a:prstDash val="solid"/>
          </a:ln>
        </p:spPr>
      </p:sp>
      <p:sp>
        <p:nvSpPr>
          <p:cNvPr id="16" name="Text 14"/>
          <p:cNvSpPr/>
          <p:nvPr/>
        </p:nvSpPr>
        <p:spPr>
          <a:xfrm>
            <a:off x="960120" y="3401568"/>
            <a:ext cx="228600"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4</a:t>
            </a:r>
            <a:endParaRPr lang="en-US" sz="1400" dirty="0"/>
          </a:p>
        </p:txBody>
      </p:sp>
      <p:sp>
        <p:nvSpPr>
          <p:cNvPr id="17" name="Text 15"/>
          <p:cNvSpPr/>
          <p:nvPr/>
        </p:nvSpPr>
        <p:spPr>
          <a:xfrm>
            <a:off x="1417320" y="3319272"/>
            <a:ext cx="9601200" cy="475488"/>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Viết combiner để giảm dữ liệu truyền qua shuffle.</a:t>
            </a:r>
            <a:endParaRPr lang="en-US" sz="1400" dirty="0"/>
          </a:p>
        </p:txBody>
      </p:sp>
      <p:sp>
        <p:nvSpPr>
          <p:cNvPr id="18" name="Shape 16"/>
          <p:cNvSpPr/>
          <p:nvPr/>
        </p:nvSpPr>
        <p:spPr>
          <a:xfrm>
            <a:off x="868680" y="4096512"/>
            <a:ext cx="411480" cy="347472"/>
          </a:xfrm>
          <a:prstGeom prst="roundRect">
            <a:avLst>
              <a:gd name="adj" fmla="val 13158"/>
            </a:avLst>
          </a:prstGeom>
          <a:solidFill>
            <a:srgbClr val="222A68"/>
          </a:solidFill>
          <a:ln w="12700">
            <a:solidFill>
              <a:srgbClr val="222A68"/>
            </a:solidFill>
            <a:prstDash val="solid"/>
          </a:ln>
        </p:spPr>
      </p:sp>
      <p:sp>
        <p:nvSpPr>
          <p:cNvPr id="19" name="Text 17"/>
          <p:cNvSpPr/>
          <p:nvPr/>
        </p:nvSpPr>
        <p:spPr>
          <a:xfrm>
            <a:off x="960120" y="4151376"/>
            <a:ext cx="228600"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5</a:t>
            </a:r>
            <a:endParaRPr lang="en-US" sz="1400" dirty="0"/>
          </a:p>
        </p:txBody>
      </p:sp>
      <p:sp>
        <p:nvSpPr>
          <p:cNvPr id="20" name="Text 18"/>
          <p:cNvSpPr/>
          <p:nvPr/>
        </p:nvSpPr>
        <p:spPr>
          <a:xfrm>
            <a:off x="1417320" y="4069080"/>
            <a:ext cx="9601200" cy="475488"/>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So sánh kết quả MapReduce với kết quả tính bằng Python/Pandas.</a:t>
            </a:r>
            <a:endParaRPr lang="en-US" sz="1400" dirty="0"/>
          </a:p>
        </p:txBody>
      </p:sp>
      <p:sp>
        <p:nvSpPr>
          <p:cNvPr id="21" name="Shape 19"/>
          <p:cNvSpPr/>
          <p:nvPr/>
        </p:nvSpPr>
        <p:spPr>
          <a:xfrm>
            <a:off x="868680" y="4846320"/>
            <a:ext cx="411480" cy="347472"/>
          </a:xfrm>
          <a:prstGeom prst="roundRect">
            <a:avLst>
              <a:gd name="adj" fmla="val 13158"/>
            </a:avLst>
          </a:prstGeom>
          <a:solidFill>
            <a:srgbClr val="D83A6C"/>
          </a:solidFill>
          <a:ln w="12700">
            <a:solidFill>
              <a:srgbClr val="D83A6C"/>
            </a:solidFill>
            <a:prstDash val="solid"/>
          </a:ln>
        </p:spPr>
      </p:sp>
      <p:sp>
        <p:nvSpPr>
          <p:cNvPr id="22" name="Text 20"/>
          <p:cNvSpPr/>
          <p:nvPr/>
        </p:nvSpPr>
        <p:spPr>
          <a:xfrm>
            <a:off x="960120" y="4901184"/>
            <a:ext cx="228600" cy="256032"/>
          </a:xfrm>
          <a:prstGeom prst="rect">
            <a:avLst/>
          </a:prstGeom>
          <a:noFill/>
          <a:ln/>
        </p:spPr>
        <p:txBody>
          <a:bodyPr wrap="square" lIns="0" tIns="0" rIns="0" bIns="0" rtlCol="0" anchor="ctr"/>
          <a:lstStyle/>
          <a:p>
            <a:pPr marL="0" indent="0" algn="ctr">
              <a:buNone/>
            </a:pPr>
            <a:r>
              <a:rPr lang="en-US" sz="1400" b="1" dirty="0">
                <a:solidFill>
                  <a:srgbClr val="FFFFFF"/>
                </a:solidFill>
                <a:latin typeface="Times New Roman" pitchFamily="34" charset="0"/>
                <a:ea typeface="Times New Roman" pitchFamily="34" charset="-122"/>
                <a:cs typeface="Times New Roman" pitchFamily="34" charset="-120"/>
              </a:rPr>
              <a:t>6</a:t>
            </a:r>
            <a:endParaRPr lang="en-US" sz="1400" dirty="0"/>
          </a:p>
        </p:txBody>
      </p:sp>
      <p:sp>
        <p:nvSpPr>
          <p:cNvPr id="23" name="Text 21"/>
          <p:cNvSpPr/>
          <p:nvPr/>
        </p:nvSpPr>
        <p:spPr>
          <a:xfrm>
            <a:off x="1417320" y="4818888"/>
            <a:ext cx="9601200" cy="475488"/>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Thử chia dữ liệu thành nhiều file nhỏ và quan sát small file problem ở mức khái niệm.</a:t>
            </a:r>
            <a:endParaRPr lang="en-US" sz="1400" dirty="0"/>
          </a:p>
        </p:txBody>
      </p:sp>
      <p:pic>
        <p:nvPicPr>
          <p:cNvPr id="24" name="Image 0" descr="/mnt/data/hadoop_lab_page_22.png"/>
          <p:cNvPicPr>
            <a:picLocks noChangeAspect="1"/>
          </p:cNvPicPr>
          <p:nvPr/>
        </p:nvPicPr>
        <p:blipFill>
          <a:blip r:embed="rId3"/>
          <a:srcRect t="21326" b="21326"/>
          <a:stretch/>
        </p:blipFill>
        <p:spPr>
          <a:xfrm>
            <a:off x="8275320" y="5349240"/>
            <a:ext cx="2834640" cy="914400"/>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5"/>
        </a:solidFill>
        <a:effectLst/>
      </p:bgPr>
    </p:bg>
    <p:spTree>
      <p:nvGrpSpPr>
        <p:cNvPr id="1" name=""/>
        <p:cNvGrpSpPr/>
        <p:nvPr/>
      </p:nvGrpSpPr>
      <p:grpSpPr>
        <a:xfrm>
          <a:off x="0" y="0"/>
          <a:ext cx="0" cy="0"/>
          <a:chOff x="0" y="0"/>
          <a:chExt cx="0" cy="0"/>
        </a:xfrm>
      </p:grpSpPr>
      <p:sp>
        <p:nvSpPr>
          <p:cNvPr id="2" name="Shape 0"/>
          <p:cNvSpPr/>
          <p:nvPr/>
        </p:nvSpPr>
        <p:spPr>
          <a:xfrm>
            <a:off x="0" y="0"/>
            <a:ext cx="12191695" cy="155448"/>
          </a:xfrm>
          <a:prstGeom prst="rect">
            <a:avLst/>
          </a:prstGeom>
          <a:solidFill>
            <a:srgbClr val="222A68"/>
          </a:solidFill>
          <a:ln w="12700">
            <a:solidFill>
              <a:srgbClr val="222A68"/>
            </a:solidFill>
            <a:prstDash val="solid"/>
          </a:ln>
        </p:spPr>
      </p:sp>
      <p:sp>
        <p:nvSpPr>
          <p:cNvPr id="3" name="Text 1"/>
          <p:cNvSpPr/>
          <p:nvPr/>
        </p:nvSpPr>
        <p:spPr>
          <a:xfrm>
            <a:off x="438912" y="310896"/>
            <a:ext cx="10424160" cy="475488"/>
          </a:xfrm>
          <a:prstGeom prst="rect">
            <a:avLst/>
          </a:prstGeom>
          <a:noFill/>
          <a:ln/>
        </p:spPr>
        <p:txBody>
          <a:bodyPr wrap="square" lIns="0" tIns="0" rIns="0" bIns="0" rtlCol="0" anchor="ctr"/>
          <a:lstStyle/>
          <a:p>
            <a:pPr marL="0" indent="0">
              <a:buNone/>
            </a:pPr>
            <a:r>
              <a:rPr lang="en-US" sz="2200" b="1" dirty="0">
                <a:solidFill>
                  <a:srgbClr val="222A68"/>
                </a:solidFill>
                <a:latin typeface="Times New Roman" pitchFamily="34" charset="0"/>
                <a:ea typeface="Times New Roman" pitchFamily="34" charset="-122"/>
                <a:cs typeface="Times New Roman" pitchFamily="34" charset="-120"/>
              </a:rPr>
              <a:t>14. Tổng kết bài thực hành</a:t>
            </a:r>
            <a:endParaRPr lang="en-US" sz="2200" dirty="0"/>
          </a:p>
        </p:txBody>
      </p:sp>
      <p:sp>
        <p:nvSpPr>
          <p:cNvPr id="4" name="Shape 2"/>
          <p:cNvSpPr/>
          <p:nvPr/>
        </p:nvSpPr>
        <p:spPr>
          <a:xfrm>
            <a:off x="438912" y="868680"/>
            <a:ext cx="11292840" cy="0"/>
          </a:xfrm>
          <a:prstGeom prst="line">
            <a:avLst/>
          </a:prstGeom>
          <a:noFill/>
          <a:ln w="15240">
            <a:solidFill>
              <a:srgbClr val="D83A6C"/>
            </a:solidFill>
            <a:prstDash val="solid"/>
          </a:ln>
        </p:spPr>
      </p:sp>
      <p:sp>
        <p:nvSpPr>
          <p:cNvPr id="5" name="Text 3"/>
          <p:cNvSpPr/>
          <p:nvPr/>
        </p:nvSpPr>
        <p:spPr>
          <a:xfrm>
            <a:off x="11475720" y="6446520"/>
            <a:ext cx="320040" cy="201168"/>
          </a:xfrm>
          <a:prstGeom prst="rect">
            <a:avLst/>
          </a:prstGeom>
          <a:noFill/>
          <a:ln/>
        </p:spPr>
        <p:txBody>
          <a:bodyPr wrap="square" lIns="0" tIns="0" rIns="0" bIns="0" rtlCol="0" anchor="ctr"/>
          <a:lstStyle/>
          <a:p>
            <a:pPr marL="0" indent="0" algn="ctr">
              <a:buNone/>
            </a:pPr>
            <a:r>
              <a:rPr lang="en-US" sz="900" dirty="0">
                <a:solidFill>
                  <a:srgbClr val="666666"/>
                </a:solidFill>
                <a:latin typeface="Times New Roman" pitchFamily="34" charset="0"/>
                <a:ea typeface="Times New Roman" pitchFamily="34" charset="-122"/>
                <a:cs typeface="Times New Roman" pitchFamily="34" charset="-120"/>
              </a:rPr>
              <a:t>15</a:t>
            </a:r>
            <a:endParaRPr lang="en-US" sz="900" dirty="0"/>
          </a:p>
        </p:txBody>
      </p:sp>
      <p:sp>
        <p:nvSpPr>
          <p:cNvPr id="6" name="Shape 4"/>
          <p:cNvSpPr/>
          <p:nvPr/>
        </p:nvSpPr>
        <p:spPr>
          <a:xfrm>
            <a:off x="777240" y="1143000"/>
            <a:ext cx="5166360" cy="1463040"/>
          </a:xfrm>
          <a:prstGeom prst="roundRect">
            <a:avLst>
              <a:gd name="adj" fmla="val 3750"/>
            </a:avLst>
          </a:prstGeom>
          <a:solidFill>
            <a:srgbClr val="FFFFFF"/>
          </a:solidFill>
          <a:ln w="13970">
            <a:solidFill>
              <a:srgbClr val="222A68"/>
            </a:solidFill>
            <a:prstDash val="solid"/>
          </a:ln>
        </p:spPr>
      </p:sp>
      <p:sp>
        <p:nvSpPr>
          <p:cNvPr id="7" name="Text 5"/>
          <p:cNvSpPr/>
          <p:nvPr/>
        </p:nvSpPr>
        <p:spPr>
          <a:xfrm>
            <a:off x="914400" y="1261872"/>
            <a:ext cx="4892040" cy="256032"/>
          </a:xfrm>
          <a:prstGeom prst="rect">
            <a:avLst/>
          </a:prstGeom>
          <a:noFill/>
          <a:ln/>
        </p:spPr>
        <p:txBody>
          <a:bodyPr wrap="square" lIns="0" tIns="0" rIns="0" bIns="0" rtlCol="0" anchor="ctr"/>
          <a:lstStyle/>
          <a:p>
            <a:pPr marL="0" indent="0">
              <a:buNone/>
            </a:pPr>
            <a:r>
              <a:rPr lang="en-US" sz="1500" b="1" dirty="0">
                <a:solidFill>
                  <a:srgbClr val="222A68"/>
                </a:solidFill>
                <a:latin typeface="Times New Roman" pitchFamily="34" charset="0"/>
                <a:ea typeface="Times New Roman" pitchFamily="34" charset="-122"/>
                <a:cs typeface="Times New Roman" pitchFamily="34" charset="-120"/>
              </a:rPr>
              <a:t>Sinh viên đã thực hiện</a:t>
            </a:r>
            <a:endParaRPr lang="en-US" sz="1500" dirty="0"/>
          </a:p>
        </p:txBody>
      </p:sp>
      <p:sp>
        <p:nvSpPr>
          <p:cNvPr id="8" name="Text 6"/>
          <p:cNvSpPr/>
          <p:nvPr/>
        </p:nvSpPr>
        <p:spPr>
          <a:xfrm>
            <a:off x="914400" y="1600200"/>
            <a:ext cx="4892040" cy="896112"/>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Lưu dữ liệu lên HDFS; chạy MapReduce bằng Hadoop Streaming; lấy kết quả từ thư mục output; diễn giải kết quả theo mục tiêu kinh doanh.</a:t>
            </a:r>
            <a:endParaRPr lang="en-US" sz="1400" dirty="0"/>
          </a:p>
        </p:txBody>
      </p:sp>
      <p:sp>
        <p:nvSpPr>
          <p:cNvPr id="9" name="Shape 7"/>
          <p:cNvSpPr/>
          <p:nvPr/>
        </p:nvSpPr>
        <p:spPr>
          <a:xfrm>
            <a:off x="777240" y="2880360"/>
            <a:ext cx="5166360" cy="1463040"/>
          </a:xfrm>
          <a:prstGeom prst="roundRect">
            <a:avLst>
              <a:gd name="adj" fmla="val 3750"/>
            </a:avLst>
          </a:prstGeom>
          <a:solidFill>
            <a:srgbClr val="FFFFFF"/>
          </a:solidFill>
          <a:ln w="13970">
            <a:solidFill>
              <a:srgbClr val="D83A6C"/>
            </a:solidFill>
            <a:prstDash val="solid"/>
          </a:ln>
        </p:spPr>
      </p:sp>
      <p:sp>
        <p:nvSpPr>
          <p:cNvPr id="10" name="Text 8"/>
          <p:cNvSpPr/>
          <p:nvPr/>
        </p:nvSpPr>
        <p:spPr>
          <a:xfrm>
            <a:off x="914400" y="2999232"/>
            <a:ext cx="4892040" cy="256032"/>
          </a:xfrm>
          <a:prstGeom prst="rect">
            <a:avLst/>
          </a:prstGeom>
          <a:noFill/>
          <a:ln/>
        </p:spPr>
        <p:txBody>
          <a:bodyPr wrap="square" lIns="0" tIns="0" rIns="0" bIns="0" rtlCol="0" anchor="ctr"/>
          <a:lstStyle/>
          <a:p>
            <a:pPr marL="0" indent="0">
              <a:buNone/>
            </a:pPr>
            <a:r>
              <a:rPr lang="en-US" sz="1500" b="1" dirty="0">
                <a:solidFill>
                  <a:srgbClr val="D83A6C"/>
                </a:solidFill>
                <a:latin typeface="Times New Roman" pitchFamily="34" charset="0"/>
                <a:ea typeface="Times New Roman" pitchFamily="34" charset="-122"/>
                <a:cs typeface="Times New Roman" pitchFamily="34" charset="-120"/>
              </a:rPr>
              <a:t>Liên hệ kiến thức</a:t>
            </a:r>
            <a:endParaRPr lang="en-US" sz="1500" dirty="0"/>
          </a:p>
        </p:txBody>
      </p:sp>
      <p:sp>
        <p:nvSpPr>
          <p:cNvPr id="11" name="Text 9"/>
          <p:cNvSpPr/>
          <p:nvPr/>
        </p:nvSpPr>
        <p:spPr>
          <a:xfrm>
            <a:off x="914400" y="3337560"/>
            <a:ext cx="4892040" cy="896112"/>
          </a:xfrm>
          <a:prstGeom prst="rect">
            <a:avLst/>
          </a:prstGeom>
          <a:noFill/>
          <a:ln/>
        </p:spPr>
        <p:txBody>
          <a:bodyPr wrap="square" lIns="762" tIns="762" rIns="762" bIns="762" rtlCol="0" anchor="t">
            <a:normAutofit/>
          </a:bodyPr>
          <a:lstStyle/>
          <a:p>
            <a:pPr marL="0" indent="0" algn="just">
              <a:buNone/>
            </a:pPr>
            <a:r>
              <a:rPr lang="en-US" sz="1400" dirty="0">
                <a:solidFill>
                  <a:srgbClr val="1F2430"/>
                </a:solidFill>
                <a:latin typeface="Times New Roman" pitchFamily="34" charset="0"/>
                <a:ea typeface="Times New Roman" pitchFamily="34" charset="-122"/>
                <a:cs typeface="Times New Roman" pitchFamily="34" charset="-120"/>
              </a:rPr>
              <a:t>HDFS giúp lưu trữ phân tán; MapReduce xử lý dữ liệu theo mô hình key–value; YARN quản lý tài nguyên cho job xử lý.</a:t>
            </a:r>
            <a:endParaRPr lang="en-US" sz="1400" dirty="0"/>
          </a:p>
        </p:txBody>
      </p:sp>
      <p:sp>
        <p:nvSpPr>
          <p:cNvPr id="12" name="Shape 10"/>
          <p:cNvSpPr/>
          <p:nvPr/>
        </p:nvSpPr>
        <p:spPr>
          <a:xfrm>
            <a:off x="6446520" y="1143000"/>
            <a:ext cx="4754880" cy="2148840"/>
          </a:xfrm>
          <a:prstGeom prst="roundRect">
            <a:avLst>
              <a:gd name="adj" fmla="val 1277"/>
            </a:avLst>
          </a:prstGeom>
          <a:solidFill>
            <a:srgbClr val="111827"/>
          </a:solidFill>
          <a:ln w="12700">
            <a:solidFill>
              <a:srgbClr val="111827"/>
            </a:solidFill>
            <a:prstDash val="solid"/>
          </a:ln>
        </p:spPr>
      </p:sp>
      <p:sp>
        <p:nvSpPr>
          <p:cNvPr id="13" name="Text 11"/>
          <p:cNvSpPr/>
          <p:nvPr/>
        </p:nvSpPr>
        <p:spPr>
          <a:xfrm>
            <a:off x="6556248" y="1252728"/>
            <a:ext cx="4535424" cy="1929384"/>
          </a:xfrm>
          <a:prstGeom prst="rect">
            <a:avLst/>
          </a:prstGeom>
          <a:noFill/>
          <a:ln/>
        </p:spPr>
        <p:txBody>
          <a:bodyPr wrap="square" lIns="254" tIns="254" rIns="254" bIns="254" rtlCol="0" anchor="ctr">
            <a:normAutofit/>
          </a:bodyPr>
          <a:lstStyle/>
          <a:p>
            <a:pPr marL="0" indent="0">
              <a:buNone/>
            </a:pPr>
            <a:r>
              <a:rPr lang="en-US" sz="1040" dirty="0">
                <a:solidFill>
                  <a:srgbClr val="FFFFFF"/>
                </a:solidFill>
                <a:latin typeface="Courier New" pitchFamily="34" charset="0"/>
                <a:ea typeface="Courier New" pitchFamily="34" charset="-122"/>
                <a:cs typeface="Courier New" pitchFamily="34" charset="-120"/>
              </a:rPr>
              <a:t>Checklist trước khi nộp:</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 ] Có file output part-00000</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 ] Có bảng Top 3 category</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 ] Có ảnh/lệnh minh chứng HDFS</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 ] Có giải thích Mapper/Reducer</a:t>
            </a:r>
            <a:endParaRPr lang="en-US" sz="1040" dirty="0"/>
          </a:p>
          <a:p>
            <a:pPr marL="0" indent="0">
              <a:buNone/>
            </a:pPr>
            <a:r>
              <a:rPr lang="en-US" sz="1040" dirty="0">
                <a:solidFill>
                  <a:srgbClr val="FFFFFF"/>
                </a:solidFill>
                <a:latin typeface="Courier New" pitchFamily="34" charset="0"/>
                <a:ea typeface="Courier New" pitchFamily="34" charset="-122"/>
                <a:cs typeface="Courier New" pitchFamily="34" charset="-120"/>
              </a:rPr>
              <a:t>[ ] Có nhận xét kinh doanh</a:t>
            </a:r>
            <a:endParaRPr lang="en-US" sz="1040" dirty="0"/>
          </a:p>
        </p:txBody>
      </p:sp>
      <p:sp>
        <p:nvSpPr>
          <p:cNvPr id="14" name="Text 12"/>
          <p:cNvSpPr/>
          <p:nvPr/>
        </p:nvSpPr>
        <p:spPr>
          <a:xfrm>
            <a:off x="6446520" y="3794760"/>
            <a:ext cx="4754880" cy="914400"/>
          </a:xfrm>
          <a:prstGeom prst="rect">
            <a:avLst/>
          </a:prstGeom>
          <a:noFill/>
          <a:ln/>
        </p:spPr>
        <p:txBody>
          <a:bodyPr wrap="square" lIns="762" tIns="762" rIns="762" bIns="762" rtlCol="0" anchor="t">
            <a:normAutofit/>
          </a:bodyPr>
          <a:lstStyle/>
          <a:p>
            <a:pPr marL="0" indent="0" algn="just">
              <a:buNone/>
            </a:pPr>
            <a:r>
              <a:rPr lang="en-US" sz="1400" b="1" dirty="0">
                <a:solidFill>
                  <a:srgbClr val="222A68"/>
                </a:solidFill>
                <a:latin typeface="Times New Roman" pitchFamily="34" charset="0"/>
                <a:ea typeface="Times New Roman" pitchFamily="34" charset="-122"/>
                <a:cs typeface="Times New Roman" pitchFamily="34" charset="-120"/>
              </a:rPr>
              <a:t>Thông điệp cuối: Hadoop phù hợp với bài toán lưu trữ và xử lý dữ liệu lớn theo lô. Giá trị của bài thực hành không chỉ là chạy lệnh, mà là hiểu dữ liệu đi qua HDFS → Mapper → Shuffle → Reducer → Output như thế nào.</a:t>
            </a:r>
            <a:endParaRPr lang="en-US" sz="14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1910</Words>
  <Application>Microsoft Office PowerPoint</Application>
  <PresentationFormat>Widescreen</PresentationFormat>
  <Paragraphs>274</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thực hành Hadoop online</dc:title>
  <dc:subject>Bài thực hành Hadoop online miễn phí</dc:subject>
  <dc:creator>OpenAI</dc:creator>
  <cp:lastModifiedBy>Phan Thanh Toan</cp:lastModifiedBy>
  <cp:revision>4</cp:revision>
  <dcterms:created xsi:type="dcterms:W3CDTF">2026-10-07T01:35:08Z</dcterms:created>
  <dcterms:modified xsi:type="dcterms:W3CDTF">2026-10-07T07:19:27Z</dcterms:modified>
</cp:coreProperties>
</file>