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6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610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2F6BFF"/>
          </a:solidFill>
          <a:ln w="12700">
            <a:solidFill>
              <a:srgbClr val="2F6BFF"/>
            </a:solidFill>
            <a:prstDash val="solid"/>
          </a:ln>
        </p:spPr>
      </p:sp>
      <p:sp>
        <p:nvSpPr>
          <p:cNvPr id="3" name="Text 1"/>
          <p:cNvSpPr/>
          <p:nvPr/>
        </p:nvSpPr>
        <p:spPr>
          <a:xfrm>
            <a:off x="731520" y="1280160"/>
            <a:ext cx="10698480" cy="365760"/>
          </a:xfrm>
          <a:prstGeom prst="rect">
            <a:avLst/>
          </a:prstGeom>
          <a:noFill/>
          <a:ln/>
        </p:spPr>
        <p:txBody>
          <a:bodyPr wrap="square" lIns="0" tIns="0" rIns="0" bIns="0" rtlCol="0" anchor="ctr"/>
          <a:lstStyle/>
          <a:p>
            <a:pPr marL="0" indent="0" algn="ctr">
              <a:buNone/>
            </a:pPr>
            <a:r>
              <a:rPr lang="en-US" sz="2400" b="1" dirty="0">
                <a:solidFill>
                  <a:srgbClr val="16324F"/>
                </a:solidFill>
                <a:latin typeface="Times New Roman" pitchFamily="34" charset="0"/>
                <a:ea typeface="Times New Roman" pitchFamily="34" charset="-122"/>
                <a:cs typeface="Times New Roman" pitchFamily="34" charset="-120"/>
              </a:rPr>
              <a:t>BÀI THỰC HÀNH HADOOP ONLINE</a:t>
            </a:r>
            <a:endParaRPr lang="en-US" sz="2400" dirty="0"/>
          </a:p>
        </p:txBody>
      </p:sp>
      <p:sp>
        <p:nvSpPr>
          <p:cNvPr id="4" name="Text 2"/>
          <p:cNvSpPr/>
          <p:nvPr/>
        </p:nvSpPr>
        <p:spPr>
          <a:xfrm>
            <a:off x="1005840" y="1874520"/>
            <a:ext cx="10149840" cy="548640"/>
          </a:xfrm>
          <a:prstGeom prst="rect">
            <a:avLst/>
          </a:prstGeom>
          <a:noFill/>
          <a:ln/>
        </p:spPr>
        <p:txBody>
          <a:bodyPr wrap="square" lIns="0" tIns="0" rIns="0" bIns="0" rtlCol="0" anchor="ctr"/>
          <a:lstStyle/>
          <a:p>
            <a:pPr marL="0" indent="0" algn="ctr">
              <a:lnSpc>
                <a:spcPct val="130000"/>
              </a:lnSpc>
              <a:buNone/>
            </a:pPr>
            <a:r>
              <a:rPr lang="en-US" sz="1600" dirty="0">
                <a:solidFill>
                  <a:srgbClr val="1F2937"/>
                </a:solidFill>
                <a:latin typeface="Times New Roman" pitchFamily="34" charset="0"/>
                <a:ea typeface="Times New Roman" pitchFamily="34" charset="-122"/>
                <a:cs typeface="Times New Roman" pitchFamily="34" charset="-120"/>
              </a:rPr>
              <a:t>Triển khai trên Google Colab: phân tích đơn hàng thương mại điện tử bằng Hadoop Streaming</a:t>
            </a:r>
            <a:endParaRPr lang="en-US" sz="1600" dirty="0"/>
          </a:p>
        </p:txBody>
      </p:sp>
      <p:sp>
        <p:nvSpPr>
          <p:cNvPr id="5" name="Text 3"/>
          <p:cNvSpPr/>
          <p:nvPr/>
        </p:nvSpPr>
        <p:spPr>
          <a:xfrm>
            <a:off x="1645920" y="2788920"/>
            <a:ext cx="8869680" cy="320040"/>
          </a:xfrm>
          <a:prstGeom prst="rect">
            <a:avLst/>
          </a:prstGeom>
          <a:noFill/>
          <a:ln/>
        </p:spPr>
        <p:txBody>
          <a:bodyPr wrap="square" lIns="0" tIns="0" rIns="0" bIns="0" rtlCol="0" anchor="ctr"/>
          <a:lstStyle/>
          <a:p>
            <a:pPr marL="0" indent="0" algn="ctr">
              <a:buNone/>
            </a:pPr>
            <a:r>
              <a:rPr lang="en-US" sz="1400" i="1" dirty="0">
                <a:solidFill>
                  <a:srgbClr val="4B5563"/>
                </a:solidFill>
                <a:latin typeface="Times New Roman" pitchFamily="34" charset="0"/>
                <a:ea typeface="Times New Roman" pitchFamily="34" charset="-122"/>
                <a:cs typeface="Times New Roman" pitchFamily="34" charset="-120"/>
              </a:rPr>
              <a:t>Tài liệu hướng dẫn từng bước cho giảng viên và sinh viên</a:t>
            </a:r>
            <a:endParaRPr lang="en-US" sz="1400" dirty="0"/>
          </a:p>
        </p:txBody>
      </p:sp>
      <p:sp>
        <p:nvSpPr>
          <p:cNvPr id="6" name="Shape 4"/>
          <p:cNvSpPr/>
          <p:nvPr/>
        </p:nvSpPr>
        <p:spPr>
          <a:xfrm>
            <a:off x="2834640" y="3840480"/>
            <a:ext cx="6492240" cy="868680"/>
          </a:xfrm>
          <a:prstGeom prst="roundRect">
            <a:avLst>
              <a:gd name="adj" fmla="val 8421"/>
            </a:avLst>
          </a:prstGeom>
          <a:solidFill>
            <a:srgbClr val="EAF1FF"/>
          </a:solidFill>
          <a:ln w="12700">
            <a:solidFill>
              <a:srgbClr val="D9E1EF"/>
            </a:solidFill>
            <a:prstDash val="solid"/>
          </a:ln>
        </p:spPr>
      </p:sp>
      <p:sp>
        <p:nvSpPr>
          <p:cNvPr id="7" name="Text 5"/>
          <p:cNvSpPr/>
          <p:nvPr/>
        </p:nvSpPr>
        <p:spPr>
          <a:xfrm>
            <a:off x="3063240" y="4133088"/>
            <a:ext cx="6035040" cy="228600"/>
          </a:xfrm>
          <a:prstGeom prst="rect">
            <a:avLst/>
          </a:prstGeom>
          <a:noFill/>
          <a:ln/>
        </p:spPr>
        <p:txBody>
          <a:bodyPr wrap="square" lIns="0" tIns="0" rIns="0" bIns="0" rtlCol="0" anchor="ctr"/>
          <a:lstStyle/>
          <a:p>
            <a:pPr marL="0" indent="0" algn="ctr">
              <a:buNone/>
            </a:pPr>
            <a:r>
              <a:rPr lang="en-US" sz="1400" dirty="0">
                <a:solidFill>
                  <a:srgbClr val="16324F"/>
                </a:solidFill>
                <a:latin typeface="Times New Roman" pitchFamily="34" charset="0"/>
                <a:ea typeface="Times New Roman" pitchFamily="34" charset="-122"/>
                <a:cs typeface="Times New Roman" pitchFamily="34" charset="-120"/>
              </a:rPr>
              <a:t>Google Colab  •  Hadoop Streaming  •  Python Mapper/Reducer  •  CSV</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 Mục tiêu và phạm vi thực hành</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a:t>
            </a:r>
            <a:endParaRPr lang="en-US" sz="900" dirty="0"/>
          </a:p>
        </p:txBody>
      </p:sp>
      <p:sp>
        <p:nvSpPr>
          <p:cNvPr id="5" name="Shape 3"/>
          <p:cNvSpPr/>
          <p:nvPr/>
        </p:nvSpPr>
        <p:spPr>
          <a:xfrm>
            <a:off x="594360" y="960120"/>
            <a:ext cx="3566160" cy="4526280"/>
          </a:xfrm>
          <a:prstGeom prst="roundRect">
            <a:avLst>
              <a:gd name="adj" fmla="val 2051"/>
            </a:avLst>
          </a:prstGeom>
          <a:solidFill>
            <a:srgbClr val="EAF1FF"/>
          </a:solidFill>
          <a:ln w="12700">
            <a:solidFill>
              <a:srgbClr val="D9E1EF"/>
            </a:solidFill>
            <a:prstDash val="solid"/>
          </a:ln>
        </p:spPr>
      </p:sp>
      <p:sp>
        <p:nvSpPr>
          <p:cNvPr id="6" name="Text 4"/>
          <p:cNvSpPr/>
          <p:nvPr/>
        </p:nvSpPr>
        <p:spPr>
          <a:xfrm>
            <a:off x="758952" y="1069848"/>
            <a:ext cx="323697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Mục tiêu kỹ thuật</a:t>
            </a:r>
            <a:endParaRPr lang="en-US" sz="1400" dirty="0"/>
          </a:p>
        </p:txBody>
      </p:sp>
      <p:sp>
        <p:nvSpPr>
          <p:cNvPr id="7" name="Text 5"/>
          <p:cNvSpPr/>
          <p:nvPr/>
        </p:nvSpPr>
        <p:spPr>
          <a:xfrm>
            <a:off x="758952" y="1371600"/>
            <a:ext cx="3236976" cy="402336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Sinh viên biết mở Google Colab, cài Apache Hadoop, tạo dữ liệu CSV, viết Mapper/Reducer bằng Python và chạy Hadoop Streaming để tổng hợp doanh thu.</a:t>
            </a:r>
            <a:endParaRPr lang="en-US" sz="1400" dirty="0"/>
          </a:p>
        </p:txBody>
      </p:sp>
      <p:sp>
        <p:nvSpPr>
          <p:cNvPr id="8" name="Shape 6"/>
          <p:cNvSpPr/>
          <p:nvPr/>
        </p:nvSpPr>
        <p:spPr>
          <a:xfrm>
            <a:off x="4343400" y="960120"/>
            <a:ext cx="3566160" cy="4526280"/>
          </a:xfrm>
          <a:prstGeom prst="roundRect">
            <a:avLst>
              <a:gd name="adj" fmla="val 2051"/>
            </a:avLst>
          </a:prstGeom>
          <a:solidFill>
            <a:srgbClr val="EAF7EE"/>
          </a:solidFill>
          <a:ln w="12700">
            <a:solidFill>
              <a:srgbClr val="D9E1EF"/>
            </a:solidFill>
            <a:prstDash val="solid"/>
          </a:ln>
        </p:spPr>
      </p:sp>
      <p:sp>
        <p:nvSpPr>
          <p:cNvPr id="9" name="Text 7"/>
          <p:cNvSpPr/>
          <p:nvPr/>
        </p:nvSpPr>
        <p:spPr>
          <a:xfrm>
            <a:off x="4507992" y="1069848"/>
            <a:ext cx="323697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Mục tiêu nghiệp vụ</a:t>
            </a:r>
            <a:endParaRPr lang="en-US" sz="1400" dirty="0"/>
          </a:p>
        </p:txBody>
      </p:sp>
      <p:sp>
        <p:nvSpPr>
          <p:cNvPr id="10" name="Text 8"/>
          <p:cNvSpPr/>
          <p:nvPr/>
        </p:nvSpPr>
        <p:spPr>
          <a:xfrm>
            <a:off x="4507992" y="1371600"/>
            <a:ext cx="3236976" cy="402336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Phân tích dữ liệu đơn hàng thương mại điện tử để tìm nhóm sản phẩm có doanh thu cao nhất, chỉ tính giao dịch có trạng thái SUCCESS.</a:t>
            </a:r>
            <a:endParaRPr lang="en-US" sz="1400" dirty="0"/>
          </a:p>
        </p:txBody>
      </p:sp>
      <p:sp>
        <p:nvSpPr>
          <p:cNvPr id="11" name="Shape 9"/>
          <p:cNvSpPr/>
          <p:nvPr/>
        </p:nvSpPr>
        <p:spPr>
          <a:xfrm>
            <a:off x="8092440" y="960120"/>
            <a:ext cx="3520440" cy="4526280"/>
          </a:xfrm>
          <a:prstGeom prst="roundRect">
            <a:avLst>
              <a:gd name="adj" fmla="val 2078"/>
            </a:avLst>
          </a:prstGeom>
          <a:solidFill>
            <a:srgbClr val="FFF7D6"/>
          </a:solidFill>
          <a:ln w="12700">
            <a:solidFill>
              <a:srgbClr val="D9E1EF"/>
            </a:solidFill>
            <a:prstDash val="solid"/>
          </a:ln>
        </p:spPr>
      </p:sp>
      <p:sp>
        <p:nvSpPr>
          <p:cNvPr id="12" name="Text 10"/>
          <p:cNvSpPr/>
          <p:nvPr/>
        </p:nvSpPr>
        <p:spPr>
          <a:xfrm>
            <a:off x="8257032" y="1069848"/>
            <a:ext cx="319125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Phạm vi trên Colab</a:t>
            </a:r>
            <a:endParaRPr lang="en-US" sz="1400" dirty="0"/>
          </a:p>
        </p:txBody>
      </p:sp>
      <p:sp>
        <p:nvSpPr>
          <p:cNvPr id="13" name="Text 11"/>
          <p:cNvSpPr/>
          <p:nvPr/>
        </p:nvSpPr>
        <p:spPr>
          <a:xfrm>
            <a:off x="8257032" y="1371600"/>
            <a:ext cx="3191256" cy="402336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Phần chính chạy ổn định ở chế độ local MapReduce. Phần HDFS/YARN được đưa vào như nội dung mở rộng, vì máy ảo Colab là môi trường tạm thời.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2. Điều kiện chuẩn bị trước khi thực hành</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2</a:t>
            </a:r>
            <a:endParaRPr lang="en-US" sz="900" dirty="0"/>
          </a:p>
        </p:txBody>
      </p:sp>
      <p:sp>
        <p:nvSpPr>
          <p:cNvPr id="5" name="Text 3"/>
          <p:cNvSpPr/>
          <p:nvPr/>
        </p:nvSpPr>
        <p:spPr>
          <a:xfrm>
            <a:off x="594360" y="868680"/>
            <a:ext cx="11018520" cy="539496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Người học cần có tài khoản Google để truy cập Google Colab. Không cần cài đặt Hadoop, Java hoặc Python trên máy cá nhân vì toàn bộ thao tác được thực hiện trong trình duyệt.</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Cần trình duyệt ổn định, ưu tiên Chrome hoặc Edge. Khi mở notebook, chọn Runtime → Change runtime type → CPU, sau đó nhấn Connect.</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Lưu ý quan trọng: môi trường Colab có thể bị ngắt sau một thời gian không hoạt động. File sinh ra trong thư mục /content chỉ tồn tại trong phiên chạy hiện tại. Vì vậy, sau khi hoàn thành bài, sinh viên cần tải kết quả về máy hoặc lưu notebook lên Google Drive.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3. Tổng quan luồng thực hành</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3</a:t>
            </a:r>
            <a:endParaRPr lang="en-US" sz="900" dirty="0"/>
          </a:p>
        </p:txBody>
      </p:sp>
      <p:sp>
        <p:nvSpPr>
          <p:cNvPr id="5" name="Shape 3"/>
          <p:cNvSpPr/>
          <p:nvPr/>
        </p:nvSpPr>
        <p:spPr>
          <a:xfrm>
            <a:off x="685800" y="2057400"/>
            <a:ext cx="1417320" cy="658368"/>
          </a:xfrm>
          <a:prstGeom prst="roundRect">
            <a:avLst>
              <a:gd name="adj" fmla="val 11111"/>
            </a:avLst>
          </a:prstGeom>
          <a:solidFill>
            <a:srgbClr val="EAF1FF"/>
          </a:solidFill>
          <a:ln w="12700">
            <a:solidFill>
              <a:srgbClr val="D9E1EF"/>
            </a:solidFill>
            <a:prstDash val="solid"/>
          </a:ln>
        </p:spPr>
      </p:sp>
      <p:sp>
        <p:nvSpPr>
          <p:cNvPr id="6" name="Text 4"/>
          <p:cNvSpPr/>
          <p:nvPr/>
        </p:nvSpPr>
        <p:spPr>
          <a:xfrm>
            <a:off x="77724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Mở Colab</a:t>
            </a:r>
            <a:endParaRPr lang="en-US" sz="1400" dirty="0"/>
          </a:p>
        </p:txBody>
      </p:sp>
      <p:sp>
        <p:nvSpPr>
          <p:cNvPr id="7" name="Shape 5"/>
          <p:cNvSpPr/>
          <p:nvPr/>
        </p:nvSpPr>
        <p:spPr>
          <a:xfrm>
            <a:off x="2167128" y="2386584"/>
            <a:ext cx="493776" cy="0"/>
          </a:xfrm>
          <a:prstGeom prst="line">
            <a:avLst/>
          </a:prstGeom>
          <a:noFill/>
          <a:ln w="19050">
            <a:solidFill>
              <a:srgbClr val="2F6BFF"/>
            </a:solidFill>
            <a:prstDash val="solid"/>
            <a:headEnd type="none"/>
            <a:tailEnd type="triangle"/>
          </a:ln>
        </p:spPr>
      </p:sp>
      <p:sp>
        <p:nvSpPr>
          <p:cNvPr id="8" name="Shape 6"/>
          <p:cNvSpPr/>
          <p:nvPr/>
        </p:nvSpPr>
        <p:spPr>
          <a:xfrm>
            <a:off x="2697480" y="2057400"/>
            <a:ext cx="1417320" cy="658368"/>
          </a:xfrm>
          <a:prstGeom prst="roundRect">
            <a:avLst>
              <a:gd name="adj" fmla="val 11111"/>
            </a:avLst>
          </a:prstGeom>
          <a:solidFill>
            <a:srgbClr val="EAF7EE"/>
          </a:solidFill>
          <a:ln w="12700">
            <a:solidFill>
              <a:srgbClr val="D9E1EF"/>
            </a:solidFill>
            <a:prstDash val="solid"/>
          </a:ln>
        </p:spPr>
      </p:sp>
      <p:sp>
        <p:nvSpPr>
          <p:cNvPr id="9" name="Text 7"/>
          <p:cNvSpPr/>
          <p:nvPr/>
        </p:nvSpPr>
        <p:spPr>
          <a:xfrm>
            <a:off x="278892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Cài Hadoop</a:t>
            </a:r>
            <a:endParaRPr lang="en-US" sz="1400" dirty="0"/>
          </a:p>
        </p:txBody>
      </p:sp>
      <p:sp>
        <p:nvSpPr>
          <p:cNvPr id="10" name="Shape 8"/>
          <p:cNvSpPr/>
          <p:nvPr/>
        </p:nvSpPr>
        <p:spPr>
          <a:xfrm>
            <a:off x="4178808" y="2386584"/>
            <a:ext cx="493776" cy="0"/>
          </a:xfrm>
          <a:prstGeom prst="line">
            <a:avLst/>
          </a:prstGeom>
          <a:noFill/>
          <a:ln w="19050">
            <a:solidFill>
              <a:srgbClr val="2F6BFF"/>
            </a:solidFill>
            <a:prstDash val="solid"/>
            <a:headEnd type="none"/>
            <a:tailEnd type="triangle"/>
          </a:ln>
        </p:spPr>
      </p:sp>
      <p:sp>
        <p:nvSpPr>
          <p:cNvPr id="11" name="Shape 9"/>
          <p:cNvSpPr/>
          <p:nvPr/>
        </p:nvSpPr>
        <p:spPr>
          <a:xfrm>
            <a:off x="4709160" y="2057400"/>
            <a:ext cx="1417320" cy="658368"/>
          </a:xfrm>
          <a:prstGeom prst="roundRect">
            <a:avLst>
              <a:gd name="adj" fmla="val 11111"/>
            </a:avLst>
          </a:prstGeom>
          <a:solidFill>
            <a:srgbClr val="EAF1FF"/>
          </a:solidFill>
          <a:ln w="12700">
            <a:solidFill>
              <a:srgbClr val="D9E1EF"/>
            </a:solidFill>
            <a:prstDash val="solid"/>
          </a:ln>
        </p:spPr>
      </p:sp>
      <p:sp>
        <p:nvSpPr>
          <p:cNvPr id="12" name="Text 10"/>
          <p:cNvSpPr/>
          <p:nvPr/>
        </p:nvSpPr>
        <p:spPr>
          <a:xfrm>
            <a:off x="480060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Tạo dữ liệu</a:t>
            </a:r>
            <a:endParaRPr lang="en-US" sz="1400" dirty="0"/>
          </a:p>
        </p:txBody>
      </p:sp>
      <p:sp>
        <p:nvSpPr>
          <p:cNvPr id="13" name="Shape 11"/>
          <p:cNvSpPr/>
          <p:nvPr/>
        </p:nvSpPr>
        <p:spPr>
          <a:xfrm>
            <a:off x="6190488" y="2386584"/>
            <a:ext cx="493776" cy="0"/>
          </a:xfrm>
          <a:prstGeom prst="line">
            <a:avLst/>
          </a:prstGeom>
          <a:noFill/>
          <a:ln w="19050">
            <a:solidFill>
              <a:srgbClr val="2F6BFF"/>
            </a:solidFill>
            <a:prstDash val="solid"/>
            <a:headEnd type="none"/>
            <a:tailEnd type="triangle"/>
          </a:ln>
        </p:spPr>
      </p:sp>
      <p:sp>
        <p:nvSpPr>
          <p:cNvPr id="14" name="Shape 12"/>
          <p:cNvSpPr/>
          <p:nvPr/>
        </p:nvSpPr>
        <p:spPr>
          <a:xfrm>
            <a:off x="6720840" y="2057400"/>
            <a:ext cx="1417320" cy="658368"/>
          </a:xfrm>
          <a:prstGeom prst="roundRect">
            <a:avLst>
              <a:gd name="adj" fmla="val 11111"/>
            </a:avLst>
          </a:prstGeom>
          <a:solidFill>
            <a:srgbClr val="EAF7EE"/>
          </a:solidFill>
          <a:ln w="12700">
            <a:solidFill>
              <a:srgbClr val="D9E1EF"/>
            </a:solidFill>
            <a:prstDash val="solid"/>
          </a:ln>
        </p:spPr>
      </p:sp>
      <p:sp>
        <p:nvSpPr>
          <p:cNvPr id="15" name="Text 13"/>
          <p:cNvSpPr/>
          <p:nvPr/>
        </p:nvSpPr>
        <p:spPr>
          <a:xfrm>
            <a:off x="681228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Viết Mapper</a:t>
            </a:r>
            <a:endParaRPr lang="en-US" sz="1400" dirty="0"/>
          </a:p>
        </p:txBody>
      </p:sp>
      <p:sp>
        <p:nvSpPr>
          <p:cNvPr id="16" name="Shape 14"/>
          <p:cNvSpPr/>
          <p:nvPr/>
        </p:nvSpPr>
        <p:spPr>
          <a:xfrm>
            <a:off x="8202168" y="2386584"/>
            <a:ext cx="493776" cy="0"/>
          </a:xfrm>
          <a:prstGeom prst="line">
            <a:avLst/>
          </a:prstGeom>
          <a:noFill/>
          <a:ln w="19050">
            <a:solidFill>
              <a:srgbClr val="2F6BFF"/>
            </a:solidFill>
            <a:prstDash val="solid"/>
            <a:headEnd type="none"/>
            <a:tailEnd type="triangle"/>
          </a:ln>
        </p:spPr>
      </p:sp>
      <p:sp>
        <p:nvSpPr>
          <p:cNvPr id="17" name="Shape 15"/>
          <p:cNvSpPr/>
          <p:nvPr/>
        </p:nvSpPr>
        <p:spPr>
          <a:xfrm>
            <a:off x="8732520" y="2057400"/>
            <a:ext cx="1417320" cy="658368"/>
          </a:xfrm>
          <a:prstGeom prst="roundRect">
            <a:avLst>
              <a:gd name="adj" fmla="val 11111"/>
            </a:avLst>
          </a:prstGeom>
          <a:solidFill>
            <a:srgbClr val="EAF1FF"/>
          </a:solidFill>
          <a:ln w="12700">
            <a:solidFill>
              <a:srgbClr val="D9E1EF"/>
            </a:solidFill>
            <a:prstDash val="solid"/>
          </a:ln>
        </p:spPr>
      </p:sp>
      <p:sp>
        <p:nvSpPr>
          <p:cNvPr id="18" name="Text 16"/>
          <p:cNvSpPr/>
          <p:nvPr/>
        </p:nvSpPr>
        <p:spPr>
          <a:xfrm>
            <a:off x="882396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Viết Reducer</a:t>
            </a:r>
            <a:endParaRPr lang="en-US" sz="1400" dirty="0"/>
          </a:p>
        </p:txBody>
      </p:sp>
      <p:sp>
        <p:nvSpPr>
          <p:cNvPr id="19" name="Shape 17"/>
          <p:cNvSpPr/>
          <p:nvPr/>
        </p:nvSpPr>
        <p:spPr>
          <a:xfrm>
            <a:off x="10213848" y="2386584"/>
            <a:ext cx="493776" cy="0"/>
          </a:xfrm>
          <a:prstGeom prst="line">
            <a:avLst/>
          </a:prstGeom>
          <a:noFill/>
          <a:ln w="19050">
            <a:solidFill>
              <a:srgbClr val="2F6BFF"/>
            </a:solidFill>
            <a:prstDash val="solid"/>
            <a:headEnd type="none"/>
            <a:tailEnd type="triangle"/>
          </a:ln>
        </p:spPr>
      </p:sp>
      <p:sp>
        <p:nvSpPr>
          <p:cNvPr id="20" name="Shape 18"/>
          <p:cNvSpPr/>
          <p:nvPr/>
        </p:nvSpPr>
        <p:spPr>
          <a:xfrm>
            <a:off x="10469880" y="2057400"/>
            <a:ext cx="1417320" cy="658368"/>
          </a:xfrm>
          <a:prstGeom prst="roundRect">
            <a:avLst>
              <a:gd name="adj" fmla="val 11111"/>
            </a:avLst>
          </a:prstGeom>
          <a:solidFill>
            <a:srgbClr val="EAF7EE"/>
          </a:solidFill>
          <a:ln w="12700">
            <a:solidFill>
              <a:srgbClr val="D9E1EF"/>
            </a:solidFill>
            <a:prstDash val="solid"/>
          </a:ln>
        </p:spPr>
      </p:sp>
      <p:sp>
        <p:nvSpPr>
          <p:cNvPr id="21" name="Text 19"/>
          <p:cNvSpPr/>
          <p:nvPr/>
        </p:nvSpPr>
        <p:spPr>
          <a:xfrm>
            <a:off x="10561320" y="2267712"/>
            <a:ext cx="1234440" cy="201168"/>
          </a:xfrm>
          <a:prstGeom prst="rect">
            <a:avLst/>
          </a:prstGeom>
          <a:noFill/>
          <a:ln/>
        </p:spPr>
        <p:txBody>
          <a:bodyPr wrap="square" lIns="0" tIns="0" rIns="0" bIns="0" rtlCol="0" anchor="ctr"/>
          <a:lstStyle/>
          <a:p>
            <a:pPr marL="0" indent="0" algn="ctr">
              <a:buNone/>
            </a:pPr>
            <a:r>
              <a:rPr lang="en-US" sz="1400" b="1" dirty="0">
                <a:solidFill>
                  <a:srgbClr val="16324F"/>
                </a:solidFill>
                <a:latin typeface="Times New Roman" pitchFamily="34" charset="0"/>
                <a:ea typeface="Times New Roman" pitchFamily="34" charset="-122"/>
                <a:cs typeface="Times New Roman" pitchFamily="34" charset="-120"/>
              </a:rPr>
              <a:t>Xem kết quả</a:t>
            </a:r>
            <a:endParaRPr lang="en-US" sz="1400" dirty="0"/>
          </a:p>
        </p:txBody>
      </p:sp>
      <p:sp>
        <p:nvSpPr>
          <p:cNvPr id="22" name="Text 20"/>
          <p:cNvSpPr/>
          <p:nvPr/>
        </p:nvSpPr>
        <p:spPr>
          <a:xfrm>
            <a:off x="868680" y="3657600"/>
            <a:ext cx="10424160" cy="137160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Luồng xử lý dữ liệu trong bài thực hành: dữ liệu CSV được đọc bởi Mapper. Mapper phát sinh cặp key–value theo dạng category → amount. Hadoop gom các bản ghi cùng category trong bước shuffle/sort. Reducer cộng tổng amount của từng category và ghi kết quả ra thư mục output.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4. Bước 1 – Tạo notebook Google Colab</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4</a:t>
            </a:r>
            <a:endParaRPr lang="en-US" sz="900" dirty="0"/>
          </a:p>
        </p:txBody>
      </p:sp>
      <p:sp>
        <p:nvSpPr>
          <p:cNvPr id="5" name="Text 3"/>
          <p:cNvSpPr/>
          <p:nvPr/>
        </p:nvSpPr>
        <p:spPr>
          <a:xfrm>
            <a:off x="594360" y="868680"/>
            <a:ext cx="11018520" cy="539496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1. Truy cập https://colab.research.google.com.</a:t>
            </a: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2. Chọn New notebook để tạo một notebook mới.</a:t>
            </a: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3. Đổi tên notebook thành Hadoop_Ecommerce_Lab.ipynb.</a:t>
            </a: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4. Vào Runtime → Change runtime type, chọn CPU.</a:t>
            </a: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5. Nhấn Connect để kết nối máy ảo Colab.</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Sau khi kết nối thành công, có thể tạo các ô lệnh bằng nút + Code. Mỗi ô lệnh trong tài liệu này tương ứng một bước chạy độc lập. Người học nên chạy theo đúng thứ tự để tránh lỗi thiếu thư viện hoặc thiếu file.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5. Bước 2 – Kiểm tra Java và cài Hadoop</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5</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Ô lệnh 1: kiểm tra Java có sẵn trên Colab</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!java -version</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Nếu cần cài Java, chạy thêm hai lệnh sau</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!apt-get update -qq</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!apt-get install -y openjdk-17-jdk-headless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Ô lệnh 2: tải Apache Hadoop 3.5.0 từ Apache Archive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!wget -q --show-progress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https://archive.apache.org/dist/hadoop/common/hadoop-3.5.0/hadoop-3.5.0.tar.gz</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Giải nén Hadoop vào thư mục /content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!tar -xzf hadoop-3.5.0.tar.gz</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6. Bước 3 – Cấu hình biến môi trường Hadoop</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6</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os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subprocess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os.environ["HADOOP_HOME"] = "/content/hadoop-3.5.0"</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os.environ["JAVA_HOME"] = os.path.realpath(</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subprocess.check_output(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["bash", "-lc", "dirname $(dirname $(readlink -f $(which java)))"],</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text=True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).strip()</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os.environ["PATH"] = os.environ["HADOOP_HOME"] + "/bin:" + os.environ["PATH"]</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with open(os.environ["HADOOP_HOME"] + "/etc/hadoop/hadoop-env.sh", "a") as f:</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f.write("\nexport JAVA_HOME=" + os.environ["JAVA_HOME"] + "\n")</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!hadoop version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7. Bước 4 – Tạo dữ liệu đơn hàng mẫu</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7</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%%writefile orders_2026_09.csv</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transaction_id,order_date,order_time,province,category,channel,quantity,unit_price,amount,status,shipping_days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TX001,2026-09-01,08:30,Ha Noi,Electronics,Web,1,3400000,3400000,SUCCESS,2</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TX002,2026-09-01,09:00,Da Nang,Fashion,App,2,260000,520000,SUCCESS,3</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TX003,2026-09-02,10:30,Can Tho,Grocery,Web,1,180000,180000,FAILED,4</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TX004,2026-09-02,11:00,Lam Dong,Book,App,1,250000,250000,SUCCESS,2</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TX005,2026-09-03,13:30,Ha Noi,Electronics,Web,1,2500000,2500000,SUCCESS,1</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Kiểm tra nhanh dữ liệu</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!head orders_2026_09.csv</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8. Bước 5 – Viết chương trình Mapper</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8</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%%writefile mapper_revenue.py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sys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csv</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reader = csv.DictReader(sys.stdin)</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for row in reader:</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if row["status"] == "SUCCESS":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category = row["category"]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amount = int(row["amount"])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print(f"{category}\t{amount}")</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Ý nghĩa:</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 Đọc từng dòng CSV từ standard input.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 Chỉ giữ giao dịch SUCCESS.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 Phát sinh cặp key-value: category -&gt; amount.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9. Bước 6 – Viết chương trình Reducer</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9</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fontScale="92500" lnSpcReduction="10000"/>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%%writefile reducer_revenue.py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sys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current = None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total = 0</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for line in sys.stdin:</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category, amount = line.strip().split("\t")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amount = int(amount)</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if current == category: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total += amount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else: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if current is not None: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print(f"{current}\t{total}")</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current = category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total = amount</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if current is not None: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print(f"{current}\t{total}")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10. Bước 7 – Chạy thử Mapper và Reducer bằng pipeline</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10</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Chạy thử trước khi gọi Hadoop Streaming</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!cat orders_2026_09.csv | python3 mapper_revenue.py | sort | python3 reducer_revenue.py</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Kết quả mong đợi với dữ liệu mẫu:</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Book          250000</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Electronics   5900000</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Fashion        520000</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Nếu bước này lỗi, cần kiểm tra lại tên cột, dấu phẩy CSV,</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hoặc lỗi thụt dòng trong file mapper_revenue.py và reducer_revenue.py.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11. Bước 8 – Chạy Hadoop Streaming ở chế độ local</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11</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fontScale="92500" lnSpcReduction="10000"/>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glob</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shutil</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import subprocess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shutil.rmtree("/content/output_revenue", ignore_errors=True)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jar = glob.glob(</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"/content/hadoop-3.5.0/share/hadoop/tools/lib/hadoop-streaming*.jar"</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)[0]</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cmd =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"hadoop", "jar", jar,</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"-D", "mapreduce.framework.name=local",</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"-D", "fs.defaultFS=file:///",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"-files", "/content/mapper_revenue.py,/content/reducer_revenue.py",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"-mapper", "python3 mapper_revenue.py",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"-reducer", "python3 reducer_revenue.py",</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"-input", "file:///content/orders_2026_09.csv",</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"-output", "file:///content/output_revenue"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subprocess.run(cmd, check=True)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12. Bước 9 – Xem kết quả và lấy Top 3</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12</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Xem file kết quả do Hadoop Streaming sinh ra</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!ls -l /content/output_revenue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!cat /content/output_revenue/part-*</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Sắp xếp theo doanh thu giảm dần và lấy 3 nhóm cao nhất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!sort -k2,2nr /content/output_revenue/part-* | head -3</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Tải file kết quả về máy cá nhân nếu cần</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from google.colab import files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files.download('/content/output_revenue/part-00000')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13. Giải thích kết quả cần viết trong báo cáo</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13</a:t>
            </a:r>
            <a:endParaRPr lang="en-US" sz="900" dirty="0"/>
          </a:p>
        </p:txBody>
      </p:sp>
      <p:sp>
        <p:nvSpPr>
          <p:cNvPr id="5" name="Text 3"/>
          <p:cNvSpPr/>
          <p:nvPr/>
        </p:nvSpPr>
        <p:spPr>
          <a:xfrm>
            <a:off x="594360" y="868680"/>
            <a:ext cx="11018520" cy="539496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Báo cáo cần nêu rõ dữ liệu đầu vào là file orders_2026_09.csv gồm thông tin giao dịch đơn hàng, nhóm sản phẩm, doanh thu và trạng thái giao dịch.</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Mapper đọc từng dòng CSV. Nếu status = SUCCESS, Mapper phát sinh cặp key–value theo dạng category → amount. Ví dụ: Electronics → 3400000.</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Reducer nhận các dòng đã được gom theo category, cộng tổng amount của từng nhóm sản phẩm và ghi kết quả cuối cùng ra file part-00000.</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Ý nghĩa nghiệp vụ: nhóm sản phẩm có tổng doanh thu cao nhất là nhóm cần ưu tiên quản trị tồn kho, khuyến mại, giao hàng và chăm sóc khách hàng.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14. Bảng mẫu kết quả sinh viên cần nộp</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14</a:t>
            </a:r>
            <a:endParaRPr lang="en-US" sz="900" dirty="0"/>
          </a:p>
        </p:txBody>
      </p:sp>
      <p:sp>
        <p:nvSpPr>
          <p:cNvPr id="5" name="Shape 3"/>
          <p:cNvSpPr/>
          <p:nvPr/>
        </p:nvSpPr>
        <p:spPr>
          <a:xfrm>
            <a:off x="868680" y="1143000"/>
            <a:ext cx="10424160" cy="1828800"/>
          </a:xfrm>
          <a:prstGeom prst="rect">
            <a:avLst/>
          </a:prstGeom>
          <a:solidFill>
            <a:srgbClr val="F6F8FA"/>
          </a:solidFill>
          <a:ln w="12700">
            <a:solidFill>
              <a:srgbClr val="CBD5E1"/>
            </a:solidFill>
            <a:prstDash val="solid"/>
          </a:ln>
        </p:spPr>
      </p:sp>
      <p:sp>
        <p:nvSpPr>
          <p:cNvPr id="6" name="Text 4"/>
          <p:cNvSpPr/>
          <p:nvPr/>
        </p:nvSpPr>
        <p:spPr>
          <a:xfrm>
            <a:off x="1033272" y="1289304"/>
            <a:ext cx="10094976" cy="153619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Hạng    Category        Doanh thu      Nhận xét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1       Electronics     5.900.000      Nhóm có doanh thu cao nhất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2       Fashion           520.000      Nhóm có doanh thu đứng thứ hai</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3       Book              250.000      Nhóm có doanh thu đứng thứ ba</a:t>
            </a:r>
            <a:endParaRPr lang="en-US" sz="1400" dirty="0"/>
          </a:p>
        </p:txBody>
      </p:sp>
      <p:sp>
        <p:nvSpPr>
          <p:cNvPr id="7" name="Text 5"/>
          <p:cNvSpPr/>
          <p:nvPr/>
        </p:nvSpPr>
        <p:spPr>
          <a:xfrm>
            <a:off x="777240" y="3749040"/>
            <a:ext cx="10607040" cy="123444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Sinh viên cần thay số liệu mẫu bằng kết quả chạy thực tế. Ngoài bảng Top 3, bài nộp nên có ảnh chụp hoặc log lệnh chứng minh đã chạy thành công: hadoop version, lệnh chạy Hadoop Streaming, thư mục output và nội dung file part-00000.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15. Mở rộng: vì sao HDFS/YARN trên Colab cần thận trọng</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15</a:t>
            </a:r>
            <a:endParaRPr lang="en-US" sz="900" dirty="0"/>
          </a:p>
        </p:txBody>
      </p:sp>
      <p:sp>
        <p:nvSpPr>
          <p:cNvPr id="5" name="Text 3"/>
          <p:cNvSpPr/>
          <p:nvPr/>
        </p:nvSpPr>
        <p:spPr>
          <a:xfrm>
            <a:off x="594360" y="868680"/>
            <a:ext cx="11018520" cy="5394960"/>
          </a:xfrm>
          <a:prstGeom prst="rect">
            <a:avLst/>
          </a:prstGeom>
          <a:noFill/>
          <a:ln/>
        </p:spPr>
        <p:txBody>
          <a:bodyPr wrap="square" lIns="1016" tIns="1016" rIns="1016" bIns="1016"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Google Colab là máy ảo tạm thời, không phải cụm máy chủ Hadoop lâu dài. Vì vậy, phần thực hành chính nên dùng Hadoop Streaming ở chế độ local để bảo đảm ổn định cho lớp học.</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Nếu giảng viên muốn minh họa thêm HDFS và YARN, có thể thử cấu hình pseudo-distributed mode trên cùng một máy ảo. Cách này cho phép dùng các lệnh hdfs dfs, start-dfs.sh và start-yarn.sh, nhưng có thể bị lỗi do phiên Colab thay đổi, cổng dịch vụ không mở hoặc giới hạn tài nguyên.</a:t>
            </a:r>
            <a:endParaRPr lang="en-US" sz="1400" dirty="0"/>
          </a:p>
          <a:p>
            <a:pPr marL="0" indent="0" algn="just">
              <a:lnSpc>
                <a:spcPct val="130000"/>
              </a:lnSpc>
              <a:buNone/>
            </a:pPr>
            <a:endParaRPr lang="en-US" sz="1400" dirty="0"/>
          </a:p>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Phần sau là hướng dẫn mở rộng. Không nên dùng làm tiêu chí bắt buộc nếu lớp học cần kết quả ổn định trong thời gian ngắn.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16. Mở rộng – Cài SSH và cấu hình pseudo-distributed</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16</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Cài SSH để Hadoop có thể khởi động daemon nội bộ</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!apt-get update -qq</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!apt-get install -y openssh-server</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!service ssh start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!ssh-keygen -t rsa -P '' -f ~/.ssh/id_rsa -q</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!cat ~/.ssh/id_rsa.pub &gt;&gt; ~/.ssh/authorized_keys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!chmod 0600 ~/.ssh/authorized_keys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Kiểm tra SSH localhost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!ssh -o StrictHostKeyChecking=no localhost 'echo SSH_OK'</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Tạo thư mục dữ liệu cho NameNode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!mkdir -p /content/hadoopdata/namenode</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!mkdir -p /content/hadoopdata/datanode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17. Mở rộng – Tạo file cấu hình Hadoop XML</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17</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fontScale="77500" lnSpcReduction="20000"/>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%%bash</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cat &gt; $HADOOP_HOME/etc/hadoop/core-site.xml &lt;&lt;'EOF'</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&lt;configuration&gt;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&lt;name&gt;fs.defaultFS&lt;/name&gt;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&lt;value&gt;hdfs://localhost:9000&lt;/value&gt;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&lt;/configuration&gt;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EOF</a:t>
            </a:r>
            <a:endParaRPr lang="en-US" sz="1400" dirty="0"/>
          </a:p>
          <a:p>
            <a:pPr marL="0" indent="0" algn="l">
              <a:lnSpc>
                <a:spcPct val="130000"/>
              </a:lnSpc>
              <a:buNone/>
            </a:pPr>
            <a:r>
              <a:rPr lang="en-US" sz="1400" dirty="0" smtClean="0">
                <a:solidFill>
                  <a:srgbClr val="111827"/>
                </a:solidFill>
                <a:latin typeface="Times New Roman" pitchFamily="34" charset="0"/>
                <a:ea typeface="Times New Roman" pitchFamily="34" charset="-122"/>
                <a:cs typeface="Times New Roman" pitchFamily="34" charset="-120"/>
              </a:rPr>
              <a:t>cat </a:t>
            </a:r>
            <a:r>
              <a:rPr lang="en-US" sz="1400" dirty="0">
                <a:solidFill>
                  <a:srgbClr val="111827"/>
                </a:solidFill>
                <a:latin typeface="Times New Roman" pitchFamily="34" charset="0"/>
                <a:ea typeface="Times New Roman" pitchFamily="34" charset="-122"/>
                <a:cs typeface="Times New Roman" pitchFamily="34" charset="-120"/>
              </a:rPr>
              <a:t>&gt; $HADOOP_HOME/etc/hadoop/hdfs-site.xml &lt;&lt;'EOF'</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&lt;configuration&gt;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&lt;name&gt;dfs.replication&lt;/name&gt;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&lt;value&gt;1&lt;/value&gt;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&lt;name&gt;dfs.namenode.name.dir&lt;/name&gt;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&lt;value&gt;file:/content/hadoopdata/namenode&lt;/value&gt;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&lt;name&gt;dfs.datanode.data.dir&lt;/name&gt;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&lt;value&gt;file:/content/hadoopdata/datanode&lt;/value&gt;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&lt;/property&gt;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&lt;/configuration&gt;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EOF</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18. Mở rộng – Khởi động HDFS/YARN và đưa dữ liệu vào HDFS</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18</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Format NameNode lần đầu</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namenode -format -force</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Khởi động HDFS và YARN</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!$HADOOP_HOME/sbin/start-dfs.sh</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!$HADOOP_HOME/sbin/start-yarn.sh</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Kiểm tra daemon Hadoop</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!jps</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Tạo thư mục và đưa dữ liệu lên HDFS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-mkdir -p /user/student/ecommerce/input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-put -f orders_2026_09.csv /user/student/ecommerce/input/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-ls /user/student/ecommerce/input</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-cat /user/student/ecommerce/input/orders_2026_09.csv | head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19. Mở rộng – Chạy Hadoop Streaming với input/output trên HDFS</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19</a:t>
            </a:r>
            <a:endParaRPr lang="en-US" sz="900" dirty="0"/>
          </a:p>
        </p:txBody>
      </p:sp>
      <p:sp>
        <p:nvSpPr>
          <p:cNvPr id="5" name="Shape 3"/>
          <p:cNvSpPr/>
          <p:nvPr/>
        </p:nvSpPr>
        <p:spPr>
          <a:xfrm>
            <a:off x="594360" y="960120"/>
            <a:ext cx="11018520" cy="5166360"/>
          </a:xfrm>
          <a:prstGeom prst="rect">
            <a:avLst/>
          </a:prstGeom>
          <a:solidFill>
            <a:srgbClr val="F6F8FA"/>
          </a:solidFill>
          <a:ln w="12700">
            <a:solidFill>
              <a:srgbClr val="CBD5E1"/>
            </a:solidFill>
            <a:prstDash val="solid"/>
          </a:ln>
        </p:spPr>
      </p:sp>
      <p:sp>
        <p:nvSpPr>
          <p:cNvPr id="6" name="Text 4"/>
          <p:cNvSpPr/>
          <p:nvPr/>
        </p:nvSpPr>
        <p:spPr>
          <a:xfrm>
            <a:off x="758952" y="1106424"/>
            <a:ext cx="10689336" cy="487375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Xóa output cũ nếu có</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-rm -r -f /user/student/ecommerce/output/revenue_by_category</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Chạy Hadoop Streaming với input HDFS và output HDFS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!hadoop jar $HADOOP_HOME/share/hadoop/tools/lib/hadoop-streaming*.jar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-files mapper_revenue.py,reducer_revenue.py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-mapper "python3 mapper_revenue.py"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-reducer "python3 reducer_revenue.py"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-input /user/student/ecommerce/input/orders_2026_09.csv \</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-output /user/student/ecommerce/output/revenue_by_category</a:t>
            </a:r>
            <a:endParaRPr lang="en-US" sz="1400" dirty="0"/>
          </a:p>
          <a:p>
            <a:pPr marL="0" indent="0" algn="l">
              <a:lnSpc>
                <a:spcPct val="130000"/>
              </a:lnSpc>
              <a:buNone/>
            </a:pP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 Xem kết quả trên HDFS</a:t>
            </a:r>
            <a:endParaRPr lang="en-US" sz="1400" dirty="0"/>
          </a:p>
          <a:p>
            <a:pPr marL="0" indent="0" algn="l">
              <a:lnSpc>
                <a:spcPct val="130000"/>
              </a:lnSpc>
              <a:buNone/>
            </a:pPr>
            <a:r>
              <a:rPr lang="en-US" sz="1400" dirty="0">
                <a:solidFill>
                  <a:srgbClr val="111827"/>
                </a:solidFill>
                <a:latin typeface="Times New Roman" pitchFamily="34" charset="0"/>
                <a:ea typeface="Times New Roman" pitchFamily="34" charset="-122"/>
                <a:cs typeface="Times New Roman" pitchFamily="34" charset="-120"/>
              </a:rPr>
              <a:t>!hdfs dfs -cat /user/student/ecommerce/output/revenue_by_category/part-*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F6BFF"/>
          </a:solidFill>
          <a:ln w="12700">
            <a:solidFill>
              <a:srgbClr val="2F6BFF"/>
            </a:solidFill>
            <a:prstDash val="solid"/>
          </a:ln>
        </p:spPr>
      </p:sp>
      <p:sp>
        <p:nvSpPr>
          <p:cNvPr id="3" name="Text 1"/>
          <p:cNvSpPr/>
          <p:nvPr/>
        </p:nvSpPr>
        <p:spPr>
          <a:xfrm>
            <a:off x="502920" y="347472"/>
            <a:ext cx="10789920" cy="292608"/>
          </a:xfrm>
          <a:prstGeom prst="rect">
            <a:avLst/>
          </a:prstGeom>
          <a:noFill/>
          <a:ln/>
        </p:spPr>
        <p:txBody>
          <a:bodyPr wrap="square" lIns="0" tIns="0" rIns="0" bIns="0" rtlCol="0" anchor="ctr"/>
          <a:lstStyle/>
          <a:p>
            <a:pPr marL="0" indent="0">
              <a:buNone/>
            </a:pPr>
            <a:r>
              <a:rPr lang="en-US" sz="1800" b="1" dirty="0">
                <a:solidFill>
                  <a:srgbClr val="16324F"/>
                </a:solidFill>
                <a:latin typeface="Times New Roman" pitchFamily="34" charset="0"/>
                <a:ea typeface="Times New Roman" pitchFamily="34" charset="-122"/>
                <a:cs typeface="Times New Roman" pitchFamily="34" charset="-120"/>
              </a:rPr>
              <a:t>20. Lỗi thường gặp và cách xử lý</a:t>
            </a:r>
            <a:endParaRPr lang="en-US" sz="1800" dirty="0"/>
          </a:p>
        </p:txBody>
      </p:sp>
      <p:sp>
        <p:nvSpPr>
          <p:cNvPr id="4" name="Text 2"/>
          <p:cNvSpPr/>
          <p:nvPr/>
        </p:nvSpPr>
        <p:spPr>
          <a:xfrm>
            <a:off x="11430000" y="6355080"/>
            <a:ext cx="274320" cy="164592"/>
          </a:xfrm>
          <a:prstGeom prst="rect">
            <a:avLst/>
          </a:prstGeom>
          <a:noFill/>
          <a:ln/>
        </p:spPr>
        <p:txBody>
          <a:bodyPr wrap="square" lIns="0" tIns="0" rIns="0" bIns="0" rtlCol="0" anchor="ctr"/>
          <a:lstStyle/>
          <a:p>
            <a:pPr marL="0" indent="0" algn="r">
              <a:buNone/>
            </a:pPr>
            <a:r>
              <a:rPr lang="en-US" sz="900" dirty="0">
                <a:solidFill>
                  <a:srgbClr val="6B7280"/>
                </a:solidFill>
                <a:latin typeface="Times New Roman" pitchFamily="34" charset="0"/>
                <a:ea typeface="Times New Roman" pitchFamily="34" charset="-122"/>
                <a:cs typeface="Times New Roman" pitchFamily="34" charset="-120"/>
              </a:rPr>
              <a:t>20</a:t>
            </a:r>
            <a:endParaRPr lang="en-US" sz="900" dirty="0"/>
          </a:p>
        </p:txBody>
      </p:sp>
      <p:sp>
        <p:nvSpPr>
          <p:cNvPr id="5" name="Shape 3"/>
          <p:cNvSpPr/>
          <p:nvPr/>
        </p:nvSpPr>
        <p:spPr>
          <a:xfrm>
            <a:off x="594360" y="960120"/>
            <a:ext cx="3566160" cy="4480560"/>
          </a:xfrm>
          <a:prstGeom prst="roundRect">
            <a:avLst>
              <a:gd name="adj" fmla="val 2051"/>
            </a:avLst>
          </a:prstGeom>
          <a:solidFill>
            <a:srgbClr val="FFECEC"/>
          </a:solidFill>
          <a:ln w="12700">
            <a:solidFill>
              <a:srgbClr val="D9E1EF"/>
            </a:solidFill>
            <a:prstDash val="solid"/>
          </a:ln>
        </p:spPr>
      </p:sp>
      <p:sp>
        <p:nvSpPr>
          <p:cNvPr id="6" name="Text 4"/>
          <p:cNvSpPr/>
          <p:nvPr/>
        </p:nvSpPr>
        <p:spPr>
          <a:xfrm>
            <a:off x="758952" y="1069848"/>
            <a:ext cx="323697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Lỗi không thấy hadoop</a:t>
            </a:r>
            <a:endParaRPr lang="en-US" sz="1400" dirty="0"/>
          </a:p>
        </p:txBody>
      </p:sp>
      <p:sp>
        <p:nvSpPr>
          <p:cNvPr id="7" name="Text 5"/>
          <p:cNvSpPr/>
          <p:nvPr/>
        </p:nvSpPr>
        <p:spPr>
          <a:xfrm>
            <a:off x="758952" y="1371600"/>
            <a:ext cx="3236976" cy="397764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Chạy lại ô cấu hình biến môi trường. Kiểm tra HADOOP_HOME=/content/hadoop-3.5.0 và PATH đã có thư mục bin của Hadoop.</a:t>
            </a:r>
            <a:endParaRPr lang="en-US" sz="1400" dirty="0"/>
          </a:p>
        </p:txBody>
      </p:sp>
      <p:sp>
        <p:nvSpPr>
          <p:cNvPr id="8" name="Shape 6"/>
          <p:cNvSpPr/>
          <p:nvPr/>
        </p:nvSpPr>
        <p:spPr>
          <a:xfrm>
            <a:off x="4343400" y="960120"/>
            <a:ext cx="3566160" cy="4480560"/>
          </a:xfrm>
          <a:prstGeom prst="roundRect">
            <a:avLst>
              <a:gd name="adj" fmla="val 2051"/>
            </a:avLst>
          </a:prstGeom>
          <a:solidFill>
            <a:srgbClr val="FFF7D6"/>
          </a:solidFill>
          <a:ln w="12700">
            <a:solidFill>
              <a:srgbClr val="D9E1EF"/>
            </a:solidFill>
            <a:prstDash val="solid"/>
          </a:ln>
        </p:spPr>
      </p:sp>
      <p:sp>
        <p:nvSpPr>
          <p:cNvPr id="9" name="Text 7"/>
          <p:cNvSpPr/>
          <p:nvPr/>
        </p:nvSpPr>
        <p:spPr>
          <a:xfrm>
            <a:off x="4507992" y="1069848"/>
            <a:ext cx="323697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Output already exists</a:t>
            </a:r>
            <a:endParaRPr lang="en-US" sz="1400" dirty="0"/>
          </a:p>
        </p:txBody>
      </p:sp>
      <p:sp>
        <p:nvSpPr>
          <p:cNvPr id="10" name="Text 8"/>
          <p:cNvSpPr/>
          <p:nvPr/>
        </p:nvSpPr>
        <p:spPr>
          <a:xfrm>
            <a:off x="4507992" y="1371600"/>
            <a:ext cx="3236976" cy="397764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Hadoop không ghi đè output. Xóa thư mục output cũ bằng shutil.rmtree hoặc hdfs dfs -rm -r -f trước khi chạy lại.</a:t>
            </a:r>
            <a:endParaRPr lang="en-US" sz="1400" dirty="0"/>
          </a:p>
        </p:txBody>
      </p:sp>
      <p:sp>
        <p:nvSpPr>
          <p:cNvPr id="11" name="Shape 9"/>
          <p:cNvSpPr/>
          <p:nvPr/>
        </p:nvSpPr>
        <p:spPr>
          <a:xfrm>
            <a:off x="8092440" y="960120"/>
            <a:ext cx="3520440" cy="4480560"/>
          </a:xfrm>
          <a:prstGeom prst="roundRect">
            <a:avLst>
              <a:gd name="adj" fmla="val 2078"/>
            </a:avLst>
          </a:prstGeom>
          <a:solidFill>
            <a:srgbClr val="EAF1FF"/>
          </a:solidFill>
          <a:ln w="12700">
            <a:solidFill>
              <a:srgbClr val="D9E1EF"/>
            </a:solidFill>
            <a:prstDash val="solid"/>
          </a:ln>
        </p:spPr>
      </p:sp>
      <p:sp>
        <p:nvSpPr>
          <p:cNvPr id="12" name="Text 10"/>
          <p:cNvSpPr/>
          <p:nvPr/>
        </p:nvSpPr>
        <p:spPr>
          <a:xfrm>
            <a:off x="8257032" y="1069848"/>
            <a:ext cx="3191256" cy="237744"/>
          </a:xfrm>
          <a:prstGeom prst="rect">
            <a:avLst/>
          </a:prstGeom>
          <a:noFill/>
          <a:ln/>
        </p:spPr>
        <p:txBody>
          <a:bodyPr wrap="square" lIns="0" tIns="0" rIns="0" bIns="0" rtlCol="0" anchor="ctr"/>
          <a:lstStyle/>
          <a:p>
            <a:pPr marL="0" indent="0">
              <a:buNone/>
            </a:pPr>
            <a:r>
              <a:rPr lang="en-US" sz="1400" b="1" dirty="0">
                <a:solidFill>
                  <a:srgbClr val="16324F"/>
                </a:solidFill>
                <a:latin typeface="Times New Roman" pitchFamily="34" charset="0"/>
                <a:ea typeface="Times New Roman" pitchFamily="34" charset="-122"/>
                <a:cs typeface="Times New Roman" pitchFamily="34" charset="-120"/>
              </a:rPr>
              <a:t>Reducer sai kết quả</a:t>
            </a:r>
            <a:endParaRPr lang="en-US" sz="1400" dirty="0"/>
          </a:p>
        </p:txBody>
      </p:sp>
      <p:sp>
        <p:nvSpPr>
          <p:cNvPr id="13" name="Text 11"/>
          <p:cNvSpPr/>
          <p:nvPr/>
        </p:nvSpPr>
        <p:spPr>
          <a:xfrm>
            <a:off x="8257032" y="1371600"/>
            <a:ext cx="3191256" cy="3977640"/>
          </a:xfrm>
          <a:prstGeom prst="rect">
            <a:avLst/>
          </a:prstGeom>
          <a:noFill/>
          <a:ln/>
        </p:spPr>
        <p:txBody>
          <a:bodyPr wrap="square" lIns="0" tIns="0" rIns="0" bIns="0" rtlCol="0" anchor="t">
            <a:normAutofit/>
          </a:bodyPr>
          <a:lstStyle/>
          <a:p>
            <a:pPr marL="0" indent="0" algn="just">
              <a:lnSpc>
                <a:spcPct val="130000"/>
              </a:lnSpc>
              <a:buNone/>
            </a:pPr>
            <a:r>
              <a:rPr lang="en-US" sz="1400" dirty="0">
                <a:solidFill>
                  <a:srgbClr val="1F2937"/>
                </a:solidFill>
                <a:latin typeface="Times New Roman" pitchFamily="34" charset="0"/>
                <a:ea typeface="Times New Roman" pitchFamily="34" charset="-122"/>
                <a:cs typeface="Times New Roman" pitchFamily="34" charset="-120"/>
              </a:rPr>
              <a:t>Kiểm tra Mapper có lọc đúng status = SUCCESS không. Kiểm tra cột amount là số nguyên và dữ liệu đã được sort trước khi Reducer cộng dồn.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2081</Words>
  <Application>Microsoft Office PowerPoint</Application>
  <PresentationFormat>Widescreen</PresentationFormat>
  <Paragraphs>295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thực hành Hadoop online trên Google Colab</dc:title>
  <dc:subject>Hướng dẫn thực hành Hadoop trên Google Colab</dc:subject>
  <dc:creator>OpenAI</dc:creator>
  <cp:lastModifiedBy>Phan Thanh Toan</cp:lastModifiedBy>
  <cp:revision>3</cp:revision>
  <dcterms:created xsi:type="dcterms:W3CDTF">2026-10-07T07:38:08Z</dcterms:created>
  <dcterms:modified xsi:type="dcterms:W3CDTF">2026-10-07T07:58:24Z</dcterms:modified>
</cp:coreProperties>
</file>